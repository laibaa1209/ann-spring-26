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68" autoAdjust="0"/>
    <p:restoredTop sz="94610"/>
  </p:normalViewPr>
  <p:slideViewPr>
    <p:cSldViewPr snapToGrid="0" snapToObjects="1">
      <p:cViewPr>
        <p:scale>
          <a:sx n="80" d="100"/>
          <a:sy n="80" d="100"/>
        </p:scale>
        <p:origin x="752"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900" b="0" i="0" u="none" strike="noStrike">
                <a:solidFill>
                  <a:srgbClr val="8BB87A"/>
                </a:solidFill>
                <a:latin typeface="Arial"/>
              </a:defRPr>
            </a:pPr>
            <a:r>
              <a:rPr lang="en-US" sz="900" b="0" i="0" u="none" strike="noStrike">
                <a:solidFill>
                  <a:srgbClr val="8BB87A"/>
                </a:solidFill>
                <a:latin typeface="Arial"/>
              </a:rPr>
              <a:t>Metric Importance Score (0–100)</a:t>
            </a:r>
          </a:p>
        </c:rich>
      </c:tx>
      <c:overlay val="0"/>
    </c:title>
    <c:autoTitleDeleted val="0"/>
    <c:plotArea>
      <c:layout/>
      <c:barChart>
        <c:barDir val="col"/>
        <c:grouping val="clustered"/>
        <c:varyColors val="0"/>
        <c:ser>
          <c:idx val="0"/>
          <c:order val="0"/>
          <c:tx>
            <c:strRef>
              <c:f>Sheet1!$B$1</c:f>
              <c:strCache>
                <c:ptCount val="1"/>
                <c:pt idx="0">
                  <c:v>Importance</c:v>
                </c:pt>
              </c:strCache>
            </c:strRef>
          </c:tx>
          <c:spPr>
            <a:solidFill>
              <a:srgbClr val="7ED348"/>
            </a:solidFill>
            <a:effectLst/>
          </c:spPr>
          <c:invertIfNegative val="0"/>
          <c:dPt>
            <c:idx val="0"/>
            <c:invertIfNegative val="0"/>
            <c:bubble3D val="0"/>
            <c:spPr>
              <a:solidFill>
                <a:srgbClr val="7ED348"/>
              </a:solidFill>
              <a:effectLst/>
            </c:spPr>
            <c:extLst>
              <c:ext xmlns:c16="http://schemas.microsoft.com/office/drawing/2014/chart" uri="{C3380CC4-5D6E-409C-BE32-E72D297353CC}">
                <c16:uniqueId val="{00000001-B667-4A94-AD76-AA378EB4E91B}"/>
              </c:ext>
            </c:extLst>
          </c:dPt>
          <c:dPt>
            <c:idx val="1"/>
            <c:invertIfNegative val="0"/>
            <c:bubble3D val="0"/>
            <c:spPr>
              <a:solidFill>
                <a:srgbClr val="7ED348"/>
              </a:solidFill>
              <a:effectLst/>
            </c:spPr>
            <c:extLst>
              <c:ext xmlns:c16="http://schemas.microsoft.com/office/drawing/2014/chart" uri="{C3380CC4-5D6E-409C-BE32-E72D297353CC}">
                <c16:uniqueId val="{00000003-B667-4A94-AD76-AA378EB4E91B}"/>
              </c:ext>
            </c:extLst>
          </c:dPt>
          <c:dPt>
            <c:idx val="2"/>
            <c:invertIfNegative val="0"/>
            <c:bubble3D val="0"/>
            <c:spPr>
              <a:solidFill>
                <a:srgbClr val="E8A020"/>
              </a:solidFill>
              <a:effectLst/>
            </c:spPr>
            <c:extLst>
              <c:ext xmlns:c16="http://schemas.microsoft.com/office/drawing/2014/chart" uri="{C3380CC4-5D6E-409C-BE32-E72D297353CC}">
                <c16:uniqueId val="{00000005-B667-4A94-AD76-AA378EB4E91B}"/>
              </c:ext>
            </c:extLst>
          </c:dPt>
          <c:dPt>
            <c:idx val="3"/>
            <c:invertIfNegative val="0"/>
            <c:bubble3D val="0"/>
            <c:spPr>
              <a:solidFill>
                <a:srgbClr val="E8A020"/>
              </a:solidFill>
              <a:effectLst/>
            </c:spPr>
            <c:extLst>
              <c:ext xmlns:c16="http://schemas.microsoft.com/office/drawing/2014/chart" uri="{C3380CC4-5D6E-409C-BE32-E72D297353CC}">
                <c16:uniqueId val="{00000007-B667-4A94-AD76-AA378EB4E91B}"/>
              </c:ext>
            </c:extLst>
          </c:dPt>
          <c:dPt>
            <c:idx val="4"/>
            <c:invertIfNegative val="0"/>
            <c:bubble3D val="0"/>
            <c:spPr>
              <a:solidFill>
                <a:srgbClr val="8BB87A"/>
              </a:solidFill>
              <a:effectLst/>
            </c:spPr>
            <c:extLst>
              <c:ext xmlns:c16="http://schemas.microsoft.com/office/drawing/2014/chart" uri="{C3380CC4-5D6E-409C-BE32-E72D297353CC}">
                <c16:uniqueId val="{00000009-B667-4A94-AD76-AA378EB4E91B}"/>
              </c:ext>
            </c:extLst>
          </c:dPt>
          <c:dLbls>
            <c:numFmt formatCode="#,##0" sourceLinked="0"/>
            <c:spPr>
              <a:noFill/>
              <a:ln>
                <a:noFill/>
              </a:ln>
              <a:effectLst/>
            </c:spPr>
            <c:txPr>
              <a:bodyPr/>
              <a:lstStyle/>
              <a:p>
                <a:pPr>
                  <a:defRPr sz="1200" b="0" i="0" u="none" strike="noStrike">
                    <a:solidFill>
                      <a:srgbClr val="E8F5E0"/>
                    </a:solidFill>
                    <a:latin typeface="Arial"/>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Cum. Reward</c:v>
                </c:pt>
                <c:pt idx="1">
                  <c:v>Win Rate</c:v>
                </c:pt>
                <c:pt idx="2">
                  <c:v>Sample Eff.</c:v>
                </c:pt>
                <c:pt idx="3">
                  <c:v>KDR</c:v>
                </c:pt>
                <c:pt idx="4">
                  <c:v>Episode Len.</c:v>
                </c:pt>
              </c:strCache>
            </c:strRef>
          </c:cat>
          <c:val>
            <c:numRef>
              <c:f>Sheet1!$B$2:$B$6</c:f>
              <c:numCache>
                <c:formatCode>General</c:formatCode>
                <c:ptCount val="5"/>
                <c:pt idx="0">
                  <c:v>95</c:v>
                </c:pt>
                <c:pt idx="1">
                  <c:v>85</c:v>
                </c:pt>
                <c:pt idx="2">
                  <c:v>80</c:v>
                </c:pt>
                <c:pt idx="3">
                  <c:v>75</c:v>
                </c:pt>
                <c:pt idx="4">
                  <c:v>65</c:v>
                </c:pt>
              </c:numCache>
            </c:numRef>
          </c:val>
          <c:extLst>
            <c:ext xmlns:c16="http://schemas.microsoft.com/office/drawing/2014/chart" uri="{C3380CC4-5D6E-409C-BE32-E72D297353CC}">
              <c16:uniqueId val="{0000000A-B667-4A94-AD76-AA378EB4E91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B8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A3A1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B8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1F1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900" b="0" i="0" u="none" strike="noStrike">
                <a:solidFill>
                  <a:srgbClr val="8BB87A"/>
                </a:solidFill>
                <a:latin typeface="Arial"/>
              </a:defRPr>
            </a:pPr>
            <a:r>
              <a:rPr lang="en-US" sz="900" b="0" i="0" u="none" strike="noStrike">
                <a:solidFill>
                  <a:srgbClr val="8BB87A"/>
                </a:solidFill>
                <a:latin typeface="Arial"/>
              </a:rPr>
              <a:t>Conceptual Training Curves</a:t>
            </a:r>
          </a:p>
        </c:rich>
      </c:tx>
      <c:overlay val="0"/>
    </c:title>
    <c:autoTitleDeleted val="0"/>
    <c:plotArea>
      <c:layout/>
      <c:lineChart>
        <c:grouping val="standard"/>
        <c:varyColors val="0"/>
        <c:ser>
          <c:idx val="0"/>
          <c:order val="0"/>
          <c:tx>
            <c:strRef>
              <c:f>Sheet1!$B$1</c:f>
              <c:strCache>
                <c:ptCount val="1"/>
                <c:pt idx="0">
                  <c:v>Reward (PPO)</c:v>
                </c:pt>
              </c:strCache>
            </c:strRef>
          </c:tx>
          <c:spPr>
            <a:ln w="25400" cap="flat">
              <a:solidFill>
                <a:srgbClr val="7ED348"/>
              </a:solidFill>
              <a:prstDash val="solid"/>
              <a:round/>
            </a:ln>
            <a:effectLst/>
          </c:spPr>
          <c:marker>
            <c:symbol val="circle"/>
            <c:size val="6"/>
            <c:spPr>
              <a:solidFill>
                <a:srgbClr val="7ED348"/>
              </a:solidFill>
              <a:ln w="9525" cap="flat">
                <a:solidFill>
                  <a:srgbClr val="7ED348"/>
                </a:solidFill>
                <a:prstDash val="solid"/>
                <a:round/>
              </a:ln>
              <a:effectLst/>
            </c:spPr>
          </c:marker>
          <c:cat>
            <c:strRef>
              <c:f>Sheet1!$A$2:$A$12</c:f>
              <c:strCache>
                <c:ptCount val="11"/>
                <c:pt idx="0">
                  <c:v>Ep 0</c:v>
                </c:pt>
                <c:pt idx="1">
                  <c:v>100</c:v>
                </c:pt>
                <c:pt idx="2">
                  <c:v>200</c:v>
                </c:pt>
                <c:pt idx="3">
                  <c:v>300</c:v>
                </c:pt>
                <c:pt idx="4">
                  <c:v>400</c:v>
                </c:pt>
                <c:pt idx="5">
                  <c:v>500</c:v>
                </c:pt>
                <c:pt idx="6">
                  <c:v>600</c:v>
                </c:pt>
                <c:pt idx="7">
                  <c:v>700</c:v>
                </c:pt>
                <c:pt idx="8">
                  <c:v>800</c:v>
                </c:pt>
                <c:pt idx="9">
                  <c:v>900</c:v>
                </c:pt>
                <c:pt idx="10">
                  <c:v>1000</c:v>
                </c:pt>
              </c:strCache>
            </c:strRef>
          </c:cat>
          <c:val>
            <c:numRef>
              <c:f>Sheet1!$B$2:$B$12</c:f>
              <c:numCache>
                <c:formatCode>General</c:formatCode>
                <c:ptCount val="11"/>
                <c:pt idx="0">
                  <c:v>5</c:v>
                </c:pt>
                <c:pt idx="1">
                  <c:v>12</c:v>
                </c:pt>
                <c:pt idx="2">
                  <c:v>22</c:v>
                </c:pt>
                <c:pt idx="3">
                  <c:v>38</c:v>
                </c:pt>
                <c:pt idx="4">
                  <c:v>52</c:v>
                </c:pt>
                <c:pt idx="5">
                  <c:v>63</c:v>
                </c:pt>
                <c:pt idx="6">
                  <c:v>72</c:v>
                </c:pt>
                <c:pt idx="7">
                  <c:v>80</c:v>
                </c:pt>
                <c:pt idx="8">
                  <c:v>85</c:v>
                </c:pt>
                <c:pt idx="9">
                  <c:v>89</c:v>
                </c:pt>
                <c:pt idx="10">
                  <c:v>92</c:v>
                </c:pt>
              </c:numCache>
            </c:numRef>
          </c:val>
          <c:smooth val="1"/>
          <c:extLst>
            <c:ext xmlns:c16="http://schemas.microsoft.com/office/drawing/2014/chart" uri="{C3380CC4-5D6E-409C-BE32-E72D297353CC}">
              <c16:uniqueId val="{00000000-E300-4FE9-88A8-E3A43AC5940F}"/>
            </c:ext>
          </c:extLst>
        </c:ser>
        <c:ser>
          <c:idx val="1"/>
          <c:order val="1"/>
          <c:tx>
            <c:strRef>
              <c:f>Sheet1!$C$1</c:f>
              <c:strCache>
                <c:ptCount val="1"/>
                <c:pt idx="0">
                  <c:v>Reward (DQN)</c:v>
                </c:pt>
              </c:strCache>
            </c:strRef>
          </c:tx>
          <c:spPr>
            <a:ln w="25400" cap="flat">
              <a:solidFill>
                <a:srgbClr val="E8A020"/>
              </a:solidFill>
              <a:prstDash val="solid"/>
              <a:round/>
            </a:ln>
            <a:effectLst/>
          </c:spPr>
          <c:marker>
            <c:symbol val="circle"/>
            <c:size val="6"/>
            <c:spPr>
              <a:solidFill>
                <a:srgbClr val="E8A020"/>
              </a:solidFill>
              <a:ln w="9525" cap="flat">
                <a:solidFill>
                  <a:srgbClr val="E8A020"/>
                </a:solidFill>
                <a:prstDash val="solid"/>
                <a:round/>
              </a:ln>
              <a:effectLst/>
            </c:spPr>
          </c:marker>
          <c:cat>
            <c:strRef>
              <c:f>Sheet1!$A$2:$A$12</c:f>
              <c:strCache>
                <c:ptCount val="11"/>
                <c:pt idx="0">
                  <c:v>Ep 0</c:v>
                </c:pt>
                <c:pt idx="1">
                  <c:v>100</c:v>
                </c:pt>
                <c:pt idx="2">
                  <c:v>200</c:v>
                </c:pt>
                <c:pt idx="3">
                  <c:v>300</c:v>
                </c:pt>
                <c:pt idx="4">
                  <c:v>400</c:v>
                </c:pt>
                <c:pt idx="5">
                  <c:v>500</c:v>
                </c:pt>
                <c:pt idx="6">
                  <c:v>600</c:v>
                </c:pt>
                <c:pt idx="7">
                  <c:v>700</c:v>
                </c:pt>
                <c:pt idx="8">
                  <c:v>800</c:v>
                </c:pt>
                <c:pt idx="9">
                  <c:v>900</c:v>
                </c:pt>
                <c:pt idx="10">
                  <c:v>1000</c:v>
                </c:pt>
              </c:strCache>
            </c:strRef>
          </c:cat>
          <c:val>
            <c:numRef>
              <c:f>Sheet1!$C$2:$C$12</c:f>
              <c:numCache>
                <c:formatCode>General</c:formatCode>
                <c:ptCount val="11"/>
                <c:pt idx="0">
                  <c:v>5</c:v>
                </c:pt>
                <c:pt idx="1">
                  <c:v>8</c:v>
                </c:pt>
                <c:pt idx="2">
                  <c:v>14</c:v>
                </c:pt>
                <c:pt idx="3">
                  <c:v>24</c:v>
                </c:pt>
                <c:pt idx="4">
                  <c:v>36</c:v>
                </c:pt>
                <c:pt idx="5">
                  <c:v>48</c:v>
                </c:pt>
                <c:pt idx="6">
                  <c:v>58</c:v>
                </c:pt>
                <c:pt idx="7">
                  <c:v>66</c:v>
                </c:pt>
                <c:pt idx="8">
                  <c:v>72</c:v>
                </c:pt>
                <c:pt idx="9">
                  <c:v>76</c:v>
                </c:pt>
                <c:pt idx="10">
                  <c:v>79</c:v>
                </c:pt>
              </c:numCache>
            </c:numRef>
          </c:val>
          <c:smooth val="1"/>
          <c:extLst>
            <c:ext xmlns:c16="http://schemas.microsoft.com/office/drawing/2014/chart" uri="{C3380CC4-5D6E-409C-BE32-E72D297353CC}">
              <c16:uniqueId val="{00000001-E300-4FE9-88A8-E3A43AC5940F}"/>
            </c:ext>
          </c:extLst>
        </c:ser>
        <c:ser>
          <c:idx val="2"/>
          <c:order val="2"/>
          <c:tx>
            <c:strRef>
              <c:f>Sheet1!$D$1</c:f>
              <c:strCache>
                <c:ptCount val="1"/>
                <c:pt idx="0">
                  <c:v>Win Rate %</c:v>
                </c:pt>
              </c:strCache>
            </c:strRef>
          </c:tx>
          <c:spPr>
            <a:ln w="25400" cap="flat">
              <a:solidFill>
                <a:srgbClr val="C0392B"/>
              </a:solidFill>
              <a:prstDash val="solid"/>
              <a:round/>
            </a:ln>
            <a:effectLst/>
          </c:spPr>
          <c:marker>
            <c:symbol val="circle"/>
            <c:size val="6"/>
            <c:spPr>
              <a:solidFill>
                <a:srgbClr val="C0392B"/>
              </a:solidFill>
              <a:ln w="9525" cap="flat">
                <a:solidFill>
                  <a:srgbClr val="C0392B"/>
                </a:solidFill>
                <a:prstDash val="solid"/>
                <a:round/>
              </a:ln>
              <a:effectLst/>
            </c:spPr>
          </c:marker>
          <c:cat>
            <c:strRef>
              <c:f>Sheet1!$A$2:$A$12</c:f>
              <c:strCache>
                <c:ptCount val="11"/>
                <c:pt idx="0">
                  <c:v>Ep 0</c:v>
                </c:pt>
                <c:pt idx="1">
                  <c:v>100</c:v>
                </c:pt>
                <c:pt idx="2">
                  <c:v>200</c:v>
                </c:pt>
                <c:pt idx="3">
                  <c:v>300</c:v>
                </c:pt>
                <c:pt idx="4">
                  <c:v>400</c:v>
                </c:pt>
                <c:pt idx="5">
                  <c:v>500</c:v>
                </c:pt>
                <c:pt idx="6">
                  <c:v>600</c:v>
                </c:pt>
                <c:pt idx="7">
                  <c:v>700</c:v>
                </c:pt>
                <c:pt idx="8">
                  <c:v>800</c:v>
                </c:pt>
                <c:pt idx="9">
                  <c:v>900</c:v>
                </c:pt>
                <c:pt idx="10">
                  <c:v>1000</c:v>
                </c:pt>
              </c:strCache>
            </c:strRef>
          </c:cat>
          <c:val>
            <c:numRef>
              <c:f>Sheet1!$D$2:$D$12</c:f>
              <c:numCache>
                <c:formatCode>General</c:formatCode>
                <c:ptCount val="11"/>
                <c:pt idx="0">
                  <c:v>0</c:v>
                </c:pt>
                <c:pt idx="1">
                  <c:v>5</c:v>
                </c:pt>
                <c:pt idx="2">
                  <c:v>10</c:v>
                </c:pt>
                <c:pt idx="3">
                  <c:v>20</c:v>
                </c:pt>
                <c:pt idx="4">
                  <c:v>35</c:v>
                </c:pt>
                <c:pt idx="5">
                  <c:v>50</c:v>
                </c:pt>
                <c:pt idx="6">
                  <c:v>62</c:v>
                </c:pt>
                <c:pt idx="7">
                  <c:v>72</c:v>
                </c:pt>
                <c:pt idx="8">
                  <c:v>79</c:v>
                </c:pt>
                <c:pt idx="9">
                  <c:v>84</c:v>
                </c:pt>
                <c:pt idx="10">
                  <c:v>88</c:v>
                </c:pt>
              </c:numCache>
            </c:numRef>
          </c:val>
          <c:smooth val="1"/>
          <c:extLst>
            <c:ext xmlns:c16="http://schemas.microsoft.com/office/drawing/2014/chart" uri="{C3380CC4-5D6E-409C-BE32-E72D297353CC}">
              <c16:uniqueId val="{00000002-E300-4FE9-88A8-E3A43AC5940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B8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A3A1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B8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pPr>
          <a:endParaRPr lang="en-US"/>
        </a:p>
      </c:txPr>
    </c:legend>
    <c:plotVisOnly val="1"/>
    <c:dispBlanksAs val="span"/>
    <c:showDLblsOverMax val="1"/>
  </c:chart>
  <c:spPr>
    <a:solidFill>
      <a:srgbClr val="0D1F12"/>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0370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A827D-52B1-F0DC-6BC1-60F80186A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E03DCF-286B-CE6A-EE26-14A926B81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E33363-0235-A79A-1FD5-6F4DEF59A1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79FBF2-2518-6BB5-C523-CAE3E0D0483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12957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5303520" y="-1371600"/>
            <a:ext cx="5943600" cy="5943600"/>
          </a:xfrm>
          <a:prstGeom prst="ellipse">
            <a:avLst/>
          </a:prstGeom>
          <a:solidFill>
            <a:srgbClr val="1A3A1E"/>
          </a:solidFill>
          <a:ln w="12700">
            <a:solidFill>
              <a:srgbClr val="1A3A1E"/>
            </a:solidFill>
            <a:prstDash val="solid"/>
          </a:ln>
        </p:spPr>
        <p:txBody>
          <a:bodyPr/>
          <a:lstStyle/>
          <a:p>
            <a:endParaRPr lang="LID4096"/>
          </a:p>
        </p:txBody>
      </p:sp>
      <p:sp>
        <p:nvSpPr>
          <p:cNvPr id="3" name="Shape 1"/>
          <p:cNvSpPr/>
          <p:nvPr/>
        </p:nvSpPr>
        <p:spPr>
          <a:xfrm>
            <a:off x="5760720" y="-914400"/>
            <a:ext cx="5029200" cy="5029200"/>
          </a:xfrm>
          <a:prstGeom prst="ellipse">
            <a:avLst/>
          </a:prstGeom>
          <a:solidFill>
            <a:srgbClr val="1E4A25"/>
          </a:solidFill>
          <a:ln w="12700">
            <a:solidFill>
              <a:srgbClr val="1A3A1E"/>
            </a:solidFill>
            <a:prstDash val="solid"/>
          </a:ln>
        </p:spPr>
        <p:txBody>
          <a:bodyPr/>
          <a:lstStyle/>
          <a:p>
            <a:endParaRPr lang="LID4096"/>
          </a:p>
        </p:txBody>
      </p:sp>
      <p:sp>
        <p:nvSpPr>
          <p:cNvPr id="4" name="Shape 2"/>
          <p:cNvSpPr/>
          <p:nvPr/>
        </p:nvSpPr>
        <p:spPr>
          <a:xfrm>
            <a:off x="457200" y="411480"/>
            <a:ext cx="1463040" cy="256032"/>
          </a:xfrm>
          <a:prstGeom prst="rect">
            <a:avLst/>
          </a:prstGeom>
          <a:solidFill>
            <a:srgbClr val="7ED348"/>
          </a:solidFill>
          <a:ln w="12700">
            <a:solidFill>
              <a:srgbClr val="7ED348"/>
            </a:solidFill>
            <a:prstDash val="solid"/>
          </a:ln>
        </p:spPr>
        <p:txBody>
          <a:bodyPr/>
          <a:lstStyle/>
          <a:p>
            <a:endParaRPr lang="LID4096"/>
          </a:p>
        </p:txBody>
      </p:sp>
      <p:sp>
        <p:nvSpPr>
          <p:cNvPr id="5" name="Text 3"/>
          <p:cNvSpPr/>
          <p:nvPr/>
        </p:nvSpPr>
        <p:spPr>
          <a:xfrm>
            <a:off x="457200" y="411480"/>
            <a:ext cx="1463040" cy="256032"/>
          </a:xfrm>
          <a:prstGeom prst="rect">
            <a:avLst/>
          </a:prstGeom>
          <a:noFill/>
          <a:ln/>
        </p:spPr>
        <p:txBody>
          <a:bodyPr wrap="square" lIns="0" tIns="0" rIns="0" bIns="0" rtlCol="0" anchor="ctr"/>
          <a:lstStyle/>
          <a:p>
            <a:pPr marL="0" indent="0" algn="ctr">
              <a:buNone/>
            </a:pPr>
            <a:r>
              <a:rPr lang="en-US" sz="900" b="1" kern="0" spc="200" dirty="0">
                <a:solidFill>
                  <a:srgbClr val="0D1F12"/>
                </a:solidFill>
                <a:latin typeface="Trebuchet MS" pitchFamily="34" charset="0"/>
                <a:ea typeface="Trebuchet MS" pitchFamily="34" charset="-122"/>
                <a:cs typeface="Trebuchet MS" pitchFamily="34" charset="-120"/>
              </a:rPr>
              <a:t>HORDE MODE</a:t>
            </a:r>
            <a:endParaRPr lang="en-US" sz="900" dirty="0"/>
          </a:p>
        </p:txBody>
      </p:sp>
      <p:sp>
        <p:nvSpPr>
          <p:cNvPr id="6" name="Text 4"/>
          <p:cNvSpPr/>
          <p:nvPr/>
        </p:nvSpPr>
        <p:spPr>
          <a:xfrm>
            <a:off x="2057400" y="429768"/>
            <a:ext cx="3657600" cy="228600"/>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ANN PROJECT PRESENTATION</a:t>
            </a:r>
            <a:endParaRPr lang="en-US" sz="900" dirty="0"/>
          </a:p>
        </p:txBody>
      </p:sp>
      <p:sp>
        <p:nvSpPr>
          <p:cNvPr id="7" name="Text 5"/>
          <p:cNvSpPr/>
          <p:nvPr/>
        </p:nvSpPr>
        <p:spPr>
          <a:xfrm>
            <a:off x="457200" y="914400"/>
            <a:ext cx="7315200" cy="777240"/>
          </a:xfrm>
          <a:prstGeom prst="rect">
            <a:avLst/>
          </a:prstGeom>
          <a:noFill/>
          <a:ln/>
        </p:spPr>
        <p:txBody>
          <a:bodyPr wrap="square" lIns="0" tIns="0" rIns="0" bIns="0" rtlCol="0" anchor="ctr"/>
          <a:lstStyle/>
          <a:p>
            <a:pPr marL="0" indent="0" algn="l">
              <a:buNone/>
            </a:pPr>
            <a:r>
              <a:rPr lang="en-US" sz="5200" b="1" dirty="0">
                <a:solidFill>
                  <a:srgbClr val="FFFFFF"/>
                </a:solidFill>
                <a:latin typeface="Trebuchet MS" pitchFamily="34" charset="0"/>
                <a:ea typeface="Trebuchet MS" pitchFamily="34" charset="-122"/>
                <a:cs typeface="Trebuchet MS" pitchFamily="34" charset="-120"/>
              </a:rPr>
              <a:t>DEEP REINFORCEMENT</a:t>
            </a:r>
            <a:endParaRPr lang="en-US" sz="5200" dirty="0"/>
          </a:p>
        </p:txBody>
      </p:sp>
      <p:sp>
        <p:nvSpPr>
          <p:cNvPr id="8" name="Text 6"/>
          <p:cNvSpPr/>
          <p:nvPr/>
        </p:nvSpPr>
        <p:spPr>
          <a:xfrm>
            <a:off x="457200" y="1600200"/>
            <a:ext cx="7315200" cy="777240"/>
          </a:xfrm>
          <a:prstGeom prst="rect">
            <a:avLst/>
          </a:prstGeom>
          <a:noFill/>
          <a:ln/>
        </p:spPr>
        <p:txBody>
          <a:bodyPr wrap="square" lIns="0" tIns="0" rIns="0" bIns="0" rtlCol="0" anchor="ctr"/>
          <a:lstStyle/>
          <a:p>
            <a:pPr marL="0" indent="0" algn="l">
              <a:buNone/>
            </a:pPr>
            <a:r>
              <a:rPr lang="en-US" sz="5200" b="1" dirty="0">
                <a:solidFill>
                  <a:srgbClr val="7ED348"/>
                </a:solidFill>
                <a:latin typeface="Trebuchet MS" pitchFamily="34" charset="0"/>
                <a:ea typeface="Trebuchet MS" pitchFamily="34" charset="-122"/>
                <a:cs typeface="Trebuchet MS" pitchFamily="34" charset="-120"/>
              </a:rPr>
              <a:t>LEARNING</a:t>
            </a:r>
            <a:endParaRPr lang="en-US" sz="5200" dirty="0"/>
          </a:p>
        </p:txBody>
      </p:sp>
      <p:sp>
        <p:nvSpPr>
          <p:cNvPr id="9" name="Text 7"/>
          <p:cNvSpPr/>
          <p:nvPr/>
        </p:nvSpPr>
        <p:spPr>
          <a:xfrm>
            <a:off x="457200" y="2423160"/>
            <a:ext cx="6400800" cy="347472"/>
          </a:xfrm>
          <a:prstGeom prst="rect">
            <a:avLst/>
          </a:prstGeom>
          <a:noFill/>
          <a:ln/>
        </p:spPr>
        <p:txBody>
          <a:bodyPr wrap="square" lIns="0" tIns="0" rIns="0" bIns="0" rtlCol="0" anchor="ctr"/>
          <a:lstStyle/>
          <a:p>
            <a:pPr marL="0" indent="0" algn="l">
              <a:buNone/>
            </a:pPr>
            <a:r>
              <a:rPr lang="en-US" sz="1600" dirty="0">
                <a:solidFill>
                  <a:srgbClr val="E8F5E0"/>
                </a:solidFill>
                <a:latin typeface="Calibri" pitchFamily="34" charset="0"/>
                <a:ea typeface="Calibri" pitchFamily="34" charset="-122"/>
                <a:cs typeface="Calibri" pitchFamily="34" charset="-120"/>
              </a:rPr>
              <a:t>Loss Functions &amp; Evaluation Metrics</a:t>
            </a:r>
            <a:endParaRPr lang="en-US" sz="1600" dirty="0"/>
          </a:p>
        </p:txBody>
      </p:sp>
      <p:sp>
        <p:nvSpPr>
          <p:cNvPr id="10" name="Text 8"/>
          <p:cNvSpPr/>
          <p:nvPr/>
        </p:nvSpPr>
        <p:spPr>
          <a:xfrm>
            <a:off x="457200" y="2743200"/>
            <a:ext cx="6400800" cy="274320"/>
          </a:xfrm>
          <a:prstGeom prst="rect">
            <a:avLst/>
          </a:prstGeom>
          <a:noFill/>
          <a:ln/>
        </p:spPr>
        <p:txBody>
          <a:bodyPr wrap="square" lIns="0" tIns="0" rIns="0" bIns="0" rtlCol="0" anchor="ctr"/>
          <a:lstStyle/>
          <a:p>
            <a:pPr marL="0" indent="0" algn="l">
              <a:buNone/>
            </a:pPr>
            <a:r>
              <a:rPr lang="en-US" sz="1100" kern="0" spc="100" dirty="0">
                <a:solidFill>
                  <a:srgbClr val="E8A020"/>
                </a:solidFill>
                <a:latin typeface="Trebuchet MS" pitchFamily="34" charset="0"/>
                <a:ea typeface="Trebuchet MS" pitchFamily="34" charset="-122"/>
                <a:cs typeface="Trebuchet MS" pitchFamily="34" charset="-120"/>
              </a:rPr>
              <a:t>FOR THE HORDE SURVIVAL GAME PROJECT</a:t>
            </a:r>
            <a:endParaRPr lang="en-US" sz="1100" dirty="0"/>
          </a:p>
        </p:txBody>
      </p:sp>
      <p:sp>
        <p:nvSpPr>
          <p:cNvPr id="11" name="Shape 9"/>
          <p:cNvSpPr/>
          <p:nvPr/>
        </p:nvSpPr>
        <p:spPr>
          <a:xfrm>
            <a:off x="457200" y="3337560"/>
            <a:ext cx="1572768" cy="274320"/>
          </a:xfrm>
          <a:prstGeom prst="rect">
            <a:avLst/>
          </a:prstGeom>
          <a:solidFill>
            <a:srgbClr val="1A3A1E"/>
          </a:solidFill>
          <a:ln w="12700">
            <a:solidFill>
              <a:srgbClr val="7ED348"/>
            </a:solidFill>
            <a:prstDash val="solid"/>
          </a:ln>
        </p:spPr>
        <p:txBody>
          <a:bodyPr/>
          <a:lstStyle/>
          <a:p>
            <a:endParaRPr lang="LID4096"/>
          </a:p>
        </p:txBody>
      </p:sp>
      <p:sp>
        <p:nvSpPr>
          <p:cNvPr id="12" name="Text 10"/>
          <p:cNvSpPr/>
          <p:nvPr/>
        </p:nvSpPr>
        <p:spPr>
          <a:xfrm>
            <a:off x="457200" y="3337560"/>
            <a:ext cx="1572768" cy="274320"/>
          </a:xfrm>
          <a:prstGeom prst="rect">
            <a:avLst/>
          </a:prstGeom>
          <a:noFill/>
          <a:ln/>
        </p:spPr>
        <p:txBody>
          <a:bodyPr wrap="square" lIns="0" tIns="0" rIns="0" bIns="0" rtlCol="0" anchor="ctr"/>
          <a:lstStyle/>
          <a:p>
            <a:pPr marL="0" indent="0" algn="ctr">
              <a:buNone/>
            </a:pPr>
            <a:r>
              <a:rPr lang="en-US" sz="800" dirty="0">
                <a:solidFill>
                  <a:srgbClr val="7ED348"/>
                </a:solidFill>
                <a:latin typeface="Calibri" pitchFamily="34" charset="0"/>
                <a:ea typeface="Calibri" pitchFamily="34" charset="-122"/>
                <a:cs typeface="Calibri" pitchFamily="34" charset="-120"/>
              </a:rPr>
              <a:t>TD / Bellman Loss</a:t>
            </a:r>
            <a:endParaRPr lang="en-US" sz="800" dirty="0"/>
          </a:p>
        </p:txBody>
      </p:sp>
      <p:sp>
        <p:nvSpPr>
          <p:cNvPr id="13" name="Shape 11"/>
          <p:cNvSpPr/>
          <p:nvPr/>
        </p:nvSpPr>
        <p:spPr>
          <a:xfrm>
            <a:off x="2176272" y="3337560"/>
            <a:ext cx="1572768" cy="274320"/>
          </a:xfrm>
          <a:prstGeom prst="rect">
            <a:avLst/>
          </a:prstGeom>
          <a:solidFill>
            <a:srgbClr val="1A3A1E"/>
          </a:solidFill>
          <a:ln w="12700">
            <a:solidFill>
              <a:srgbClr val="7ED348"/>
            </a:solidFill>
            <a:prstDash val="solid"/>
          </a:ln>
        </p:spPr>
        <p:txBody>
          <a:bodyPr/>
          <a:lstStyle/>
          <a:p>
            <a:endParaRPr lang="LID4096"/>
          </a:p>
        </p:txBody>
      </p:sp>
      <p:sp>
        <p:nvSpPr>
          <p:cNvPr id="14" name="Text 12"/>
          <p:cNvSpPr/>
          <p:nvPr/>
        </p:nvSpPr>
        <p:spPr>
          <a:xfrm>
            <a:off x="2176272" y="3337560"/>
            <a:ext cx="1572768" cy="274320"/>
          </a:xfrm>
          <a:prstGeom prst="rect">
            <a:avLst/>
          </a:prstGeom>
          <a:noFill/>
          <a:ln/>
        </p:spPr>
        <p:txBody>
          <a:bodyPr wrap="square" lIns="0" tIns="0" rIns="0" bIns="0" rtlCol="0" anchor="ctr"/>
          <a:lstStyle/>
          <a:p>
            <a:pPr marL="0" indent="0" algn="ctr">
              <a:buNone/>
            </a:pPr>
            <a:r>
              <a:rPr lang="en-US" sz="800" dirty="0">
                <a:solidFill>
                  <a:srgbClr val="7ED348"/>
                </a:solidFill>
                <a:latin typeface="Calibri" pitchFamily="34" charset="0"/>
                <a:ea typeface="Calibri" pitchFamily="34" charset="-122"/>
                <a:cs typeface="Calibri" pitchFamily="34" charset="-120"/>
              </a:rPr>
              <a:t>Policy Gradient</a:t>
            </a:r>
            <a:endParaRPr lang="en-US" sz="800" dirty="0"/>
          </a:p>
        </p:txBody>
      </p:sp>
      <p:sp>
        <p:nvSpPr>
          <p:cNvPr id="15" name="Shape 13"/>
          <p:cNvSpPr/>
          <p:nvPr/>
        </p:nvSpPr>
        <p:spPr>
          <a:xfrm>
            <a:off x="3895344" y="3337560"/>
            <a:ext cx="1572768" cy="274320"/>
          </a:xfrm>
          <a:prstGeom prst="rect">
            <a:avLst/>
          </a:prstGeom>
          <a:solidFill>
            <a:srgbClr val="1A3A1E"/>
          </a:solidFill>
          <a:ln w="12700">
            <a:solidFill>
              <a:srgbClr val="7ED348"/>
            </a:solidFill>
            <a:prstDash val="solid"/>
          </a:ln>
        </p:spPr>
        <p:txBody>
          <a:bodyPr/>
          <a:lstStyle/>
          <a:p>
            <a:endParaRPr lang="LID4096"/>
          </a:p>
        </p:txBody>
      </p:sp>
      <p:sp>
        <p:nvSpPr>
          <p:cNvPr id="16" name="Text 14"/>
          <p:cNvSpPr/>
          <p:nvPr/>
        </p:nvSpPr>
        <p:spPr>
          <a:xfrm>
            <a:off x="3895344" y="3337560"/>
            <a:ext cx="1572768" cy="274320"/>
          </a:xfrm>
          <a:prstGeom prst="rect">
            <a:avLst/>
          </a:prstGeom>
          <a:noFill/>
          <a:ln/>
        </p:spPr>
        <p:txBody>
          <a:bodyPr wrap="square" lIns="0" tIns="0" rIns="0" bIns="0" rtlCol="0" anchor="ctr"/>
          <a:lstStyle/>
          <a:p>
            <a:pPr marL="0" indent="0" algn="ctr">
              <a:buNone/>
            </a:pPr>
            <a:r>
              <a:rPr lang="en-US" sz="800" dirty="0">
                <a:solidFill>
                  <a:srgbClr val="7ED348"/>
                </a:solidFill>
                <a:latin typeface="Calibri" pitchFamily="34" charset="0"/>
                <a:ea typeface="Calibri" pitchFamily="34" charset="-122"/>
                <a:cs typeface="Calibri" pitchFamily="34" charset="-120"/>
              </a:rPr>
              <a:t>Actor-Critic</a:t>
            </a:r>
            <a:endParaRPr lang="en-US" sz="800" dirty="0"/>
          </a:p>
        </p:txBody>
      </p:sp>
      <p:sp>
        <p:nvSpPr>
          <p:cNvPr id="17" name="Shape 15"/>
          <p:cNvSpPr/>
          <p:nvPr/>
        </p:nvSpPr>
        <p:spPr>
          <a:xfrm>
            <a:off x="5614416" y="3337560"/>
            <a:ext cx="1572768" cy="274320"/>
          </a:xfrm>
          <a:prstGeom prst="rect">
            <a:avLst/>
          </a:prstGeom>
          <a:solidFill>
            <a:srgbClr val="1A3A1E"/>
          </a:solidFill>
          <a:ln w="12700">
            <a:solidFill>
              <a:srgbClr val="7ED348"/>
            </a:solidFill>
            <a:prstDash val="solid"/>
          </a:ln>
        </p:spPr>
        <p:txBody>
          <a:bodyPr/>
          <a:lstStyle/>
          <a:p>
            <a:endParaRPr lang="LID4096"/>
          </a:p>
        </p:txBody>
      </p:sp>
      <p:sp>
        <p:nvSpPr>
          <p:cNvPr id="18" name="Text 16"/>
          <p:cNvSpPr/>
          <p:nvPr/>
        </p:nvSpPr>
        <p:spPr>
          <a:xfrm>
            <a:off x="5614416" y="3337560"/>
            <a:ext cx="1572768" cy="274320"/>
          </a:xfrm>
          <a:prstGeom prst="rect">
            <a:avLst/>
          </a:prstGeom>
          <a:noFill/>
          <a:ln/>
        </p:spPr>
        <p:txBody>
          <a:bodyPr wrap="square" lIns="0" tIns="0" rIns="0" bIns="0" rtlCol="0" anchor="ctr"/>
          <a:lstStyle/>
          <a:p>
            <a:pPr marL="0" indent="0" algn="ctr">
              <a:buNone/>
            </a:pPr>
            <a:r>
              <a:rPr lang="en-US" sz="800" dirty="0">
                <a:solidFill>
                  <a:srgbClr val="7ED348"/>
                </a:solidFill>
                <a:latin typeface="Calibri" pitchFamily="34" charset="0"/>
                <a:ea typeface="Calibri" pitchFamily="34" charset="-122"/>
                <a:cs typeface="Calibri" pitchFamily="34" charset="-120"/>
              </a:rPr>
              <a:t>PPO Loss</a:t>
            </a:r>
            <a:endParaRPr lang="en-US" sz="800" dirty="0"/>
          </a:p>
        </p:txBody>
      </p:sp>
      <p:sp>
        <p:nvSpPr>
          <p:cNvPr id="19" name="Shape 17"/>
          <p:cNvSpPr/>
          <p:nvPr/>
        </p:nvSpPr>
        <p:spPr>
          <a:xfrm>
            <a:off x="7333488" y="3337560"/>
            <a:ext cx="1572768" cy="274320"/>
          </a:xfrm>
          <a:prstGeom prst="rect">
            <a:avLst/>
          </a:prstGeom>
          <a:solidFill>
            <a:srgbClr val="1A3A1E"/>
          </a:solidFill>
          <a:ln w="12700">
            <a:solidFill>
              <a:srgbClr val="7ED348"/>
            </a:solidFill>
            <a:prstDash val="solid"/>
          </a:ln>
        </p:spPr>
        <p:txBody>
          <a:bodyPr/>
          <a:lstStyle/>
          <a:p>
            <a:endParaRPr lang="LID4096"/>
          </a:p>
        </p:txBody>
      </p:sp>
      <p:sp>
        <p:nvSpPr>
          <p:cNvPr id="20" name="Text 18"/>
          <p:cNvSpPr/>
          <p:nvPr/>
        </p:nvSpPr>
        <p:spPr>
          <a:xfrm>
            <a:off x="7333488" y="3337560"/>
            <a:ext cx="1572768" cy="274320"/>
          </a:xfrm>
          <a:prstGeom prst="rect">
            <a:avLst/>
          </a:prstGeom>
          <a:noFill/>
          <a:ln/>
        </p:spPr>
        <p:txBody>
          <a:bodyPr wrap="square" lIns="0" tIns="0" rIns="0" bIns="0" rtlCol="0" anchor="ctr"/>
          <a:lstStyle/>
          <a:p>
            <a:pPr marL="0" indent="0" algn="ctr">
              <a:buNone/>
            </a:pPr>
            <a:r>
              <a:rPr lang="en-US" sz="800" dirty="0">
                <a:solidFill>
                  <a:srgbClr val="7ED348"/>
                </a:solidFill>
                <a:latin typeface="Calibri" pitchFamily="34" charset="0"/>
                <a:ea typeface="Calibri" pitchFamily="34" charset="-122"/>
                <a:cs typeface="Calibri" pitchFamily="34" charset="-120"/>
              </a:rPr>
              <a:t>KL Divergence</a:t>
            </a:r>
            <a:endParaRPr lang="en-US" sz="800" dirty="0"/>
          </a:p>
        </p:txBody>
      </p:sp>
      <p:sp>
        <p:nvSpPr>
          <p:cNvPr id="21" name="Shape 19"/>
          <p:cNvSpPr/>
          <p:nvPr/>
        </p:nvSpPr>
        <p:spPr>
          <a:xfrm>
            <a:off x="0" y="4800600"/>
            <a:ext cx="9144000" cy="342900"/>
          </a:xfrm>
          <a:prstGeom prst="rect">
            <a:avLst/>
          </a:prstGeom>
          <a:solidFill>
            <a:srgbClr val="7ED348"/>
          </a:solidFill>
          <a:ln w="12700">
            <a:solidFill>
              <a:srgbClr val="7ED348"/>
            </a:solidFill>
            <a:prstDash val="solid"/>
          </a:ln>
        </p:spPr>
        <p:txBody>
          <a:bodyPr/>
          <a:lstStyle/>
          <a:p>
            <a:endParaRPr lang="LID4096"/>
          </a:p>
        </p:txBody>
      </p:sp>
      <p:sp>
        <p:nvSpPr>
          <p:cNvPr id="22" name="Text 20"/>
          <p:cNvSpPr/>
          <p:nvPr/>
        </p:nvSpPr>
        <p:spPr>
          <a:xfrm>
            <a:off x="0" y="4818888"/>
            <a:ext cx="9144000" cy="292608"/>
          </a:xfrm>
          <a:prstGeom prst="rect">
            <a:avLst/>
          </a:prstGeom>
          <a:noFill/>
          <a:ln/>
        </p:spPr>
        <p:txBody>
          <a:bodyPr wrap="square" lIns="0" tIns="0" rIns="0" bIns="0" rtlCol="0" anchor="ctr"/>
          <a:lstStyle/>
          <a:p>
            <a:pPr marL="0" indent="0" algn="ctr">
              <a:buNone/>
            </a:pPr>
            <a:r>
              <a:rPr lang="en-US" sz="1100" b="1" dirty="0">
                <a:solidFill>
                  <a:srgbClr val="0D1F12"/>
                </a:solidFill>
                <a:latin typeface="Trebuchet MS" pitchFamily="34" charset="0"/>
                <a:ea typeface="Trebuchet MS" pitchFamily="34" charset="-122"/>
                <a:cs typeface="Trebuchet MS" pitchFamily="34" charset="-120"/>
              </a:rPr>
              <a:t>⚔  SURVIVE OR BE OPTIMIZED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1E"/>
          </a:solidFill>
          <a:ln w="12700">
            <a:solidFill>
              <a:srgbClr val="1A3A1E"/>
            </a:solidFill>
            <a:prstDash val="solid"/>
          </a:ln>
        </p:spPr>
        <p:txBody>
          <a:bodyPr/>
          <a:lstStyle/>
          <a:p>
            <a:endParaRPr lang="LID4096"/>
          </a:p>
        </p:txBody>
      </p:sp>
      <p:sp>
        <p:nvSpPr>
          <p:cNvPr id="3" name="Text 1"/>
          <p:cNvSpPr/>
          <p:nvPr/>
        </p:nvSpPr>
        <p:spPr>
          <a:xfrm>
            <a:off x="457200" y="109728"/>
            <a:ext cx="8229600" cy="411480"/>
          </a:xfrm>
          <a:prstGeom prst="rect">
            <a:avLst/>
          </a:prstGeom>
          <a:noFill/>
          <a:ln/>
        </p:spPr>
        <p:txBody>
          <a:bodyPr wrap="square" lIns="0" tIns="0" rIns="0" bIns="0" rtlCol="0" anchor="ctr"/>
          <a:lstStyle/>
          <a:p>
            <a:pPr marL="0" indent="0" algn="l">
              <a:buNone/>
            </a:pPr>
            <a:r>
              <a:rPr lang="en-US" sz="2600" b="1" dirty="0">
                <a:solidFill>
                  <a:srgbClr val="7ED348"/>
                </a:solidFill>
                <a:latin typeface="Trebuchet MS" pitchFamily="34" charset="0"/>
                <a:ea typeface="Trebuchet MS" pitchFamily="34" charset="-122"/>
                <a:cs typeface="Trebuchet MS" pitchFamily="34" charset="-120"/>
              </a:rPr>
              <a:t>MISSION BRIEFING</a:t>
            </a:r>
            <a:endParaRPr lang="en-US" sz="2600" dirty="0"/>
          </a:p>
        </p:txBody>
      </p:sp>
      <p:sp>
        <p:nvSpPr>
          <p:cNvPr id="4" name="Text 2"/>
          <p:cNvSpPr/>
          <p:nvPr/>
        </p:nvSpPr>
        <p:spPr>
          <a:xfrm>
            <a:off x="457200" y="521208"/>
            <a:ext cx="8229600" cy="256032"/>
          </a:xfrm>
          <a:prstGeom prst="rect">
            <a:avLst/>
          </a:prstGeom>
          <a:noFill/>
          <a:ln/>
        </p:spPr>
        <p:txBody>
          <a:bodyPr wrap="square" lIns="0" tIns="0" rIns="0" bIns="0" rtlCol="0" anchor="ctr"/>
          <a:lstStyle/>
          <a:p>
            <a:pPr marL="0" indent="0" algn="l">
              <a:buNone/>
            </a:pPr>
            <a:r>
              <a:rPr lang="en-US" sz="1200" dirty="0">
                <a:solidFill>
                  <a:srgbClr val="8BB87A"/>
                </a:solidFill>
                <a:latin typeface="Calibri" pitchFamily="34" charset="0"/>
                <a:ea typeface="Calibri" pitchFamily="34" charset="-122"/>
                <a:cs typeface="Calibri" pitchFamily="34" charset="-120"/>
              </a:rPr>
              <a:t>What We're Covering</a:t>
            </a:r>
            <a:endParaRPr lang="en-US" sz="1200" dirty="0"/>
          </a:p>
        </p:txBody>
      </p:sp>
      <p:sp>
        <p:nvSpPr>
          <p:cNvPr id="5" name="Shape 3"/>
          <p:cNvSpPr/>
          <p:nvPr/>
        </p:nvSpPr>
        <p:spPr>
          <a:xfrm>
            <a:off x="274320" y="1078992"/>
            <a:ext cx="2743200" cy="1508760"/>
          </a:xfrm>
          <a:prstGeom prst="rect">
            <a:avLst/>
          </a:prstGeom>
          <a:solidFill>
            <a:srgbClr val="152C19"/>
          </a:solidFill>
          <a:ln w="12700">
            <a:solidFill>
              <a:srgbClr val="7ED348"/>
            </a:solidFill>
            <a:prstDash val="solid"/>
          </a:ln>
        </p:spPr>
        <p:txBody>
          <a:bodyPr/>
          <a:lstStyle/>
          <a:p>
            <a:endParaRPr lang="LID4096"/>
          </a:p>
        </p:txBody>
      </p:sp>
      <p:sp>
        <p:nvSpPr>
          <p:cNvPr id="6" name="Text 4"/>
          <p:cNvSpPr/>
          <p:nvPr/>
        </p:nvSpPr>
        <p:spPr>
          <a:xfrm>
            <a:off x="411480" y="1197864"/>
            <a:ext cx="502920" cy="457200"/>
          </a:xfrm>
          <a:prstGeom prst="rect">
            <a:avLst/>
          </a:prstGeom>
          <a:noFill/>
          <a:ln/>
        </p:spPr>
        <p:txBody>
          <a:bodyPr wrap="square" lIns="0" tIns="0" rIns="0" bIns="0" rtlCol="0" anchor="ctr"/>
          <a:lstStyle/>
          <a:p>
            <a:pPr marL="0" indent="0" algn="l">
              <a:buNone/>
            </a:pPr>
            <a:r>
              <a:rPr lang="en-US" sz="2800" b="1" dirty="0">
                <a:solidFill>
                  <a:srgbClr val="7ED348"/>
                </a:solidFill>
                <a:latin typeface="Trebuchet MS" pitchFamily="34" charset="0"/>
                <a:ea typeface="Trebuchet MS" pitchFamily="34" charset="-122"/>
                <a:cs typeface="Trebuchet MS" pitchFamily="34" charset="-120"/>
              </a:rPr>
              <a:t>01</a:t>
            </a:r>
            <a:endParaRPr lang="en-US" sz="2800" dirty="0"/>
          </a:p>
        </p:txBody>
      </p:sp>
      <p:sp>
        <p:nvSpPr>
          <p:cNvPr id="7" name="Text 5"/>
          <p:cNvSpPr/>
          <p:nvPr/>
        </p:nvSpPr>
        <p:spPr>
          <a:xfrm>
            <a:off x="411480" y="1673352"/>
            <a:ext cx="2468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TD / Bellman Loss</a:t>
            </a:r>
            <a:endParaRPr lang="en-US" sz="1300" dirty="0"/>
          </a:p>
        </p:txBody>
      </p:sp>
      <p:sp>
        <p:nvSpPr>
          <p:cNvPr id="8" name="Text 6"/>
          <p:cNvSpPr/>
          <p:nvPr/>
        </p:nvSpPr>
        <p:spPr>
          <a:xfrm>
            <a:off x="411480" y="2039112"/>
            <a:ext cx="2468880" cy="347472"/>
          </a:xfrm>
          <a:prstGeom prst="rect">
            <a:avLst/>
          </a:prstGeom>
          <a:noFill/>
          <a:ln/>
        </p:spPr>
        <p:txBody>
          <a:bodyPr wrap="square" lIns="0" tIns="0" rIns="0" bIns="0" rtlCol="0" anchor="ctr"/>
          <a:lstStyle/>
          <a:p>
            <a:pPr marL="0" indent="0" algn="l">
              <a:buNone/>
            </a:pPr>
            <a:r>
              <a:rPr lang="en-US" sz="1000" dirty="0">
                <a:solidFill>
                  <a:srgbClr val="8BB87A"/>
                </a:solidFill>
                <a:latin typeface="Calibri" pitchFamily="34" charset="0"/>
                <a:ea typeface="Calibri" pitchFamily="34" charset="-122"/>
                <a:cs typeface="Calibri" pitchFamily="34" charset="-120"/>
              </a:rPr>
              <a:t>Q-Learning foundation</a:t>
            </a:r>
            <a:endParaRPr lang="en-US" sz="1000" dirty="0"/>
          </a:p>
        </p:txBody>
      </p:sp>
      <p:sp>
        <p:nvSpPr>
          <p:cNvPr id="9" name="Shape 7"/>
          <p:cNvSpPr/>
          <p:nvPr/>
        </p:nvSpPr>
        <p:spPr>
          <a:xfrm>
            <a:off x="3218688" y="1078992"/>
            <a:ext cx="2743200" cy="1508760"/>
          </a:xfrm>
          <a:prstGeom prst="rect">
            <a:avLst/>
          </a:prstGeom>
          <a:solidFill>
            <a:srgbClr val="152C19"/>
          </a:solidFill>
          <a:ln w="12700">
            <a:solidFill>
              <a:srgbClr val="E8A020"/>
            </a:solidFill>
            <a:prstDash val="solid"/>
          </a:ln>
        </p:spPr>
        <p:txBody>
          <a:bodyPr/>
          <a:lstStyle/>
          <a:p>
            <a:endParaRPr lang="LID4096"/>
          </a:p>
        </p:txBody>
      </p:sp>
      <p:sp>
        <p:nvSpPr>
          <p:cNvPr id="10" name="Text 8"/>
          <p:cNvSpPr/>
          <p:nvPr/>
        </p:nvSpPr>
        <p:spPr>
          <a:xfrm>
            <a:off x="3355848" y="1197864"/>
            <a:ext cx="502920" cy="457200"/>
          </a:xfrm>
          <a:prstGeom prst="rect">
            <a:avLst/>
          </a:prstGeom>
          <a:noFill/>
          <a:ln/>
        </p:spPr>
        <p:txBody>
          <a:bodyPr wrap="square" lIns="0" tIns="0" rIns="0" bIns="0" rtlCol="0" anchor="ctr"/>
          <a:lstStyle/>
          <a:p>
            <a:pPr marL="0" indent="0" algn="l">
              <a:buNone/>
            </a:pPr>
            <a:r>
              <a:rPr lang="en-US" sz="2800" b="1" dirty="0">
                <a:solidFill>
                  <a:srgbClr val="E8A020"/>
                </a:solidFill>
                <a:latin typeface="Trebuchet MS" pitchFamily="34" charset="0"/>
                <a:ea typeface="Trebuchet MS" pitchFamily="34" charset="-122"/>
                <a:cs typeface="Trebuchet MS" pitchFamily="34" charset="-120"/>
              </a:rPr>
              <a:t>02</a:t>
            </a:r>
            <a:endParaRPr lang="en-US" sz="2800" dirty="0"/>
          </a:p>
        </p:txBody>
      </p:sp>
      <p:sp>
        <p:nvSpPr>
          <p:cNvPr id="11" name="Text 9"/>
          <p:cNvSpPr/>
          <p:nvPr/>
        </p:nvSpPr>
        <p:spPr>
          <a:xfrm>
            <a:off x="3355848" y="1673352"/>
            <a:ext cx="2468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Policy Gradient Loss</a:t>
            </a:r>
            <a:endParaRPr lang="en-US" sz="1300" dirty="0"/>
          </a:p>
        </p:txBody>
      </p:sp>
      <p:sp>
        <p:nvSpPr>
          <p:cNvPr id="12" name="Text 10"/>
          <p:cNvSpPr/>
          <p:nvPr/>
        </p:nvSpPr>
        <p:spPr>
          <a:xfrm>
            <a:off x="3355848" y="2039112"/>
            <a:ext cx="2468880" cy="347472"/>
          </a:xfrm>
          <a:prstGeom prst="rect">
            <a:avLst/>
          </a:prstGeom>
          <a:noFill/>
          <a:ln/>
        </p:spPr>
        <p:txBody>
          <a:bodyPr wrap="square" lIns="0" tIns="0" rIns="0" bIns="0" rtlCol="0" anchor="ctr"/>
          <a:lstStyle/>
          <a:p>
            <a:pPr marL="0" indent="0" algn="l">
              <a:buNone/>
            </a:pPr>
            <a:r>
              <a:rPr lang="en-US" sz="1000" dirty="0">
                <a:solidFill>
                  <a:srgbClr val="8BB87A"/>
                </a:solidFill>
                <a:latin typeface="Calibri" pitchFamily="34" charset="0"/>
                <a:ea typeface="Calibri" pitchFamily="34" charset="-122"/>
                <a:cs typeface="Calibri" pitchFamily="34" charset="-120"/>
              </a:rPr>
              <a:t>REINFORCE algorithm</a:t>
            </a:r>
            <a:endParaRPr lang="en-US" sz="1000" dirty="0"/>
          </a:p>
        </p:txBody>
      </p:sp>
      <p:sp>
        <p:nvSpPr>
          <p:cNvPr id="13" name="Shape 11"/>
          <p:cNvSpPr/>
          <p:nvPr/>
        </p:nvSpPr>
        <p:spPr>
          <a:xfrm>
            <a:off x="6163056" y="1078992"/>
            <a:ext cx="2743200" cy="1508760"/>
          </a:xfrm>
          <a:prstGeom prst="rect">
            <a:avLst/>
          </a:prstGeom>
          <a:solidFill>
            <a:srgbClr val="152C19"/>
          </a:solidFill>
          <a:ln w="12700">
            <a:solidFill>
              <a:srgbClr val="7ED348"/>
            </a:solidFill>
            <a:prstDash val="solid"/>
          </a:ln>
        </p:spPr>
        <p:txBody>
          <a:bodyPr/>
          <a:lstStyle/>
          <a:p>
            <a:endParaRPr lang="LID4096"/>
          </a:p>
        </p:txBody>
      </p:sp>
      <p:sp>
        <p:nvSpPr>
          <p:cNvPr id="14" name="Text 12"/>
          <p:cNvSpPr/>
          <p:nvPr/>
        </p:nvSpPr>
        <p:spPr>
          <a:xfrm>
            <a:off x="6300216" y="1197864"/>
            <a:ext cx="502920" cy="457200"/>
          </a:xfrm>
          <a:prstGeom prst="rect">
            <a:avLst/>
          </a:prstGeom>
          <a:noFill/>
          <a:ln/>
        </p:spPr>
        <p:txBody>
          <a:bodyPr wrap="square" lIns="0" tIns="0" rIns="0" bIns="0" rtlCol="0" anchor="ctr"/>
          <a:lstStyle/>
          <a:p>
            <a:pPr marL="0" indent="0" algn="l">
              <a:buNone/>
            </a:pPr>
            <a:r>
              <a:rPr lang="en-US" sz="2800" b="1" dirty="0">
                <a:solidFill>
                  <a:srgbClr val="7ED348"/>
                </a:solidFill>
                <a:latin typeface="Trebuchet MS" pitchFamily="34" charset="0"/>
                <a:ea typeface="Trebuchet MS" pitchFamily="34" charset="-122"/>
                <a:cs typeface="Trebuchet MS" pitchFamily="34" charset="-120"/>
              </a:rPr>
              <a:t>03</a:t>
            </a:r>
            <a:endParaRPr lang="en-US" sz="2800" dirty="0"/>
          </a:p>
        </p:txBody>
      </p:sp>
      <p:sp>
        <p:nvSpPr>
          <p:cNvPr id="15" name="Text 13"/>
          <p:cNvSpPr/>
          <p:nvPr/>
        </p:nvSpPr>
        <p:spPr>
          <a:xfrm>
            <a:off x="6300216" y="1673352"/>
            <a:ext cx="2468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Actor Critic Loss</a:t>
            </a:r>
            <a:endParaRPr lang="en-US" sz="1300" dirty="0"/>
          </a:p>
        </p:txBody>
      </p:sp>
      <p:sp>
        <p:nvSpPr>
          <p:cNvPr id="16" name="Text 14"/>
          <p:cNvSpPr/>
          <p:nvPr/>
        </p:nvSpPr>
        <p:spPr>
          <a:xfrm>
            <a:off x="6300216" y="2039112"/>
            <a:ext cx="2468880" cy="347472"/>
          </a:xfrm>
          <a:prstGeom prst="rect">
            <a:avLst/>
          </a:prstGeom>
          <a:noFill/>
          <a:ln/>
        </p:spPr>
        <p:txBody>
          <a:bodyPr wrap="square" lIns="0" tIns="0" rIns="0" bIns="0" rtlCol="0" anchor="ctr"/>
          <a:lstStyle/>
          <a:p>
            <a:pPr marL="0" indent="0" algn="l">
              <a:buNone/>
            </a:pPr>
            <a:r>
              <a:rPr lang="en-US" sz="1000" dirty="0">
                <a:solidFill>
                  <a:srgbClr val="8BB87A"/>
                </a:solidFill>
                <a:latin typeface="Calibri" pitchFamily="34" charset="0"/>
                <a:ea typeface="Calibri" pitchFamily="34" charset="-122"/>
                <a:cs typeface="Calibri" pitchFamily="34" charset="-120"/>
              </a:rPr>
              <a:t>A2C / A3C approach</a:t>
            </a:r>
            <a:endParaRPr lang="en-US" sz="1000" dirty="0"/>
          </a:p>
        </p:txBody>
      </p:sp>
      <p:sp>
        <p:nvSpPr>
          <p:cNvPr id="17" name="Shape 15"/>
          <p:cNvSpPr/>
          <p:nvPr/>
        </p:nvSpPr>
        <p:spPr>
          <a:xfrm>
            <a:off x="274320" y="2770632"/>
            <a:ext cx="2743200" cy="1508760"/>
          </a:xfrm>
          <a:prstGeom prst="rect">
            <a:avLst/>
          </a:prstGeom>
          <a:solidFill>
            <a:srgbClr val="152C19"/>
          </a:solidFill>
          <a:ln w="12700">
            <a:solidFill>
              <a:srgbClr val="E8A020"/>
            </a:solidFill>
            <a:prstDash val="solid"/>
          </a:ln>
        </p:spPr>
        <p:txBody>
          <a:bodyPr/>
          <a:lstStyle/>
          <a:p>
            <a:endParaRPr lang="LID4096"/>
          </a:p>
        </p:txBody>
      </p:sp>
      <p:sp>
        <p:nvSpPr>
          <p:cNvPr id="18" name="Text 16"/>
          <p:cNvSpPr/>
          <p:nvPr/>
        </p:nvSpPr>
        <p:spPr>
          <a:xfrm>
            <a:off x="411480" y="2889504"/>
            <a:ext cx="502920" cy="457200"/>
          </a:xfrm>
          <a:prstGeom prst="rect">
            <a:avLst/>
          </a:prstGeom>
          <a:noFill/>
          <a:ln/>
        </p:spPr>
        <p:txBody>
          <a:bodyPr wrap="square" lIns="0" tIns="0" rIns="0" bIns="0" rtlCol="0" anchor="ctr"/>
          <a:lstStyle/>
          <a:p>
            <a:pPr marL="0" indent="0" algn="l">
              <a:buNone/>
            </a:pPr>
            <a:r>
              <a:rPr lang="en-US" sz="2800" b="1" dirty="0">
                <a:solidFill>
                  <a:srgbClr val="E8A020"/>
                </a:solidFill>
                <a:latin typeface="Trebuchet MS" pitchFamily="34" charset="0"/>
                <a:ea typeface="Trebuchet MS" pitchFamily="34" charset="-122"/>
                <a:cs typeface="Trebuchet MS" pitchFamily="34" charset="-120"/>
              </a:rPr>
              <a:t>04</a:t>
            </a:r>
            <a:endParaRPr lang="en-US" sz="2800" dirty="0"/>
          </a:p>
        </p:txBody>
      </p:sp>
      <p:sp>
        <p:nvSpPr>
          <p:cNvPr id="19" name="Text 17"/>
          <p:cNvSpPr/>
          <p:nvPr/>
        </p:nvSpPr>
        <p:spPr>
          <a:xfrm>
            <a:off x="411480" y="3364992"/>
            <a:ext cx="2468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PPO Loss</a:t>
            </a:r>
            <a:endParaRPr lang="en-US" sz="1300" dirty="0"/>
          </a:p>
        </p:txBody>
      </p:sp>
      <p:sp>
        <p:nvSpPr>
          <p:cNvPr id="20" name="Text 18"/>
          <p:cNvSpPr/>
          <p:nvPr/>
        </p:nvSpPr>
        <p:spPr>
          <a:xfrm>
            <a:off x="411480" y="3730752"/>
            <a:ext cx="2468880" cy="347472"/>
          </a:xfrm>
          <a:prstGeom prst="rect">
            <a:avLst/>
          </a:prstGeom>
          <a:noFill/>
          <a:ln/>
        </p:spPr>
        <p:txBody>
          <a:bodyPr wrap="square" lIns="0" tIns="0" rIns="0" bIns="0" rtlCol="0" anchor="ctr"/>
          <a:lstStyle/>
          <a:p>
            <a:pPr marL="0" indent="0" algn="l">
              <a:buNone/>
            </a:pPr>
            <a:r>
              <a:rPr lang="en-US" sz="1000" dirty="0">
                <a:solidFill>
                  <a:srgbClr val="8BB87A"/>
                </a:solidFill>
                <a:latin typeface="Calibri" pitchFamily="34" charset="0"/>
                <a:ea typeface="Calibri" pitchFamily="34" charset="-122"/>
                <a:cs typeface="Calibri" pitchFamily="34" charset="-120"/>
              </a:rPr>
              <a:t>Clipped surrogate objective</a:t>
            </a:r>
            <a:endParaRPr lang="en-US" sz="1000" dirty="0"/>
          </a:p>
        </p:txBody>
      </p:sp>
      <p:sp>
        <p:nvSpPr>
          <p:cNvPr id="21" name="Shape 19"/>
          <p:cNvSpPr/>
          <p:nvPr/>
        </p:nvSpPr>
        <p:spPr>
          <a:xfrm>
            <a:off x="3218688" y="2770632"/>
            <a:ext cx="2743200" cy="1508760"/>
          </a:xfrm>
          <a:prstGeom prst="rect">
            <a:avLst/>
          </a:prstGeom>
          <a:solidFill>
            <a:srgbClr val="152C19"/>
          </a:solidFill>
          <a:ln w="12700">
            <a:solidFill>
              <a:srgbClr val="7ED348"/>
            </a:solidFill>
            <a:prstDash val="solid"/>
          </a:ln>
        </p:spPr>
        <p:txBody>
          <a:bodyPr/>
          <a:lstStyle/>
          <a:p>
            <a:endParaRPr lang="LID4096"/>
          </a:p>
        </p:txBody>
      </p:sp>
      <p:sp>
        <p:nvSpPr>
          <p:cNvPr id="22" name="Text 20"/>
          <p:cNvSpPr/>
          <p:nvPr/>
        </p:nvSpPr>
        <p:spPr>
          <a:xfrm>
            <a:off x="3355848" y="2889504"/>
            <a:ext cx="502920" cy="457200"/>
          </a:xfrm>
          <a:prstGeom prst="rect">
            <a:avLst/>
          </a:prstGeom>
          <a:noFill/>
          <a:ln/>
        </p:spPr>
        <p:txBody>
          <a:bodyPr wrap="square" lIns="0" tIns="0" rIns="0" bIns="0" rtlCol="0" anchor="ctr"/>
          <a:lstStyle/>
          <a:p>
            <a:pPr marL="0" indent="0" algn="l">
              <a:buNone/>
            </a:pPr>
            <a:r>
              <a:rPr lang="en-US" sz="2800" b="1" dirty="0">
                <a:solidFill>
                  <a:srgbClr val="7ED348"/>
                </a:solidFill>
                <a:latin typeface="Trebuchet MS" pitchFamily="34" charset="0"/>
                <a:ea typeface="Trebuchet MS" pitchFamily="34" charset="-122"/>
                <a:cs typeface="Trebuchet MS" pitchFamily="34" charset="-120"/>
              </a:rPr>
              <a:t>05</a:t>
            </a:r>
            <a:endParaRPr lang="en-US" sz="2800" dirty="0"/>
          </a:p>
        </p:txBody>
      </p:sp>
      <p:sp>
        <p:nvSpPr>
          <p:cNvPr id="23" name="Text 21"/>
          <p:cNvSpPr/>
          <p:nvPr/>
        </p:nvSpPr>
        <p:spPr>
          <a:xfrm>
            <a:off x="3355848" y="3364992"/>
            <a:ext cx="2468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KL Divergence</a:t>
            </a:r>
            <a:endParaRPr lang="en-US" sz="1300" dirty="0"/>
          </a:p>
        </p:txBody>
      </p:sp>
      <p:sp>
        <p:nvSpPr>
          <p:cNvPr id="24" name="Text 22"/>
          <p:cNvSpPr/>
          <p:nvPr/>
        </p:nvSpPr>
        <p:spPr>
          <a:xfrm>
            <a:off x="3355848" y="3730752"/>
            <a:ext cx="2468880" cy="347472"/>
          </a:xfrm>
          <a:prstGeom prst="rect">
            <a:avLst/>
          </a:prstGeom>
          <a:noFill/>
          <a:ln/>
        </p:spPr>
        <p:txBody>
          <a:bodyPr wrap="square" lIns="0" tIns="0" rIns="0" bIns="0" rtlCol="0" anchor="ctr"/>
          <a:lstStyle/>
          <a:p>
            <a:pPr marL="0" indent="0" algn="l">
              <a:buNone/>
            </a:pPr>
            <a:r>
              <a:rPr lang="en-US" sz="1000" dirty="0">
                <a:solidFill>
                  <a:srgbClr val="8BB87A"/>
                </a:solidFill>
                <a:latin typeface="Calibri" pitchFamily="34" charset="0"/>
                <a:ea typeface="Calibri" pitchFamily="34" charset="-122"/>
                <a:cs typeface="Calibri" pitchFamily="34" charset="-120"/>
              </a:rPr>
              <a:t>Stability constraint</a:t>
            </a:r>
            <a:endParaRPr lang="en-US" sz="1000" dirty="0"/>
          </a:p>
        </p:txBody>
      </p:sp>
      <p:sp>
        <p:nvSpPr>
          <p:cNvPr id="25" name="Shape 23"/>
          <p:cNvSpPr/>
          <p:nvPr/>
        </p:nvSpPr>
        <p:spPr>
          <a:xfrm>
            <a:off x="6163056" y="2770632"/>
            <a:ext cx="2743200" cy="1508760"/>
          </a:xfrm>
          <a:prstGeom prst="rect">
            <a:avLst/>
          </a:prstGeom>
          <a:solidFill>
            <a:srgbClr val="152C19"/>
          </a:solidFill>
          <a:ln w="12700">
            <a:solidFill>
              <a:srgbClr val="E8A020"/>
            </a:solidFill>
            <a:prstDash val="solid"/>
          </a:ln>
        </p:spPr>
        <p:txBody>
          <a:bodyPr/>
          <a:lstStyle/>
          <a:p>
            <a:endParaRPr lang="LID4096"/>
          </a:p>
        </p:txBody>
      </p:sp>
      <p:sp>
        <p:nvSpPr>
          <p:cNvPr id="26" name="Text 24"/>
          <p:cNvSpPr/>
          <p:nvPr/>
        </p:nvSpPr>
        <p:spPr>
          <a:xfrm>
            <a:off x="6300216" y="2889504"/>
            <a:ext cx="502920" cy="457200"/>
          </a:xfrm>
          <a:prstGeom prst="rect">
            <a:avLst/>
          </a:prstGeom>
          <a:noFill/>
          <a:ln/>
        </p:spPr>
        <p:txBody>
          <a:bodyPr wrap="square" lIns="0" tIns="0" rIns="0" bIns="0" rtlCol="0" anchor="ctr"/>
          <a:lstStyle/>
          <a:p>
            <a:pPr marL="0" indent="0" algn="l">
              <a:buNone/>
            </a:pPr>
            <a:r>
              <a:rPr lang="en-US" sz="2800" b="1" dirty="0">
                <a:solidFill>
                  <a:srgbClr val="E8A020"/>
                </a:solidFill>
                <a:latin typeface="Trebuchet MS" pitchFamily="34" charset="0"/>
                <a:ea typeface="Trebuchet MS" pitchFamily="34" charset="-122"/>
                <a:cs typeface="Trebuchet MS" pitchFamily="34" charset="-120"/>
              </a:rPr>
              <a:t>06</a:t>
            </a:r>
            <a:endParaRPr lang="en-US" sz="2800" dirty="0"/>
          </a:p>
        </p:txBody>
      </p:sp>
      <p:sp>
        <p:nvSpPr>
          <p:cNvPr id="27" name="Text 25"/>
          <p:cNvSpPr/>
          <p:nvPr/>
        </p:nvSpPr>
        <p:spPr>
          <a:xfrm>
            <a:off x="6300216" y="3364992"/>
            <a:ext cx="246888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Evaluation Metrics</a:t>
            </a:r>
            <a:endParaRPr lang="en-US" sz="1300" dirty="0"/>
          </a:p>
        </p:txBody>
      </p:sp>
      <p:sp>
        <p:nvSpPr>
          <p:cNvPr id="28" name="Text 26"/>
          <p:cNvSpPr/>
          <p:nvPr/>
        </p:nvSpPr>
        <p:spPr>
          <a:xfrm>
            <a:off x="6300216" y="3730752"/>
            <a:ext cx="2468880" cy="347472"/>
          </a:xfrm>
          <a:prstGeom prst="rect">
            <a:avLst/>
          </a:prstGeom>
          <a:noFill/>
          <a:ln/>
        </p:spPr>
        <p:txBody>
          <a:bodyPr wrap="square" lIns="0" tIns="0" rIns="0" bIns="0" rtlCol="0" anchor="ctr"/>
          <a:lstStyle/>
          <a:p>
            <a:pPr marL="0" indent="0" algn="l">
              <a:buNone/>
            </a:pPr>
            <a:r>
              <a:rPr lang="en-US" sz="1000" dirty="0">
                <a:solidFill>
                  <a:srgbClr val="8BB87A"/>
                </a:solidFill>
                <a:latin typeface="Calibri" pitchFamily="34" charset="0"/>
                <a:ea typeface="Calibri" pitchFamily="34" charset="-122"/>
                <a:cs typeface="Calibri" pitchFamily="34" charset="-120"/>
              </a:rPr>
              <a:t>Reward, KDR, Win Rate…</a:t>
            </a:r>
            <a:endParaRPr lang="en-US" sz="1000" dirty="0"/>
          </a:p>
        </p:txBody>
      </p:sp>
      <p:sp>
        <p:nvSpPr>
          <p:cNvPr id="29" name="Shape 27"/>
          <p:cNvSpPr/>
          <p:nvPr/>
        </p:nvSpPr>
        <p:spPr>
          <a:xfrm>
            <a:off x="0" y="4800600"/>
            <a:ext cx="9144000" cy="342900"/>
          </a:xfrm>
          <a:prstGeom prst="rect">
            <a:avLst/>
          </a:prstGeom>
          <a:solidFill>
            <a:srgbClr val="1A3A1E"/>
          </a:solidFill>
          <a:ln w="12700">
            <a:solidFill>
              <a:srgbClr val="7ED348"/>
            </a:solidFill>
            <a:prstDash val="solid"/>
          </a:ln>
        </p:spPr>
        <p:txBody>
          <a:bodyPr/>
          <a:lstStyle/>
          <a:p>
            <a:endParaRPr lang="LID4096"/>
          </a:p>
        </p:txBody>
      </p:sp>
      <p:sp>
        <p:nvSpPr>
          <p:cNvPr id="30" name="Text 28"/>
          <p:cNvSpPr/>
          <p:nvPr/>
        </p:nvSpPr>
        <p:spPr>
          <a:xfrm>
            <a:off x="182880" y="4818888"/>
            <a:ext cx="5486400" cy="292608"/>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Horde Survival Game, Deep RL</a:t>
            </a:r>
            <a:endParaRPr lang="en-US" sz="900" dirty="0"/>
          </a:p>
        </p:txBody>
      </p:sp>
      <p:sp>
        <p:nvSpPr>
          <p:cNvPr id="31" name="Text 29"/>
          <p:cNvSpPr/>
          <p:nvPr/>
        </p:nvSpPr>
        <p:spPr>
          <a:xfrm>
            <a:off x="3657600" y="4818888"/>
            <a:ext cx="5303520" cy="292608"/>
          </a:xfrm>
          <a:prstGeom prst="rect">
            <a:avLst/>
          </a:prstGeom>
          <a:noFill/>
          <a:ln/>
        </p:spPr>
        <p:txBody>
          <a:bodyPr wrap="square" lIns="0" tIns="0" rIns="0" bIns="0" rtlCol="0" anchor="ctr"/>
          <a:lstStyle/>
          <a:p>
            <a:pPr marL="0" indent="0" algn="r">
              <a:buNone/>
            </a:pPr>
            <a:r>
              <a:rPr lang="en-US" sz="900" dirty="0">
                <a:solidFill>
                  <a:srgbClr val="7ED348"/>
                </a:solidFill>
                <a:latin typeface="Calibri" pitchFamily="34" charset="0"/>
                <a:ea typeface="Calibri" pitchFamily="34" charset="-122"/>
                <a:cs typeface="Calibri" pitchFamily="34" charset="-120"/>
              </a:rPr>
              <a:t>ANN Project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7ED348"/>
          </a:solidFill>
          <a:ln w="12700">
            <a:solidFill>
              <a:srgbClr val="7ED348"/>
            </a:solidFill>
            <a:prstDash val="solid"/>
          </a:ln>
        </p:spPr>
        <p:txBody>
          <a:bodyPr/>
          <a:lstStyle/>
          <a:p>
            <a:endParaRPr lang="LID4096"/>
          </a:p>
        </p:txBody>
      </p:sp>
      <p:sp>
        <p:nvSpPr>
          <p:cNvPr id="3" name="Text 1"/>
          <p:cNvSpPr/>
          <p:nvPr/>
        </p:nvSpPr>
        <p:spPr>
          <a:xfrm>
            <a:off x="320040" y="201168"/>
            <a:ext cx="347472" cy="347472"/>
          </a:xfrm>
          <a:prstGeom prst="rect">
            <a:avLst/>
          </a:prstGeom>
          <a:noFill/>
          <a:ln/>
        </p:spPr>
        <p:txBody>
          <a:bodyPr wrap="square" lIns="0" tIns="0" rIns="0" bIns="0" rtlCol="0" anchor="ctr"/>
          <a:lstStyle/>
          <a:p>
            <a:pPr marL="0" indent="0" algn="ctr">
              <a:buNone/>
            </a:pPr>
            <a:r>
              <a:rPr lang="en-US" sz="1300" b="1" dirty="0">
                <a:solidFill>
                  <a:srgbClr val="0D1F12"/>
                </a:solidFill>
                <a:latin typeface="Trebuchet MS" pitchFamily="34" charset="0"/>
                <a:ea typeface="Trebuchet MS" pitchFamily="34" charset="-122"/>
                <a:cs typeface="Trebuchet MS" pitchFamily="34" charset="-120"/>
              </a:rPr>
              <a:t>01</a:t>
            </a:r>
            <a:endParaRPr lang="en-US" sz="13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marL="0" indent="0" algn="l">
              <a:buNone/>
            </a:pPr>
            <a:r>
              <a:rPr lang="en-US" sz="1100" b="1" kern="0" spc="200" dirty="0">
                <a:solidFill>
                  <a:srgbClr val="7ED348"/>
                </a:solidFill>
                <a:latin typeface="Trebuchet MS" pitchFamily="34" charset="0"/>
                <a:ea typeface="Trebuchet MS" pitchFamily="34" charset="-122"/>
                <a:cs typeface="Trebuchet MS" pitchFamily="34" charset="-120"/>
              </a:rPr>
              <a:t>TD / BELLMAN LOSS</a:t>
            </a:r>
            <a:endParaRPr lang="en-US" sz="1100" dirty="0"/>
          </a:p>
        </p:txBody>
      </p:sp>
      <p:sp>
        <p:nvSpPr>
          <p:cNvPr id="5" name="Text 3"/>
          <p:cNvSpPr/>
          <p:nvPr/>
        </p:nvSpPr>
        <p:spPr>
          <a:xfrm>
            <a:off x="320040" y="566928"/>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TD / Bellman Loss</a:t>
            </a:r>
            <a:endParaRPr lang="en-US" sz="2800" dirty="0"/>
          </a:p>
        </p:txBody>
      </p:sp>
      <p:sp>
        <p:nvSpPr>
          <p:cNvPr id="6" name="Text 4"/>
          <p:cNvSpPr/>
          <p:nvPr/>
        </p:nvSpPr>
        <p:spPr>
          <a:xfrm>
            <a:off x="320040" y="1078992"/>
            <a:ext cx="8412480" cy="548640"/>
          </a:xfrm>
          <a:prstGeom prst="rect">
            <a:avLst/>
          </a:prstGeom>
          <a:noFill/>
          <a:ln/>
        </p:spPr>
        <p:txBody>
          <a:bodyPr wrap="square" lIns="0" tIns="0" rIns="0" bIns="0" rtlCol="0" anchor="ctr"/>
          <a:lstStyle/>
          <a:p>
            <a:pPr marL="0" indent="0" algn="l">
              <a:buNone/>
            </a:pPr>
            <a:r>
              <a:rPr lang="en-US" sz="1050" dirty="0">
                <a:solidFill>
                  <a:srgbClr val="E8F5E0"/>
                </a:solidFill>
                <a:latin typeface="Calibri" pitchFamily="34" charset="0"/>
                <a:ea typeface="Calibri" pitchFamily="34" charset="-122"/>
                <a:cs typeface="Calibri" pitchFamily="34" charset="-120"/>
              </a:rPr>
              <a:t>The core loss of Deep Q-Networks (DQN). Trains the agent to correctly estimate Q-values,</a:t>
            </a:r>
            <a:endParaRPr lang="en-US" sz="1050" dirty="0"/>
          </a:p>
          <a:p>
            <a:pPr marL="0" indent="0" algn="l">
              <a:buNone/>
            </a:pPr>
            <a:r>
              <a:rPr lang="en-US" sz="1050" dirty="0">
                <a:solidFill>
                  <a:srgbClr val="E8F5E0"/>
                </a:solidFill>
                <a:latin typeface="Calibri" pitchFamily="34" charset="0"/>
                <a:ea typeface="Calibri" pitchFamily="34" charset="-122"/>
                <a:cs typeface="Calibri" pitchFamily="34" charset="-120"/>
              </a:rPr>
              <a:t>the expected future reward for taking an action in a state. Perfect for discrete horde combat actions.</a:t>
            </a:r>
            <a:endParaRPr lang="en-US" sz="1050" dirty="0"/>
          </a:p>
        </p:txBody>
      </p:sp>
      <p:sp>
        <p:nvSpPr>
          <p:cNvPr id="7" name="Shape 5"/>
          <p:cNvSpPr/>
          <p:nvPr/>
        </p:nvSpPr>
        <p:spPr>
          <a:xfrm>
            <a:off x="320040" y="1664208"/>
            <a:ext cx="8503920" cy="502920"/>
          </a:xfrm>
          <a:prstGeom prst="rect">
            <a:avLst/>
          </a:prstGeom>
          <a:solidFill>
            <a:srgbClr val="0A1A0E"/>
          </a:solidFill>
          <a:ln w="12700">
            <a:solidFill>
              <a:srgbClr val="7ED348"/>
            </a:solidFill>
            <a:prstDash val="solid"/>
          </a:ln>
        </p:spPr>
        <p:txBody>
          <a:bodyPr/>
          <a:lstStyle/>
          <a:p>
            <a:endParaRPr lang="LID4096"/>
          </a:p>
        </p:txBody>
      </p:sp>
      <p:sp>
        <p:nvSpPr>
          <p:cNvPr id="8" name="Text 6"/>
          <p:cNvSpPr/>
          <p:nvPr/>
        </p:nvSpPr>
        <p:spPr>
          <a:xfrm>
            <a:off x="320040" y="1664208"/>
            <a:ext cx="8503920" cy="502920"/>
          </a:xfrm>
          <a:prstGeom prst="rect">
            <a:avLst/>
          </a:prstGeom>
          <a:noFill/>
          <a:ln/>
        </p:spPr>
        <p:txBody>
          <a:bodyPr wrap="square" lIns="0" tIns="0" rIns="0" bIns="0" rtlCol="0" anchor="ctr"/>
          <a:lstStyle/>
          <a:p>
            <a:pPr marL="0" indent="0" algn="ctr">
              <a:buNone/>
            </a:pPr>
            <a:r>
              <a:rPr lang="en-US" sz="1300" dirty="0">
                <a:solidFill>
                  <a:srgbClr val="7ED348"/>
                </a:solidFill>
                <a:latin typeface="Consolas" pitchFamily="34" charset="0"/>
                <a:ea typeface="Consolas" pitchFamily="34" charset="-122"/>
                <a:cs typeface="Consolas" pitchFamily="34" charset="-120"/>
              </a:rPr>
              <a:t>L(θ) = 𝔼[ (r + γ · max Q(s′,a′;θ⁻) − Q(s,a;θ))² ]</a:t>
            </a:r>
            <a:endParaRPr lang="en-US" sz="1300" dirty="0"/>
          </a:p>
        </p:txBody>
      </p:sp>
      <p:sp>
        <p:nvSpPr>
          <p:cNvPr id="9" name="Shape 7"/>
          <p:cNvSpPr/>
          <p:nvPr/>
        </p:nvSpPr>
        <p:spPr>
          <a:xfrm>
            <a:off x="320040" y="2286000"/>
            <a:ext cx="2606040" cy="219456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10" name="Shape 8"/>
          <p:cNvSpPr/>
          <p:nvPr/>
        </p:nvSpPr>
        <p:spPr>
          <a:xfrm>
            <a:off x="320040" y="2286000"/>
            <a:ext cx="54864" cy="2194560"/>
          </a:xfrm>
          <a:prstGeom prst="rect">
            <a:avLst/>
          </a:prstGeom>
          <a:solidFill>
            <a:srgbClr val="7ED348"/>
          </a:solidFill>
          <a:ln w="12700">
            <a:solidFill>
              <a:srgbClr val="7ED348"/>
            </a:solidFill>
            <a:prstDash val="solid"/>
          </a:ln>
        </p:spPr>
        <p:txBody>
          <a:bodyPr/>
          <a:lstStyle/>
          <a:p>
            <a:endParaRPr lang="LID4096"/>
          </a:p>
        </p:txBody>
      </p:sp>
      <p:sp>
        <p:nvSpPr>
          <p:cNvPr id="11" name="Text 9"/>
          <p:cNvSpPr/>
          <p:nvPr/>
        </p:nvSpPr>
        <p:spPr>
          <a:xfrm>
            <a:off x="438912" y="2359152"/>
            <a:ext cx="2441448" cy="274320"/>
          </a:xfrm>
          <a:prstGeom prst="rect">
            <a:avLst/>
          </a:prstGeom>
          <a:noFill/>
          <a:ln/>
        </p:spPr>
        <p:txBody>
          <a:bodyPr wrap="square" lIns="0" tIns="0" rIns="0" bIns="0" rtlCol="0" anchor="ctr"/>
          <a:lstStyle/>
          <a:p>
            <a:pPr marL="0" indent="0" algn="l">
              <a:buNone/>
            </a:pPr>
            <a:r>
              <a:rPr lang="en-US" sz="1000" b="1" dirty="0">
                <a:solidFill>
                  <a:srgbClr val="7ED348"/>
                </a:solidFill>
                <a:latin typeface="Trebuchet MS" pitchFamily="34" charset="0"/>
                <a:ea typeface="Trebuchet MS" pitchFamily="34" charset="-122"/>
                <a:cs typeface="Trebuchet MS" pitchFamily="34" charset="-120"/>
              </a:rPr>
              <a:t>✔  ADVANTAGES</a:t>
            </a:r>
            <a:endParaRPr lang="en-US" sz="1000" dirty="0"/>
          </a:p>
        </p:txBody>
      </p:sp>
      <p:sp>
        <p:nvSpPr>
          <p:cNvPr id="12" name="Text 10"/>
          <p:cNvSpPr/>
          <p:nvPr/>
        </p:nvSpPr>
        <p:spPr>
          <a:xfrm>
            <a:off x="438912" y="2633472"/>
            <a:ext cx="2423160" cy="1783080"/>
          </a:xfrm>
          <a:prstGeom prst="rect">
            <a:avLst/>
          </a:prstGeom>
          <a:noFill/>
          <a:ln/>
        </p:spPr>
        <p:txBody>
          <a:bodyPr wrap="square" rtlCol="0" anchor="t"/>
          <a:lstStyle/>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Stable convergence via target network</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Experience replay reduces correlation</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Well-understood; widely used in games</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Foundation of modern game-playing AI</a:t>
            </a:r>
            <a:endParaRPr lang="en-US" sz="950" dirty="0"/>
          </a:p>
        </p:txBody>
      </p:sp>
      <p:sp>
        <p:nvSpPr>
          <p:cNvPr id="13" name="Shape 11"/>
          <p:cNvSpPr/>
          <p:nvPr/>
        </p:nvSpPr>
        <p:spPr>
          <a:xfrm>
            <a:off x="3127248" y="2286000"/>
            <a:ext cx="2606040" cy="219456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14" name="Shape 12"/>
          <p:cNvSpPr/>
          <p:nvPr/>
        </p:nvSpPr>
        <p:spPr>
          <a:xfrm>
            <a:off x="3127248" y="2286000"/>
            <a:ext cx="54864" cy="2194560"/>
          </a:xfrm>
          <a:prstGeom prst="rect">
            <a:avLst/>
          </a:prstGeom>
          <a:solidFill>
            <a:srgbClr val="C0392B"/>
          </a:solidFill>
          <a:ln w="12700">
            <a:solidFill>
              <a:srgbClr val="C0392B"/>
            </a:solidFill>
            <a:prstDash val="solid"/>
          </a:ln>
        </p:spPr>
        <p:txBody>
          <a:bodyPr/>
          <a:lstStyle/>
          <a:p>
            <a:endParaRPr lang="LID4096"/>
          </a:p>
        </p:txBody>
      </p:sp>
      <p:sp>
        <p:nvSpPr>
          <p:cNvPr id="15" name="Text 13"/>
          <p:cNvSpPr/>
          <p:nvPr/>
        </p:nvSpPr>
        <p:spPr>
          <a:xfrm>
            <a:off x="3246120" y="2359152"/>
            <a:ext cx="2441448" cy="274320"/>
          </a:xfrm>
          <a:prstGeom prst="rect">
            <a:avLst/>
          </a:prstGeom>
          <a:noFill/>
          <a:ln/>
        </p:spPr>
        <p:txBody>
          <a:bodyPr wrap="square" lIns="0" tIns="0" rIns="0" bIns="0" rtlCol="0" anchor="ctr"/>
          <a:lstStyle/>
          <a:p>
            <a:pPr marL="0" indent="0" algn="l">
              <a:buNone/>
            </a:pPr>
            <a:r>
              <a:rPr lang="en-US" sz="1000" b="1" dirty="0">
                <a:solidFill>
                  <a:srgbClr val="C0392B"/>
                </a:solidFill>
                <a:latin typeface="Trebuchet MS" pitchFamily="34" charset="0"/>
                <a:ea typeface="Trebuchet MS" pitchFamily="34" charset="-122"/>
                <a:cs typeface="Trebuchet MS" pitchFamily="34" charset="-120"/>
              </a:rPr>
              <a:t>✘  LIMITATIONS</a:t>
            </a:r>
            <a:endParaRPr lang="en-US" sz="1000" dirty="0"/>
          </a:p>
        </p:txBody>
      </p:sp>
      <p:sp>
        <p:nvSpPr>
          <p:cNvPr id="16" name="Text 14"/>
          <p:cNvSpPr/>
          <p:nvPr/>
        </p:nvSpPr>
        <p:spPr>
          <a:xfrm>
            <a:off x="3246120" y="2633472"/>
            <a:ext cx="2423160" cy="1783080"/>
          </a:xfrm>
          <a:prstGeom prst="rect">
            <a:avLst/>
          </a:prstGeom>
          <a:noFill/>
          <a:ln/>
        </p:spPr>
        <p:txBody>
          <a:bodyPr wrap="square" rtlCol="0" anchor="t"/>
          <a:lstStyle/>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Overestimates Q-values (Double DQN fixes)</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Only works for discrete action spaces</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Requires careful hyperparameter tuning</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Sample-inefficient in complex scenarios</a:t>
            </a:r>
            <a:endParaRPr lang="en-US" sz="950" dirty="0"/>
          </a:p>
        </p:txBody>
      </p:sp>
      <p:sp>
        <p:nvSpPr>
          <p:cNvPr id="17" name="Shape 15"/>
          <p:cNvSpPr/>
          <p:nvPr/>
        </p:nvSpPr>
        <p:spPr>
          <a:xfrm>
            <a:off x="5925312" y="2286000"/>
            <a:ext cx="2898648" cy="219456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18" name="Shape 16"/>
          <p:cNvSpPr/>
          <p:nvPr/>
        </p:nvSpPr>
        <p:spPr>
          <a:xfrm>
            <a:off x="5925312" y="2286000"/>
            <a:ext cx="54864" cy="2194560"/>
          </a:xfrm>
          <a:prstGeom prst="rect">
            <a:avLst/>
          </a:prstGeom>
          <a:solidFill>
            <a:srgbClr val="E8A020"/>
          </a:solidFill>
          <a:ln w="12700">
            <a:solidFill>
              <a:srgbClr val="E8A020"/>
            </a:solidFill>
            <a:prstDash val="solid"/>
          </a:ln>
        </p:spPr>
        <p:txBody>
          <a:bodyPr/>
          <a:lstStyle/>
          <a:p>
            <a:endParaRPr lang="LID4096"/>
          </a:p>
        </p:txBody>
      </p:sp>
      <p:sp>
        <p:nvSpPr>
          <p:cNvPr id="19" name="Text 17"/>
          <p:cNvSpPr/>
          <p:nvPr/>
        </p:nvSpPr>
        <p:spPr>
          <a:xfrm>
            <a:off x="6044184" y="2359152"/>
            <a:ext cx="2734056" cy="274320"/>
          </a:xfrm>
          <a:prstGeom prst="rect">
            <a:avLst/>
          </a:prstGeom>
          <a:noFill/>
          <a:ln/>
        </p:spPr>
        <p:txBody>
          <a:bodyPr wrap="square" lIns="0" tIns="0" rIns="0" bIns="0" rtlCol="0" anchor="ctr"/>
          <a:lstStyle/>
          <a:p>
            <a:pPr marL="0" indent="0" algn="l">
              <a:buNone/>
            </a:pPr>
            <a:r>
              <a:rPr lang="en-US" sz="1000" b="1" dirty="0">
                <a:solidFill>
                  <a:srgbClr val="E8A020"/>
                </a:solidFill>
                <a:latin typeface="Trebuchet MS" pitchFamily="34" charset="0"/>
                <a:ea typeface="Trebuchet MS" pitchFamily="34" charset="-122"/>
                <a:cs typeface="Trebuchet MS" pitchFamily="34" charset="-120"/>
              </a:rPr>
              <a:t>⚡  USE CASE IN HORDE</a:t>
            </a:r>
            <a:endParaRPr lang="en-US" sz="1000" dirty="0"/>
          </a:p>
        </p:txBody>
      </p:sp>
      <p:sp>
        <p:nvSpPr>
          <p:cNvPr id="20" name="Text 18"/>
          <p:cNvSpPr/>
          <p:nvPr/>
        </p:nvSpPr>
        <p:spPr>
          <a:xfrm>
            <a:off x="6044184" y="2633472"/>
            <a:ext cx="2715768" cy="1783080"/>
          </a:xfrm>
          <a:prstGeom prst="rect">
            <a:avLst/>
          </a:prstGeom>
          <a:noFill/>
          <a:ln/>
        </p:spPr>
        <p:txBody>
          <a:bodyPr wrap="square" rtlCol="0" anchor="t"/>
          <a:lstStyle/>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Discrete actions: move, shoot, dodge</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Basic horde scenarios (wave 1-5)</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Spawn-room clearing and navigation</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Prioritised when simplicity is key</a:t>
            </a:r>
            <a:endParaRPr lang="en-US" sz="950" dirty="0"/>
          </a:p>
        </p:txBody>
      </p:sp>
      <p:sp>
        <p:nvSpPr>
          <p:cNvPr id="21" name="Shape 19"/>
          <p:cNvSpPr/>
          <p:nvPr/>
        </p:nvSpPr>
        <p:spPr>
          <a:xfrm>
            <a:off x="0" y="4800600"/>
            <a:ext cx="9144000" cy="342900"/>
          </a:xfrm>
          <a:prstGeom prst="rect">
            <a:avLst/>
          </a:prstGeom>
          <a:solidFill>
            <a:srgbClr val="1A3A1E"/>
          </a:solidFill>
          <a:ln w="12700">
            <a:solidFill>
              <a:srgbClr val="7ED348"/>
            </a:solidFill>
            <a:prstDash val="solid"/>
          </a:ln>
        </p:spPr>
        <p:txBody>
          <a:bodyPr/>
          <a:lstStyle/>
          <a:p>
            <a:endParaRPr lang="LID4096"/>
          </a:p>
        </p:txBody>
      </p:sp>
      <p:sp>
        <p:nvSpPr>
          <p:cNvPr id="22" name="Text 20"/>
          <p:cNvSpPr/>
          <p:nvPr/>
        </p:nvSpPr>
        <p:spPr>
          <a:xfrm>
            <a:off x="182880" y="4818888"/>
            <a:ext cx="5486400" cy="292608"/>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Horde Survival Game, Deep RL</a:t>
            </a:r>
            <a:endParaRPr lang="en-US" sz="900" dirty="0"/>
          </a:p>
        </p:txBody>
      </p:sp>
      <p:sp>
        <p:nvSpPr>
          <p:cNvPr id="23" name="Text 21"/>
          <p:cNvSpPr/>
          <p:nvPr/>
        </p:nvSpPr>
        <p:spPr>
          <a:xfrm>
            <a:off x="3657600" y="4818888"/>
            <a:ext cx="5303520" cy="292608"/>
          </a:xfrm>
          <a:prstGeom prst="rect">
            <a:avLst/>
          </a:prstGeom>
          <a:noFill/>
          <a:ln/>
        </p:spPr>
        <p:txBody>
          <a:bodyPr wrap="square" lIns="0" tIns="0" rIns="0" bIns="0" rtlCol="0" anchor="ctr"/>
          <a:lstStyle/>
          <a:p>
            <a:pPr marL="0" indent="0" algn="r">
              <a:buNone/>
            </a:pPr>
            <a:r>
              <a:rPr lang="en-US" sz="900" dirty="0">
                <a:solidFill>
                  <a:srgbClr val="7ED348"/>
                </a:solidFill>
                <a:latin typeface="Calibri" pitchFamily="34" charset="0"/>
                <a:ea typeface="Calibri" pitchFamily="34" charset="-122"/>
                <a:cs typeface="Calibri" pitchFamily="34" charset="-120"/>
              </a:rPr>
              <a:t>TD / Bellman Loss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7ED348"/>
          </a:solidFill>
          <a:ln w="12700">
            <a:solidFill>
              <a:srgbClr val="7ED348"/>
            </a:solidFill>
            <a:prstDash val="solid"/>
          </a:ln>
        </p:spPr>
        <p:txBody>
          <a:bodyPr/>
          <a:lstStyle/>
          <a:p>
            <a:endParaRPr lang="LID4096"/>
          </a:p>
        </p:txBody>
      </p:sp>
      <p:sp>
        <p:nvSpPr>
          <p:cNvPr id="3" name="Text 1"/>
          <p:cNvSpPr/>
          <p:nvPr/>
        </p:nvSpPr>
        <p:spPr>
          <a:xfrm>
            <a:off x="320040" y="201168"/>
            <a:ext cx="347472" cy="347472"/>
          </a:xfrm>
          <a:prstGeom prst="rect">
            <a:avLst/>
          </a:prstGeom>
          <a:noFill/>
          <a:ln/>
        </p:spPr>
        <p:txBody>
          <a:bodyPr wrap="square" lIns="0" tIns="0" rIns="0" bIns="0" rtlCol="0" anchor="ctr"/>
          <a:lstStyle/>
          <a:p>
            <a:pPr marL="0" indent="0" algn="ctr">
              <a:buNone/>
            </a:pPr>
            <a:r>
              <a:rPr lang="en-US" sz="1300" b="1" dirty="0">
                <a:solidFill>
                  <a:srgbClr val="0D1F12"/>
                </a:solidFill>
                <a:latin typeface="Trebuchet MS" pitchFamily="34" charset="0"/>
                <a:ea typeface="Trebuchet MS" pitchFamily="34" charset="-122"/>
                <a:cs typeface="Trebuchet MS" pitchFamily="34" charset="-120"/>
              </a:rPr>
              <a:t>02</a:t>
            </a:r>
            <a:endParaRPr lang="en-US" sz="13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marL="0" indent="0" algn="l">
              <a:buNone/>
            </a:pPr>
            <a:r>
              <a:rPr lang="en-US" sz="1100" b="1" kern="0" spc="200" dirty="0">
                <a:solidFill>
                  <a:srgbClr val="7ED348"/>
                </a:solidFill>
                <a:latin typeface="Trebuchet MS" pitchFamily="34" charset="0"/>
                <a:ea typeface="Trebuchet MS" pitchFamily="34" charset="-122"/>
                <a:cs typeface="Trebuchet MS" pitchFamily="34" charset="-120"/>
              </a:rPr>
              <a:t>POLICY GRADIENT LOSS</a:t>
            </a:r>
            <a:endParaRPr lang="en-US" sz="1100" dirty="0"/>
          </a:p>
        </p:txBody>
      </p:sp>
      <p:sp>
        <p:nvSpPr>
          <p:cNvPr id="5" name="Text 3"/>
          <p:cNvSpPr/>
          <p:nvPr/>
        </p:nvSpPr>
        <p:spPr>
          <a:xfrm>
            <a:off x="320040" y="566928"/>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Policy Gradient Loss</a:t>
            </a:r>
            <a:endParaRPr lang="en-US" sz="2800" dirty="0"/>
          </a:p>
        </p:txBody>
      </p:sp>
      <p:sp>
        <p:nvSpPr>
          <p:cNvPr id="6" name="Text 4"/>
          <p:cNvSpPr/>
          <p:nvPr/>
        </p:nvSpPr>
        <p:spPr>
          <a:xfrm>
            <a:off x="320040" y="1078992"/>
            <a:ext cx="8412480" cy="502920"/>
          </a:xfrm>
          <a:prstGeom prst="rect">
            <a:avLst/>
          </a:prstGeom>
          <a:noFill/>
          <a:ln/>
        </p:spPr>
        <p:txBody>
          <a:bodyPr wrap="square" lIns="0" tIns="0" rIns="0" bIns="0" rtlCol="0" anchor="ctr"/>
          <a:lstStyle/>
          <a:p>
            <a:pPr marL="0" indent="0" algn="l">
              <a:buNone/>
            </a:pPr>
            <a:r>
              <a:rPr lang="en-US" sz="1050" dirty="0">
                <a:solidFill>
                  <a:srgbClr val="E8F5E0"/>
                </a:solidFill>
                <a:latin typeface="Calibri" pitchFamily="34" charset="0"/>
                <a:ea typeface="Calibri" pitchFamily="34" charset="-122"/>
                <a:cs typeface="Calibri" pitchFamily="34" charset="-120"/>
              </a:rPr>
              <a:t>Instead of estimating Q-values, Policy Gradient directly optimises the policy π(a|s). The agent updates weights to increase the probability of actions that led to high rewards, great for navigating unpredictable horde waves.</a:t>
            </a:r>
            <a:endParaRPr lang="en-US" sz="1050" dirty="0"/>
          </a:p>
        </p:txBody>
      </p:sp>
      <p:sp>
        <p:nvSpPr>
          <p:cNvPr id="7" name="Shape 5"/>
          <p:cNvSpPr/>
          <p:nvPr/>
        </p:nvSpPr>
        <p:spPr>
          <a:xfrm>
            <a:off x="320040" y="1618488"/>
            <a:ext cx="8503920" cy="457200"/>
          </a:xfrm>
          <a:prstGeom prst="rect">
            <a:avLst/>
          </a:prstGeom>
          <a:solidFill>
            <a:srgbClr val="0A1A0E"/>
          </a:solidFill>
          <a:ln w="12700">
            <a:solidFill>
              <a:srgbClr val="E8A020"/>
            </a:solidFill>
            <a:prstDash val="solid"/>
          </a:ln>
        </p:spPr>
        <p:txBody>
          <a:bodyPr/>
          <a:lstStyle/>
          <a:p>
            <a:endParaRPr lang="LID4096"/>
          </a:p>
        </p:txBody>
      </p:sp>
      <p:sp>
        <p:nvSpPr>
          <p:cNvPr id="8" name="Text 6"/>
          <p:cNvSpPr/>
          <p:nvPr/>
        </p:nvSpPr>
        <p:spPr>
          <a:xfrm>
            <a:off x="320040" y="1618488"/>
            <a:ext cx="8503920" cy="457200"/>
          </a:xfrm>
          <a:prstGeom prst="rect">
            <a:avLst/>
          </a:prstGeom>
          <a:noFill/>
          <a:ln/>
        </p:spPr>
        <p:txBody>
          <a:bodyPr wrap="square" lIns="0" tIns="0" rIns="0" bIns="0" rtlCol="0" anchor="ctr"/>
          <a:lstStyle/>
          <a:p>
            <a:pPr marL="0" indent="0" algn="ctr">
              <a:buNone/>
            </a:pPr>
            <a:r>
              <a:rPr lang="en-US" sz="1300" dirty="0">
                <a:solidFill>
                  <a:srgbClr val="E8A020"/>
                </a:solidFill>
                <a:latin typeface="Consolas" pitchFamily="34" charset="0"/>
                <a:ea typeface="Consolas" pitchFamily="34" charset="-122"/>
                <a:cs typeface="Consolas" pitchFamily="34" charset="-120"/>
              </a:rPr>
              <a:t>∇J(θ) = 𝔼[ ∇ log π_θ(a|s) · G_t ]</a:t>
            </a:r>
            <a:endParaRPr lang="en-US" sz="1300" dirty="0"/>
          </a:p>
        </p:txBody>
      </p:sp>
      <p:sp>
        <p:nvSpPr>
          <p:cNvPr id="9" name="Text 7"/>
          <p:cNvSpPr/>
          <p:nvPr/>
        </p:nvSpPr>
        <p:spPr>
          <a:xfrm>
            <a:off x="320040" y="2176272"/>
            <a:ext cx="8229600" cy="228600"/>
          </a:xfrm>
          <a:prstGeom prst="rect">
            <a:avLst/>
          </a:prstGeom>
          <a:noFill/>
          <a:ln/>
        </p:spPr>
        <p:txBody>
          <a:bodyPr wrap="square" lIns="0" tIns="0" rIns="0" bIns="0" rtlCol="0" anchor="ctr"/>
          <a:lstStyle/>
          <a:p>
            <a:pPr marL="0" indent="0" algn="l">
              <a:buNone/>
            </a:pPr>
            <a:r>
              <a:rPr lang="en-US" sz="900" b="1" kern="0" spc="200" dirty="0">
                <a:solidFill>
                  <a:srgbClr val="8BB87A"/>
                </a:solidFill>
                <a:latin typeface="Trebuchet MS" pitchFamily="34" charset="0"/>
                <a:ea typeface="Trebuchet MS" pitchFamily="34" charset="-122"/>
                <a:cs typeface="Trebuchet MS" pitchFamily="34" charset="-120"/>
              </a:rPr>
              <a:t>HOW REINFORCE WORKS:</a:t>
            </a:r>
            <a:endParaRPr lang="en-US" sz="900" dirty="0"/>
          </a:p>
        </p:txBody>
      </p:sp>
      <p:sp>
        <p:nvSpPr>
          <p:cNvPr id="10" name="Shape 8"/>
          <p:cNvSpPr/>
          <p:nvPr/>
        </p:nvSpPr>
        <p:spPr>
          <a:xfrm>
            <a:off x="320040" y="2441448"/>
            <a:ext cx="1508760" cy="411480"/>
          </a:xfrm>
          <a:prstGeom prst="rect">
            <a:avLst/>
          </a:prstGeom>
          <a:solidFill>
            <a:srgbClr val="152C19"/>
          </a:solidFill>
          <a:ln w="12700">
            <a:solidFill>
              <a:srgbClr val="E8A020"/>
            </a:solidFill>
            <a:prstDash val="solid"/>
          </a:ln>
        </p:spPr>
        <p:txBody>
          <a:bodyPr/>
          <a:lstStyle/>
          <a:p>
            <a:endParaRPr lang="LID4096"/>
          </a:p>
        </p:txBody>
      </p:sp>
      <p:sp>
        <p:nvSpPr>
          <p:cNvPr id="11" name="Text 9"/>
          <p:cNvSpPr/>
          <p:nvPr/>
        </p:nvSpPr>
        <p:spPr>
          <a:xfrm>
            <a:off x="320040" y="2441448"/>
            <a:ext cx="1508760" cy="411480"/>
          </a:xfrm>
          <a:prstGeom prst="rect">
            <a:avLst/>
          </a:prstGeom>
          <a:noFill/>
          <a:ln/>
        </p:spPr>
        <p:txBody>
          <a:bodyPr wrap="square" lIns="0" tIns="0" rIns="0" bIns="0" rtlCol="0" anchor="ctr"/>
          <a:lstStyle/>
          <a:p>
            <a:pPr marL="0" indent="0" algn="ctr">
              <a:buNone/>
            </a:pPr>
            <a:r>
              <a:rPr lang="en-US" sz="950" dirty="0">
                <a:solidFill>
                  <a:srgbClr val="E8F5E0"/>
                </a:solidFill>
                <a:latin typeface="Calibri" pitchFamily="34" charset="0"/>
                <a:ea typeface="Calibri" pitchFamily="34" charset="-122"/>
                <a:cs typeface="Calibri" pitchFamily="34" charset="-120"/>
              </a:rPr>
              <a:t>Observe State</a:t>
            </a:r>
            <a:endParaRPr lang="en-US" sz="950" dirty="0"/>
          </a:p>
        </p:txBody>
      </p:sp>
      <p:sp>
        <p:nvSpPr>
          <p:cNvPr id="12" name="Text 10"/>
          <p:cNvSpPr/>
          <p:nvPr/>
        </p:nvSpPr>
        <p:spPr>
          <a:xfrm>
            <a:off x="1828800" y="2441448"/>
            <a:ext cx="210312" cy="411480"/>
          </a:xfrm>
          <a:prstGeom prst="rect">
            <a:avLst/>
          </a:prstGeom>
          <a:noFill/>
          <a:ln/>
        </p:spPr>
        <p:txBody>
          <a:bodyPr wrap="square" lIns="0" tIns="0" rIns="0" bIns="0" rtlCol="0" anchor="ctr"/>
          <a:lstStyle/>
          <a:p>
            <a:pPr marL="0" indent="0" algn="ctr">
              <a:buNone/>
            </a:pPr>
            <a:r>
              <a:rPr lang="en-US" sz="1400" dirty="0">
                <a:solidFill>
                  <a:srgbClr val="E8A020"/>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2039112" y="2441448"/>
            <a:ext cx="1508760" cy="411480"/>
          </a:xfrm>
          <a:prstGeom prst="rect">
            <a:avLst/>
          </a:prstGeom>
          <a:solidFill>
            <a:srgbClr val="152C19"/>
          </a:solidFill>
          <a:ln w="12700">
            <a:solidFill>
              <a:srgbClr val="E8A020"/>
            </a:solidFill>
            <a:prstDash val="solid"/>
          </a:ln>
        </p:spPr>
        <p:txBody>
          <a:bodyPr/>
          <a:lstStyle/>
          <a:p>
            <a:endParaRPr lang="LID4096"/>
          </a:p>
        </p:txBody>
      </p:sp>
      <p:sp>
        <p:nvSpPr>
          <p:cNvPr id="14" name="Text 12"/>
          <p:cNvSpPr/>
          <p:nvPr/>
        </p:nvSpPr>
        <p:spPr>
          <a:xfrm>
            <a:off x="2039112" y="2441448"/>
            <a:ext cx="1508760" cy="411480"/>
          </a:xfrm>
          <a:prstGeom prst="rect">
            <a:avLst/>
          </a:prstGeom>
          <a:noFill/>
          <a:ln/>
        </p:spPr>
        <p:txBody>
          <a:bodyPr wrap="square" lIns="0" tIns="0" rIns="0" bIns="0" rtlCol="0" anchor="ctr"/>
          <a:lstStyle/>
          <a:p>
            <a:pPr marL="0" indent="0" algn="ctr">
              <a:buNone/>
            </a:pPr>
            <a:r>
              <a:rPr lang="en-US" sz="950" dirty="0">
                <a:solidFill>
                  <a:srgbClr val="E8F5E0"/>
                </a:solidFill>
                <a:latin typeface="Calibri" pitchFamily="34" charset="0"/>
                <a:ea typeface="Calibri" pitchFamily="34" charset="-122"/>
                <a:cs typeface="Calibri" pitchFamily="34" charset="-120"/>
              </a:rPr>
              <a:t>Sample Action</a:t>
            </a:r>
            <a:endParaRPr lang="en-US" sz="950" dirty="0"/>
          </a:p>
        </p:txBody>
      </p:sp>
      <p:sp>
        <p:nvSpPr>
          <p:cNvPr id="15" name="Text 13"/>
          <p:cNvSpPr/>
          <p:nvPr/>
        </p:nvSpPr>
        <p:spPr>
          <a:xfrm>
            <a:off x="3547872" y="2441448"/>
            <a:ext cx="210312" cy="411480"/>
          </a:xfrm>
          <a:prstGeom prst="rect">
            <a:avLst/>
          </a:prstGeom>
          <a:noFill/>
          <a:ln/>
        </p:spPr>
        <p:txBody>
          <a:bodyPr wrap="square" lIns="0" tIns="0" rIns="0" bIns="0" rtlCol="0" anchor="ctr"/>
          <a:lstStyle/>
          <a:p>
            <a:pPr marL="0" indent="0" algn="ctr">
              <a:buNone/>
            </a:pPr>
            <a:r>
              <a:rPr lang="en-US" sz="1400" dirty="0">
                <a:solidFill>
                  <a:srgbClr val="E8A020"/>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3758184" y="2441448"/>
            <a:ext cx="1508760" cy="411480"/>
          </a:xfrm>
          <a:prstGeom prst="rect">
            <a:avLst/>
          </a:prstGeom>
          <a:solidFill>
            <a:srgbClr val="152C19"/>
          </a:solidFill>
          <a:ln w="12700">
            <a:solidFill>
              <a:srgbClr val="E8A020"/>
            </a:solidFill>
            <a:prstDash val="solid"/>
          </a:ln>
        </p:spPr>
        <p:txBody>
          <a:bodyPr/>
          <a:lstStyle/>
          <a:p>
            <a:endParaRPr lang="LID4096"/>
          </a:p>
        </p:txBody>
      </p:sp>
      <p:sp>
        <p:nvSpPr>
          <p:cNvPr id="17" name="Text 15"/>
          <p:cNvSpPr/>
          <p:nvPr/>
        </p:nvSpPr>
        <p:spPr>
          <a:xfrm>
            <a:off x="3758184" y="2441448"/>
            <a:ext cx="1508760" cy="411480"/>
          </a:xfrm>
          <a:prstGeom prst="rect">
            <a:avLst/>
          </a:prstGeom>
          <a:noFill/>
          <a:ln/>
        </p:spPr>
        <p:txBody>
          <a:bodyPr wrap="square" lIns="0" tIns="0" rIns="0" bIns="0" rtlCol="0" anchor="ctr"/>
          <a:lstStyle/>
          <a:p>
            <a:pPr marL="0" indent="0" algn="ctr">
              <a:buNone/>
            </a:pPr>
            <a:r>
              <a:rPr lang="en-US" sz="950" dirty="0">
                <a:solidFill>
                  <a:srgbClr val="E8F5E0"/>
                </a:solidFill>
                <a:latin typeface="Calibri" pitchFamily="34" charset="0"/>
                <a:ea typeface="Calibri" pitchFamily="34" charset="-122"/>
                <a:cs typeface="Calibri" pitchFamily="34" charset="-120"/>
              </a:rPr>
              <a:t>Get Reward</a:t>
            </a:r>
            <a:endParaRPr lang="en-US" sz="950" dirty="0"/>
          </a:p>
        </p:txBody>
      </p:sp>
      <p:sp>
        <p:nvSpPr>
          <p:cNvPr id="18" name="Text 16"/>
          <p:cNvSpPr/>
          <p:nvPr/>
        </p:nvSpPr>
        <p:spPr>
          <a:xfrm>
            <a:off x="5266944" y="2441448"/>
            <a:ext cx="210312" cy="411480"/>
          </a:xfrm>
          <a:prstGeom prst="rect">
            <a:avLst/>
          </a:prstGeom>
          <a:noFill/>
          <a:ln/>
        </p:spPr>
        <p:txBody>
          <a:bodyPr wrap="square" lIns="0" tIns="0" rIns="0" bIns="0" rtlCol="0" anchor="ctr"/>
          <a:lstStyle/>
          <a:p>
            <a:pPr marL="0" indent="0" algn="ctr">
              <a:buNone/>
            </a:pPr>
            <a:r>
              <a:rPr lang="en-US" sz="1400" dirty="0">
                <a:solidFill>
                  <a:srgbClr val="E8A020"/>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5477256" y="2441448"/>
            <a:ext cx="1508760" cy="411480"/>
          </a:xfrm>
          <a:prstGeom prst="rect">
            <a:avLst/>
          </a:prstGeom>
          <a:solidFill>
            <a:srgbClr val="152C19"/>
          </a:solidFill>
          <a:ln w="12700">
            <a:solidFill>
              <a:srgbClr val="E8A020"/>
            </a:solidFill>
            <a:prstDash val="solid"/>
          </a:ln>
        </p:spPr>
        <p:txBody>
          <a:bodyPr/>
          <a:lstStyle/>
          <a:p>
            <a:endParaRPr lang="LID4096"/>
          </a:p>
        </p:txBody>
      </p:sp>
      <p:sp>
        <p:nvSpPr>
          <p:cNvPr id="20" name="Text 18"/>
          <p:cNvSpPr/>
          <p:nvPr/>
        </p:nvSpPr>
        <p:spPr>
          <a:xfrm>
            <a:off x="5477256" y="2441448"/>
            <a:ext cx="1508760" cy="411480"/>
          </a:xfrm>
          <a:prstGeom prst="rect">
            <a:avLst/>
          </a:prstGeom>
          <a:noFill/>
          <a:ln/>
        </p:spPr>
        <p:txBody>
          <a:bodyPr wrap="square" lIns="0" tIns="0" rIns="0" bIns="0" rtlCol="0" anchor="ctr"/>
          <a:lstStyle/>
          <a:p>
            <a:pPr marL="0" indent="0" algn="ctr">
              <a:buNone/>
            </a:pPr>
            <a:r>
              <a:rPr lang="en-US" sz="950" dirty="0">
                <a:solidFill>
                  <a:srgbClr val="E8F5E0"/>
                </a:solidFill>
                <a:latin typeface="Calibri" pitchFamily="34" charset="0"/>
                <a:ea typeface="Calibri" pitchFamily="34" charset="-122"/>
                <a:cs typeface="Calibri" pitchFamily="34" charset="-120"/>
              </a:rPr>
              <a:t>Compute G_t</a:t>
            </a:r>
            <a:endParaRPr lang="en-US" sz="950" dirty="0"/>
          </a:p>
        </p:txBody>
      </p:sp>
      <p:sp>
        <p:nvSpPr>
          <p:cNvPr id="21" name="Text 19"/>
          <p:cNvSpPr/>
          <p:nvPr/>
        </p:nvSpPr>
        <p:spPr>
          <a:xfrm>
            <a:off x="6986016" y="2441448"/>
            <a:ext cx="210312" cy="411480"/>
          </a:xfrm>
          <a:prstGeom prst="rect">
            <a:avLst/>
          </a:prstGeom>
          <a:noFill/>
          <a:ln/>
        </p:spPr>
        <p:txBody>
          <a:bodyPr wrap="square" lIns="0" tIns="0" rIns="0" bIns="0" rtlCol="0" anchor="ctr"/>
          <a:lstStyle/>
          <a:p>
            <a:pPr marL="0" indent="0" algn="ctr">
              <a:buNone/>
            </a:pPr>
            <a:r>
              <a:rPr lang="en-US" sz="1400" dirty="0">
                <a:solidFill>
                  <a:srgbClr val="E8A020"/>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7196328" y="2441448"/>
            <a:ext cx="1508760" cy="411480"/>
          </a:xfrm>
          <a:prstGeom prst="rect">
            <a:avLst/>
          </a:prstGeom>
          <a:solidFill>
            <a:srgbClr val="152C19"/>
          </a:solidFill>
          <a:ln w="12700">
            <a:solidFill>
              <a:srgbClr val="E8A020"/>
            </a:solidFill>
            <a:prstDash val="solid"/>
          </a:ln>
        </p:spPr>
        <p:txBody>
          <a:bodyPr/>
          <a:lstStyle/>
          <a:p>
            <a:endParaRPr lang="LID4096"/>
          </a:p>
        </p:txBody>
      </p:sp>
      <p:sp>
        <p:nvSpPr>
          <p:cNvPr id="23" name="Text 21"/>
          <p:cNvSpPr/>
          <p:nvPr/>
        </p:nvSpPr>
        <p:spPr>
          <a:xfrm>
            <a:off x="7196328" y="2441448"/>
            <a:ext cx="1508760" cy="411480"/>
          </a:xfrm>
          <a:prstGeom prst="rect">
            <a:avLst/>
          </a:prstGeom>
          <a:noFill/>
          <a:ln/>
        </p:spPr>
        <p:txBody>
          <a:bodyPr wrap="square" lIns="0" tIns="0" rIns="0" bIns="0" rtlCol="0" anchor="ctr"/>
          <a:lstStyle/>
          <a:p>
            <a:pPr marL="0" indent="0" algn="ctr">
              <a:buNone/>
            </a:pPr>
            <a:r>
              <a:rPr lang="en-US" sz="950" dirty="0">
                <a:solidFill>
                  <a:srgbClr val="E8F5E0"/>
                </a:solidFill>
                <a:latin typeface="Calibri" pitchFamily="34" charset="0"/>
                <a:ea typeface="Calibri" pitchFamily="34" charset="-122"/>
                <a:cs typeface="Calibri" pitchFamily="34" charset="-120"/>
              </a:rPr>
              <a:t>Update Policy</a:t>
            </a:r>
            <a:endParaRPr lang="en-US" sz="950" dirty="0"/>
          </a:p>
        </p:txBody>
      </p:sp>
      <p:sp>
        <p:nvSpPr>
          <p:cNvPr id="24" name="Shape 22"/>
          <p:cNvSpPr/>
          <p:nvPr/>
        </p:nvSpPr>
        <p:spPr>
          <a:xfrm>
            <a:off x="320040" y="2999232"/>
            <a:ext cx="2606040" cy="160020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25" name="Shape 23"/>
          <p:cNvSpPr/>
          <p:nvPr/>
        </p:nvSpPr>
        <p:spPr>
          <a:xfrm>
            <a:off x="320040" y="2999232"/>
            <a:ext cx="54864" cy="1600200"/>
          </a:xfrm>
          <a:prstGeom prst="rect">
            <a:avLst/>
          </a:prstGeom>
          <a:solidFill>
            <a:srgbClr val="7ED348"/>
          </a:solidFill>
          <a:ln w="12700">
            <a:solidFill>
              <a:srgbClr val="7ED348"/>
            </a:solidFill>
            <a:prstDash val="solid"/>
          </a:ln>
        </p:spPr>
        <p:txBody>
          <a:bodyPr/>
          <a:lstStyle/>
          <a:p>
            <a:endParaRPr lang="LID4096"/>
          </a:p>
        </p:txBody>
      </p:sp>
      <p:sp>
        <p:nvSpPr>
          <p:cNvPr id="26" name="Text 24"/>
          <p:cNvSpPr/>
          <p:nvPr/>
        </p:nvSpPr>
        <p:spPr>
          <a:xfrm>
            <a:off x="438912" y="3072384"/>
            <a:ext cx="2441448" cy="274320"/>
          </a:xfrm>
          <a:prstGeom prst="rect">
            <a:avLst/>
          </a:prstGeom>
          <a:noFill/>
          <a:ln/>
        </p:spPr>
        <p:txBody>
          <a:bodyPr wrap="square" lIns="0" tIns="0" rIns="0" bIns="0" rtlCol="0" anchor="ctr"/>
          <a:lstStyle/>
          <a:p>
            <a:pPr marL="0" indent="0" algn="l">
              <a:buNone/>
            </a:pPr>
            <a:r>
              <a:rPr lang="en-US" sz="1000" b="1" dirty="0">
                <a:solidFill>
                  <a:srgbClr val="7ED348"/>
                </a:solidFill>
                <a:latin typeface="Trebuchet MS" pitchFamily="34" charset="0"/>
                <a:ea typeface="Trebuchet MS" pitchFamily="34" charset="-122"/>
                <a:cs typeface="Trebuchet MS" pitchFamily="34" charset="-120"/>
              </a:rPr>
              <a:t>✔  ADVANTAGES</a:t>
            </a:r>
            <a:endParaRPr lang="en-US" sz="1000" dirty="0"/>
          </a:p>
        </p:txBody>
      </p:sp>
      <p:sp>
        <p:nvSpPr>
          <p:cNvPr id="27" name="Text 25"/>
          <p:cNvSpPr/>
          <p:nvPr/>
        </p:nvSpPr>
        <p:spPr>
          <a:xfrm>
            <a:off x="438912" y="3346704"/>
            <a:ext cx="2423160" cy="1188720"/>
          </a:xfrm>
          <a:prstGeom prst="rect">
            <a:avLst/>
          </a:prstGeom>
          <a:noFill/>
          <a:ln/>
        </p:spPr>
        <p:txBody>
          <a:bodyPr wrap="square" rtlCol="0" anchor="t"/>
          <a:lstStyle/>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Works with stochastic policies</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Directly optimises policy (no V/Q needed)</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Can handle continuous action spaces</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Naturally handles multi-step decisions</a:t>
            </a:r>
            <a:endParaRPr lang="en-US" sz="950" dirty="0"/>
          </a:p>
        </p:txBody>
      </p:sp>
      <p:sp>
        <p:nvSpPr>
          <p:cNvPr id="28" name="Shape 26"/>
          <p:cNvSpPr/>
          <p:nvPr/>
        </p:nvSpPr>
        <p:spPr>
          <a:xfrm>
            <a:off x="3127248" y="2999232"/>
            <a:ext cx="2606040" cy="160020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29" name="Shape 27"/>
          <p:cNvSpPr/>
          <p:nvPr/>
        </p:nvSpPr>
        <p:spPr>
          <a:xfrm>
            <a:off x="3127248" y="2999232"/>
            <a:ext cx="54864" cy="1600200"/>
          </a:xfrm>
          <a:prstGeom prst="rect">
            <a:avLst/>
          </a:prstGeom>
          <a:solidFill>
            <a:srgbClr val="C0392B"/>
          </a:solidFill>
          <a:ln w="12700">
            <a:solidFill>
              <a:srgbClr val="C0392B"/>
            </a:solidFill>
            <a:prstDash val="solid"/>
          </a:ln>
        </p:spPr>
        <p:txBody>
          <a:bodyPr/>
          <a:lstStyle/>
          <a:p>
            <a:endParaRPr lang="LID4096"/>
          </a:p>
        </p:txBody>
      </p:sp>
      <p:sp>
        <p:nvSpPr>
          <p:cNvPr id="30" name="Text 28"/>
          <p:cNvSpPr/>
          <p:nvPr/>
        </p:nvSpPr>
        <p:spPr>
          <a:xfrm>
            <a:off x="3246120" y="3072384"/>
            <a:ext cx="2441448" cy="274320"/>
          </a:xfrm>
          <a:prstGeom prst="rect">
            <a:avLst/>
          </a:prstGeom>
          <a:noFill/>
          <a:ln/>
        </p:spPr>
        <p:txBody>
          <a:bodyPr wrap="square" lIns="0" tIns="0" rIns="0" bIns="0" rtlCol="0" anchor="ctr"/>
          <a:lstStyle/>
          <a:p>
            <a:pPr marL="0" indent="0" algn="l">
              <a:buNone/>
            </a:pPr>
            <a:r>
              <a:rPr lang="en-US" sz="1000" b="1" dirty="0">
                <a:solidFill>
                  <a:srgbClr val="C0392B"/>
                </a:solidFill>
                <a:latin typeface="Trebuchet MS" pitchFamily="34" charset="0"/>
                <a:ea typeface="Trebuchet MS" pitchFamily="34" charset="-122"/>
                <a:cs typeface="Trebuchet MS" pitchFamily="34" charset="-120"/>
              </a:rPr>
              <a:t>✘  LIMITATIONS</a:t>
            </a:r>
            <a:endParaRPr lang="en-US" sz="1000" dirty="0"/>
          </a:p>
        </p:txBody>
      </p:sp>
      <p:sp>
        <p:nvSpPr>
          <p:cNvPr id="31" name="Text 29"/>
          <p:cNvSpPr/>
          <p:nvPr/>
        </p:nvSpPr>
        <p:spPr>
          <a:xfrm>
            <a:off x="3246120" y="3346704"/>
            <a:ext cx="2423160" cy="1188720"/>
          </a:xfrm>
          <a:prstGeom prst="rect">
            <a:avLst/>
          </a:prstGeom>
          <a:noFill/>
          <a:ln/>
        </p:spPr>
        <p:txBody>
          <a:bodyPr wrap="square" rtlCol="0" anchor="t"/>
          <a:lstStyle/>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Very high gradient variance</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Slow convergence; sample-inefficient</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Sensitive to reward scaling</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Prone to local optima in sparse-reward</a:t>
            </a:r>
            <a:endParaRPr lang="en-US" sz="950" dirty="0"/>
          </a:p>
        </p:txBody>
      </p:sp>
      <p:sp>
        <p:nvSpPr>
          <p:cNvPr id="32" name="Shape 30"/>
          <p:cNvSpPr/>
          <p:nvPr/>
        </p:nvSpPr>
        <p:spPr>
          <a:xfrm>
            <a:off x="5925312" y="2999232"/>
            <a:ext cx="2898648" cy="160020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33" name="Shape 31"/>
          <p:cNvSpPr/>
          <p:nvPr/>
        </p:nvSpPr>
        <p:spPr>
          <a:xfrm>
            <a:off x="5925312" y="2999232"/>
            <a:ext cx="54864" cy="1600200"/>
          </a:xfrm>
          <a:prstGeom prst="rect">
            <a:avLst/>
          </a:prstGeom>
          <a:solidFill>
            <a:srgbClr val="E8A020"/>
          </a:solidFill>
          <a:ln w="12700">
            <a:solidFill>
              <a:srgbClr val="E8A020"/>
            </a:solidFill>
            <a:prstDash val="solid"/>
          </a:ln>
        </p:spPr>
        <p:txBody>
          <a:bodyPr/>
          <a:lstStyle/>
          <a:p>
            <a:endParaRPr lang="LID4096"/>
          </a:p>
        </p:txBody>
      </p:sp>
      <p:sp>
        <p:nvSpPr>
          <p:cNvPr id="34" name="Text 32"/>
          <p:cNvSpPr/>
          <p:nvPr/>
        </p:nvSpPr>
        <p:spPr>
          <a:xfrm>
            <a:off x="6044184" y="3072384"/>
            <a:ext cx="2734056" cy="274320"/>
          </a:xfrm>
          <a:prstGeom prst="rect">
            <a:avLst/>
          </a:prstGeom>
          <a:noFill/>
          <a:ln/>
        </p:spPr>
        <p:txBody>
          <a:bodyPr wrap="square" lIns="0" tIns="0" rIns="0" bIns="0" rtlCol="0" anchor="ctr"/>
          <a:lstStyle/>
          <a:p>
            <a:pPr marL="0" indent="0" algn="l">
              <a:buNone/>
            </a:pPr>
            <a:r>
              <a:rPr lang="en-US" sz="1000" b="1" dirty="0">
                <a:solidFill>
                  <a:srgbClr val="E8A020"/>
                </a:solidFill>
                <a:latin typeface="Trebuchet MS" pitchFamily="34" charset="0"/>
                <a:ea typeface="Trebuchet MS" pitchFamily="34" charset="-122"/>
                <a:cs typeface="Trebuchet MS" pitchFamily="34" charset="-120"/>
              </a:rPr>
              <a:t>⚡  USE IN HORDE</a:t>
            </a:r>
            <a:endParaRPr lang="en-US" sz="1000" dirty="0"/>
          </a:p>
        </p:txBody>
      </p:sp>
      <p:sp>
        <p:nvSpPr>
          <p:cNvPr id="35" name="Text 33"/>
          <p:cNvSpPr/>
          <p:nvPr/>
        </p:nvSpPr>
        <p:spPr>
          <a:xfrm>
            <a:off x="6044184" y="3346704"/>
            <a:ext cx="2715768" cy="1188720"/>
          </a:xfrm>
          <a:prstGeom prst="rect">
            <a:avLst/>
          </a:prstGeom>
          <a:noFill/>
          <a:ln/>
        </p:spPr>
        <p:txBody>
          <a:bodyPr wrap="square" rtlCol="0" anchor="t"/>
          <a:lstStyle/>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Navigate maze with sparse reward</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Penalise death, reward kills</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Good baseline before using PPO</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Train navigation from pixel input</a:t>
            </a:r>
            <a:endParaRPr lang="en-US" sz="950" dirty="0"/>
          </a:p>
        </p:txBody>
      </p:sp>
      <p:sp>
        <p:nvSpPr>
          <p:cNvPr id="36" name="Shape 34"/>
          <p:cNvSpPr/>
          <p:nvPr/>
        </p:nvSpPr>
        <p:spPr>
          <a:xfrm>
            <a:off x="0" y="4800600"/>
            <a:ext cx="9144000" cy="342900"/>
          </a:xfrm>
          <a:prstGeom prst="rect">
            <a:avLst/>
          </a:prstGeom>
          <a:solidFill>
            <a:srgbClr val="1A3A1E"/>
          </a:solidFill>
          <a:ln w="12700">
            <a:solidFill>
              <a:srgbClr val="7ED348"/>
            </a:solidFill>
            <a:prstDash val="solid"/>
          </a:ln>
        </p:spPr>
        <p:txBody>
          <a:bodyPr/>
          <a:lstStyle/>
          <a:p>
            <a:endParaRPr lang="LID4096"/>
          </a:p>
        </p:txBody>
      </p:sp>
      <p:sp>
        <p:nvSpPr>
          <p:cNvPr id="37" name="Text 35"/>
          <p:cNvSpPr/>
          <p:nvPr/>
        </p:nvSpPr>
        <p:spPr>
          <a:xfrm>
            <a:off x="182880" y="4818888"/>
            <a:ext cx="5486400" cy="292608"/>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Horde Survival Game, Deep RL</a:t>
            </a:r>
            <a:endParaRPr lang="en-US" sz="900" dirty="0"/>
          </a:p>
        </p:txBody>
      </p:sp>
      <p:sp>
        <p:nvSpPr>
          <p:cNvPr id="38" name="Text 36"/>
          <p:cNvSpPr/>
          <p:nvPr/>
        </p:nvSpPr>
        <p:spPr>
          <a:xfrm>
            <a:off x="3657600" y="4818888"/>
            <a:ext cx="5303520" cy="292608"/>
          </a:xfrm>
          <a:prstGeom prst="rect">
            <a:avLst/>
          </a:prstGeom>
          <a:noFill/>
          <a:ln/>
        </p:spPr>
        <p:txBody>
          <a:bodyPr wrap="square" lIns="0" tIns="0" rIns="0" bIns="0" rtlCol="0" anchor="ctr"/>
          <a:lstStyle/>
          <a:p>
            <a:pPr marL="0" indent="0" algn="r">
              <a:buNone/>
            </a:pPr>
            <a:r>
              <a:rPr lang="en-US" sz="900" dirty="0">
                <a:solidFill>
                  <a:srgbClr val="7ED348"/>
                </a:solidFill>
                <a:latin typeface="Calibri" pitchFamily="34" charset="0"/>
                <a:ea typeface="Calibri" pitchFamily="34" charset="-122"/>
                <a:cs typeface="Calibri" pitchFamily="34" charset="-120"/>
              </a:rPr>
              <a:t>Policy Gradient Loss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7ED348"/>
          </a:solidFill>
          <a:ln w="12700">
            <a:solidFill>
              <a:srgbClr val="7ED348"/>
            </a:solidFill>
            <a:prstDash val="solid"/>
          </a:ln>
        </p:spPr>
        <p:txBody>
          <a:bodyPr/>
          <a:lstStyle/>
          <a:p>
            <a:endParaRPr lang="LID4096"/>
          </a:p>
        </p:txBody>
      </p:sp>
      <p:sp>
        <p:nvSpPr>
          <p:cNvPr id="3" name="Text 1"/>
          <p:cNvSpPr/>
          <p:nvPr/>
        </p:nvSpPr>
        <p:spPr>
          <a:xfrm>
            <a:off x="320040" y="201168"/>
            <a:ext cx="347472" cy="347472"/>
          </a:xfrm>
          <a:prstGeom prst="rect">
            <a:avLst/>
          </a:prstGeom>
          <a:noFill/>
          <a:ln/>
        </p:spPr>
        <p:txBody>
          <a:bodyPr wrap="square" lIns="0" tIns="0" rIns="0" bIns="0" rtlCol="0" anchor="ctr"/>
          <a:lstStyle/>
          <a:p>
            <a:pPr marL="0" indent="0" algn="ctr">
              <a:buNone/>
            </a:pPr>
            <a:r>
              <a:rPr lang="en-US" sz="1300" b="1" dirty="0">
                <a:solidFill>
                  <a:srgbClr val="0D1F12"/>
                </a:solidFill>
                <a:latin typeface="Trebuchet MS" pitchFamily="34" charset="0"/>
                <a:ea typeface="Trebuchet MS" pitchFamily="34" charset="-122"/>
                <a:cs typeface="Trebuchet MS" pitchFamily="34" charset="-120"/>
              </a:rPr>
              <a:t>03</a:t>
            </a:r>
            <a:endParaRPr lang="en-US" sz="13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marL="0" indent="0" algn="l">
              <a:buNone/>
            </a:pPr>
            <a:r>
              <a:rPr lang="en-US" sz="1100" b="1" kern="0" spc="200" dirty="0">
                <a:solidFill>
                  <a:srgbClr val="7ED348"/>
                </a:solidFill>
                <a:latin typeface="Trebuchet MS" pitchFamily="34" charset="0"/>
                <a:ea typeface="Trebuchet MS" pitchFamily="34" charset="-122"/>
                <a:cs typeface="Trebuchet MS" pitchFamily="34" charset="-120"/>
              </a:rPr>
              <a:t>ACTOR-CRITIC LOSS</a:t>
            </a:r>
            <a:endParaRPr lang="en-US" sz="1100" dirty="0"/>
          </a:p>
        </p:txBody>
      </p:sp>
      <p:sp>
        <p:nvSpPr>
          <p:cNvPr id="5" name="Text 3"/>
          <p:cNvSpPr/>
          <p:nvPr/>
        </p:nvSpPr>
        <p:spPr>
          <a:xfrm>
            <a:off x="320040" y="566928"/>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Actor-Critic Loss</a:t>
            </a:r>
            <a:endParaRPr lang="en-US" sz="2800" dirty="0"/>
          </a:p>
        </p:txBody>
      </p:sp>
      <p:sp>
        <p:nvSpPr>
          <p:cNvPr id="6" name="Text 4"/>
          <p:cNvSpPr/>
          <p:nvPr/>
        </p:nvSpPr>
        <p:spPr>
          <a:xfrm>
            <a:off x="320040" y="1078992"/>
            <a:ext cx="8412480" cy="457200"/>
          </a:xfrm>
          <a:prstGeom prst="rect">
            <a:avLst/>
          </a:prstGeom>
          <a:noFill/>
          <a:ln/>
        </p:spPr>
        <p:txBody>
          <a:bodyPr wrap="square" lIns="0" tIns="0" rIns="0" bIns="0" rtlCol="0" anchor="ctr"/>
          <a:lstStyle/>
          <a:p>
            <a:pPr marL="0" indent="0" algn="l">
              <a:buNone/>
            </a:pPr>
            <a:r>
              <a:rPr lang="en-US" sz="1050" dirty="0">
                <a:solidFill>
                  <a:srgbClr val="E8F5E0"/>
                </a:solidFill>
                <a:latin typeface="Calibri" pitchFamily="34" charset="0"/>
                <a:ea typeface="Calibri" pitchFamily="34" charset="-122"/>
                <a:cs typeface="Calibri" pitchFamily="34" charset="-120"/>
              </a:rPr>
              <a:t>Combines two networks: the Actor decides which action to take, the Critic evaluates how good that action was. Reduces variance vs. pure policy gradient while staying more flexible than pure Q-learning.</a:t>
            </a:r>
            <a:endParaRPr lang="en-US" sz="1050" dirty="0"/>
          </a:p>
        </p:txBody>
      </p:sp>
      <p:sp>
        <p:nvSpPr>
          <p:cNvPr id="7" name="Shape 5"/>
          <p:cNvSpPr/>
          <p:nvPr/>
        </p:nvSpPr>
        <p:spPr>
          <a:xfrm>
            <a:off x="320040" y="1627632"/>
            <a:ext cx="8503920" cy="1481328"/>
          </a:xfrm>
          <a:prstGeom prst="rect">
            <a:avLst/>
          </a:prstGeom>
          <a:solidFill>
            <a:srgbClr val="152C19"/>
          </a:solidFill>
          <a:ln w="12700">
            <a:solidFill>
              <a:srgbClr val="1A3A1E"/>
            </a:solidFill>
            <a:prstDash val="solid"/>
          </a:ln>
        </p:spPr>
        <p:txBody>
          <a:bodyPr/>
          <a:lstStyle/>
          <a:p>
            <a:endParaRPr lang="LID4096"/>
          </a:p>
        </p:txBody>
      </p:sp>
      <p:sp>
        <p:nvSpPr>
          <p:cNvPr id="8" name="Shape 6"/>
          <p:cNvSpPr/>
          <p:nvPr/>
        </p:nvSpPr>
        <p:spPr>
          <a:xfrm>
            <a:off x="3566160" y="1737360"/>
            <a:ext cx="2011680" cy="384048"/>
          </a:xfrm>
          <a:prstGeom prst="rect">
            <a:avLst/>
          </a:prstGeom>
          <a:solidFill>
            <a:srgbClr val="1E4A25"/>
          </a:solidFill>
          <a:ln w="12700">
            <a:solidFill>
              <a:srgbClr val="7ED348"/>
            </a:solidFill>
            <a:prstDash val="solid"/>
          </a:ln>
        </p:spPr>
        <p:txBody>
          <a:bodyPr/>
          <a:lstStyle/>
          <a:p>
            <a:endParaRPr lang="LID4096"/>
          </a:p>
        </p:txBody>
      </p:sp>
      <p:sp>
        <p:nvSpPr>
          <p:cNvPr id="9" name="Text 7"/>
          <p:cNvSpPr/>
          <p:nvPr/>
        </p:nvSpPr>
        <p:spPr>
          <a:xfrm>
            <a:off x="3566160" y="1737360"/>
            <a:ext cx="2011680" cy="384048"/>
          </a:xfrm>
          <a:prstGeom prst="rect">
            <a:avLst/>
          </a:prstGeom>
          <a:noFill/>
          <a:ln/>
        </p:spPr>
        <p:txBody>
          <a:bodyPr wrap="square" lIns="0" tIns="0" rIns="0" bIns="0" rtlCol="0" anchor="ctr"/>
          <a:lstStyle/>
          <a:p>
            <a:pPr marL="0" indent="0" algn="ctr">
              <a:buNone/>
            </a:pPr>
            <a:r>
              <a:rPr lang="en-US" sz="850" dirty="0">
                <a:solidFill>
                  <a:srgbClr val="7ED348"/>
                </a:solidFill>
                <a:latin typeface="Trebuchet MS" pitchFamily="34" charset="0"/>
                <a:ea typeface="Trebuchet MS" pitchFamily="34" charset="-122"/>
                <a:cs typeface="Trebuchet MS" pitchFamily="34" charset="-120"/>
              </a:rPr>
              <a:t>SHARED ENCODER  (CNN / MLP)</a:t>
            </a:r>
            <a:endParaRPr lang="en-US" sz="850" dirty="0"/>
          </a:p>
        </p:txBody>
      </p:sp>
      <p:sp>
        <p:nvSpPr>
          <p:cNvPr id="10" name="Shape 8"/>
          <p:cNvSpPr/>
          <p:nvPr/>
        </p:nvSpPr>
        <p:spPr>
          <a:xfrm>
            <a:off x="1005840" y="2304288"/>
            <a:ext cx="1920240" cy="530352"/>
          </a:xfrm>
          <a:prstGeom prst="rect">
            <a:avLst/>
          </a:prstGeom>
          <a:solidFill>
            <a:srgbClr val="1A2E1A"/>
          </a:solidFill>
          <a:ln w="12700">
            <a:solidFill>
              <a:srgbClr val="E8A020"/>
            </a:solidFill>
            <a:prstDash val="solid"/>
          </a:ln>
        </p:spPr>
        <p:txBody>
          <a:bodyPr/>
          <a:lstStyle/>
          <a:p>
            <a:endParaRPr lang="LID4096"/>
          </a:p>
        </p:txBody>
      </p:sp>
      <p:sp>
        <p:nvSpPr>
          <p:cNvPr id="11" name="Text 9"/>
          <p:cNvSpPr/>
          <p:nvPr/>
        </p:nvSpPr>
        <p:spPr>
          <a:xfrm>
            <a:off x="1005840" y="2304288"/>
            <a:ext cx="1920240" cy="530352"/>
          </a:xfrm>
          <a:prstGeom prst="rect">
            <a:avLst/>
          </a:prstGeom>
          <a:noFill/>
          <a:ln/>
        </p:spPr>
        <p:txBody>
          <a:bodyPr wrap="square" lIns="0" tIns="0" rIns="0" bIns="0" rtlCol="0" anchor="ctr"/>
          <a:lstStyle/>
          <a:p>
            <a:pPr marL="0" indent="0" algn="ctr">
              <a:buNone/>
            </a:pPr>
            <a:r>
              <a:rPr lang="en-US" sz="900" dirty="0">
                <a:solidFill>
                  <a:srgbClr val="E8A020"/>
                </a:solidFill>
                <a:latin typeface="Calibri" pitchFamily="34" charset="0"/>
                <a:ea typeface="Calibri" pitchFamily="34" charset="-122"/>
                <a:cs typeface="Calibri" pitchFamily="34" charset="-120"/>
              </a:rPr>
              <a:t>🎮 ACTOR</a:t>
            </a:r>
            <a:endParaRPr lang="en-US" sz="900" dirty="0"/>
          </a:p>
          <a:p>
            <a:pPr marL="0" indent="0" algn="ctr">
              <a:buNone/>
            </a:pPr>
            <a:r>
              <a:rPr lang="en-US" sz="900" dirty="0">
                <a:solidFill>
                  <a:srgbClr val="E8A020"/>
                </a:solidFill>
                <a:latin typeface="Calibri" pitchFamily="34" charset="0"/>
                <a:ea typeface="Calibri" pitchFamily="34" charset="-122"/>
                <a:cs typeface="Calibri" pitchFamily="34" charset="-120"/>
              </a:rPr>
              <a:t>π(a|s) → action probs</a:t>
            </a:r>
            <a:endParaRPr lang="en-US" sz="900" dirty="0"/>
          </a:p>
        </p:txBody>
      </p:sp>
      <p:sp>
        <p:nvSpPr>
          <p:cNvPr id="12" name="Shape 10"/>
          <p:cNvSpPr/>
          <p:nvPr/>
        </p:nvSpPr>
        <p:spPr>
          <a:xfrm>
            <a:off x="6217920" y="2304288"/>
            <a:ext cx="1920240" cy="530352"/>
          </a:xfrm>
          <a:prstGeom prst="rect">
            <a:avLst/>
          </a:prstGeom>
          <a:solidFill>
            <a:srgbClr val="1A2E1A"/>
          </a:solidFill>
          <a:ln w="12700">
            <a:solidFill>
              <a:srgbClr val="7ED348"/>
            </a:solidFill>
            <a:prstDash val="solid"/>
          </a:ln>
        </p:spPr>
        <p:txBody>
          <a:bodyPr/>
          <a:lstStyle/>
          <a:p>
            <a:endParaRPr lang="LID4096"/>
          </a:p>
        </p:txBody>
      </p:sp>
      <p:sp>
        <p:nvSpPr>
          <p:cNvPr id="13" name="Text 11"/>
          <p:cNvSpPr/>
          <p:nvPr/>
        </p:nvSpPr>
        <p:spPr>
          <a:xfrm>
            <a:off x="6217920" y="2304288"/>
            <a:ext cx="1920240" cy="530352"/>
          </a:xfrm>
          <a:prstGeom prst="rect">
            <a:avLst/>
          </a:prstGeom>
          <a:noFill/>
          <a:ln/>
        </p:spPr>
        <p:txBody>
          <a:bodyPr wrap="square" lIns="0" tIns="0" rIns="0" bIns="0" rtlCol="0" anchor="ctr"/>
          <a:lstStyle/>
          <a:p>
            <a:pPr marL="0" indent="0" algn="ctr">
              <a:buNone/>
            </a:pPr>
            <a:r>
              <a:rPr lang="en-US" sz="900" dirty="0">
                <a:solidFill>
                  <a:srgbClr val="7ED348"/>
                </a:solidFill>
                <a:latin typeface="Calibri" pitchFamily="34" charset="0"/>
                <a:ea typeface="Calibri" pitchFamily="34" charset="-122"/>
                <a:cs typeface="Calibri" pitchFamily="34" charset="-120"/>
              </a:rPr>
              <a:t>🧠 CRITIC</a:t>
            </a:r>
            <a:endParaRPr lang="en-US" sz="900" dirty="0"/>
          </a:p>
          <a:p>
            <a:pPr marL="0" indent="0" algn="ctr">
              <a:buNone/>
            </a:pPr>
            <a:r>
              <a:rPr lang="en-US" sz="900" dirty="0">
                <a:solidFill>
                  <a:srgbClr val="7ED348"/>
                </a:solidFill>
                <a:latin typeface="Calibri" pitchFamily="34" charset="0"/>
                <a:ea typeface="Calibri" pitchFamily="34" charset="-122"/>
                <a:cs typeface="Calibri" pitchFamily="34" charset="-120"/>
              </a:rPr>
              <a:t>V(s) → state value</a:t>
            </a:r>
            <a:endParaRPr lang="en-US" sz="900" dirty="0"/>
          </a:p>
        </p:txBody>
      </p:sp>
      <p:sp>
        <p:nvSpPr>
          <p:cNvPr id="14" name="Shape 12"/>
          <p:cNvSpPr/>
          <p:nvPr/>
        </p:nvSpPr>
        <p:spPr>
          <a:xfrm flipH="1">
            <a:off x="2926080" y="2121408"/>
            <a:ext cx="640080" cy="182880"/>
          </a:xfrm>
          <a:prstGeom prst="line">
            <a:avLst/>
          </a:prstGeom>
          <a:noFill/>
          <a:ln w="12700">
            <a:solidFill>
              <a:srgbClr val="8BB87A"/>
            </a:solidFill>
            <a:prstDash val="solid"/>
          </a:ln>
        </p:spPr>
        <p:txBody>
          <a:bodyPr/>
          <a:lstStyle/>
          <a:p>
            <a:endParaRPr lang="LID4096"/>
          </a:p>
        </p:txBody>
      </p:sp>
      <p:sp>
        <p:nvSpPr>
          <p:cNvPr id="15" name="Shape 13"/>
          <p:cNvSpPr/>
          <p:nvPr/>
        </p:nvSpPr>
        <p:spPr>
          <a:xfrm>
            <a:off x="5577840" y="2121408"/>
            <a:ext cx="640080" cy="182880"/>
          </a:xfrm>
          <a:prstGeom prst="line">
            <a:avLst/>
          </a:prstGeom>
          <a:noFill/>
          <a:ln w="12700">
            <a:solidFill>
              <a:srgbClr val="8BB87A"/>
            </a:solidFill>
            <a:prstDash val="solid"/>
          </a:ln>
        </p:spPr>
        <p:txBody>
          <a:bodyPr/>
          <a:lstStyle/>
          <a:p>
            <a:endParaRPr lang="LID4096"/>
          </a:p>
        </p:txBody>
      </p:sp>
      <p:sp>
        <p:nvSpPr>
          <p:cNvPr id="16" name="Shape 14"/>
          <p:cNvSpPr/>
          <p:nvPr/>
        </p:nvSpPr>
        <p:spPr>
          <a:xfrm>
            <a:off x="320040" y="3182112"/>
            <a:ext cx="8503920" cy="502920"/>
          </a:xfrm>
          <a:prstGeom prst="rect">
            <a:avLst/>
          </a:prstGeom>
          <a:solidFill>
            <a:srgbClr val="0A1A0E"/>
          </a:solidFill>
          <a:ln w="12700">
            <a:solidFill>
              <a:srgbClr val="1A3A1E"/>
            </a:solidFill>
            <a:prstDash val="solid"/>
          </a:ln>
        </p:spPr>
        <p:txBody>
          <a:bodyPr/>
          <a:lstStyle/>
          <a:p>
            <a:endParaRPr lang="LID4096"/>
          </a:p>
        </p:txBody>
      </p:sp>
      <p:sp>
        <p:nvSpPr>
          <p:cNvPr id="17" name="Text 15"/>
          <p:cNvSpPr/>
          <p:nvPr/>
        </p:nvSpPr>
        <p:spPr>
          <a:xfrm>
            <a:off x="457200" y="3182112"/>
            <a:ext cx="3931920" cy="502920"/>
          </a:xfrm>
          <a:prstGeom prst="rect">
            <a:avLst/>
          </a:prstGeom>
          <a:noFill/>
          <a:ln/>
        </p:spPr>
        <p:txBody>
          <a:bodyPr wrap="square" lIns="0" tIns="0" rIns="0" bIns="0" rtlCol="0" anchor="ctr"/>
          <a:lstStyle/>
          <a:p>
            <a:pPr marL="0" indent="0" algn="l">
              <a:buNone/>
            </a:pPr>
            <a:r>
              <a:rPr lang="en-US" sz="1050" dirty="0">
                <a:solidFill>
                  <a:srgbClr val="E8A020"/>
                </a:solidFill>
                <a:latin typeface="Consolas" pitchFamily="34" charset="0"/>
                <a:ea typeface="Consolas" pitchFamily="34" charset="-122"/>
                <a:cs typeface="Consolas" pitchFamily="34" charset="-120"/>
              </a:rPr>
              <a:t>Actor:  L_actor = −𝔼[log π(a|s) · A(s,a)]</a:t>
            </a:r>
            <a:endParaRPr lang="en-US" sz="1050" dirty="0"/>
          </a:p>
        </p:txBody>
      </p:sp>
      <p:sp>
        <p:nvSpPr>
          <p:cNvPr id="18" name="Text 16"/>
          <p:cNvSpPr/>
          <p:nvPr/>
        </p:nvSpPr>
        <p:spPr>
          <a:xfrm>
            <a:off x="4572000" y="3182112"/>
            <a:ext cx="4114800" cy="502920"/>
          </a:xfrm>
          <a:prstGeom prst="rect">
            <a:avLst/>
          </a:prstGeom>
          <a:noFill/>
          <a:ln/>
        </p:spPr>
        <p:txBody>
          <a:bodyPr wrap="square" lIns="0" tIns="0" rIns="0" bIns="0" rtlCol="0" anchor="ctr"/>
          <a:lstStyle/>
          <a:p>
            <a:pPr marL="0" indent="0" algn="l">
              <a:buNone/>
            </a:pPr>
            <a:r>
              <a:rPr lang="en-US" sz="1050" dirty="0">
                <a:solidFill>
                  <a:srgbClr val="7ED348"/>
                </a:solidFill>
                <a:latin typeface="Consolas" pitchFamily="34" charset="0"/>
                <a:ea typeface="Consolas" pitchFamily="34" charset="-122"/>
                <a:cs typeface="Consolas" pitchFamily="34" charset="-120"/>
              </a:rPr>
              <a:t>Critic:  L_critic = 𝔼[(r + γV(s′) − V(s))²]</a:t>
            </a:r>
            <a:endParaRPr lang="en-US" sz="1050" dirty="0"/>
          </a:p>
        </p:txBody>
      </p:sp>
      <p:sp>
        <p:nvSpPr>
          <p:cNvPr id="19" name="Text 17"/>
          <p:cNvSpPr/>
          <p:nvPr/>
        </p:nvSpPr>
        <p:spPr>
          <a:xfrm>
            <a:off x="320040" y="3730752"/>
            <a:ext cx="8503920" cy="256032"/>
          </a:xfrm>
          <a:prstGeom prst="rect">
            <a:avLst/>
          </a:prstGeom>
          <a:noFill/>
          <a:ln/>
        </p:spPr>
        <p:txBody>
          <a:bodyPr wrap="square" lIns="0" tIns="0" rIns="0" bIns="0" rtlCol="0" anchor="ctr"/>
          <a:lstStyle/>
          <a:p>
            <a:pPr marL="0" indent="0" algn="ctr">
              <a:buNone/>
            </a:pPr>
            <a:r>
              <a:rPr lang="en-US" sz="1000" dirty="0">
                <a:solidFill>
                  <a:srgbClr val="8BB87A"/>
                </a:solidFill>
                <a:latin typeface="Calibri" pitchFamily="34" charset="0"/>
                <a:ea typeface="Calibri" pitchFamily="34" charset="-122"/>
                <a:cs typeface="Calibri" pitchFamily="34" charset="-120"/>
              </a:rPr>
              <a:t>A(s,a) = Q(s,a) − V(s)   →   ADVANTAGE  (how much better than average?)</a:t>
            </a:r>
            <a:endParaRPr lang="en-US" sz="1000" dirty="0"/>
          </a:p>
        </p:txBody>
      </p:sp>
      <p:sp>
        <p:nvSpPr>
          <p:cNvPr id="20" name="Shape 18"/>
          <p:cNvSpPr/>
          <p:nvPr/>
        </p:nvSpPr>
        <p:spPr>
          <a:xfrm>
            <a:off x="320040" y="4041648"/>
            <a:ext cx="4160520" cy="64008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21" name="Shape 19"/>
          <p:cNvSpPr/>
          <p:nvPr/>
        </p:nvSpPr>
        <p:spPr>
          <a:xfrm>
            <a:off x="320040" y="4041648"/>
            <a:ext cx="54864" cy="640080"/>
          </a:xfrm>
          <a:prstGeom prst="rect">
            <a:avLst/>
          </a:prstGeom>
          <a:solidFill>
            <a:srgbClr val="7ED348"/>
          </a:solidFill>
          <a:ln w="12700">
            <a:solidFill>
              <a:srgbClr val="7ED348"/>
            </a:solidFill>
            <a:prstDash val="solid"/>
          </a:ln>
        </p:spPr>
        <p:txBody>
          <a:bodyPr/>
          <a:lstStyle/>
          <a:p>
            <a:endParaRPr lang="LID4096"/>
          </a:p>
        </p:txBody>
      </p:sp>
      <p:sp>
        <p:nvSpPr>
          <p:cNvPr id="22" name="Text 20"/>
          <p:cNvSpPr/>
          <p:nvPr/>
        </p:nvSpPr>
        <p:spPr>
          <a:xfrm>
            <a:off x="438912" y="4114800"/>
            <a:ext cx="3995928" cy="274320"/>
          </a:xfrm>
          <a:prstGeom prst="rect">
            <a:avLst/>
          </a:prstGeom>
          <a:noFill/>
          <a:ln/>
        </p:spPr>
        <p:txBody>
          <a:bodyPr wrap="square" lIns="0" tIns="0" rIns="0" bIns="0" rtlCol="0" anchor="ctr"/>
          <a:lstStyle/>
          <a:p>
            <a:pPr marL="0" indent="0" algn="l">
              <a:buNone/>
            </a:pPr>
            <a:r>
              <a:rPr lang="en-US" sz="1000" b="1" dirty="0">
                <a:solidFill>
                  <a:srgbClr val="7ED348"/>
                </a:solidFill>
                <a:latin typeface="Trebuchet MS" pitchFamily="34" charset="0"/>
                <a:ea typeface="Trebuchet MS" pitchFamily="34" charset="-122"/>
                <a:cs typeface="Trebuchet MS" pitchFamily="34" charset="-120"/>
              </a:rPr>
              <a:t>✔  ADVANTAGES</a:t>
            </a:r>
            <a:endParaRPr lang="en-US" sz="1000" dirty="0"/>
          </a:p>
        </p:txBody>
      </p:sp>
      <p:sp>
        <p:nvSpPr>
          <p:cNvPr id="23" name="Text 21"/>
          <p:cNvSpPr/>
          <p:nvPr/>
        </p:nvSpPr>
        <p:spPr>
          <a:xfrm>
            <a:off x="457200" y="4334256"/>
            <a:ext cx="3931920" cy="292608"/>
          </a:xfrm>
          <a:prstGeom prst="rect">
            <a:avLst/>
          </a:prstGeom>
          <a:noFill/>
          <a:ln/>
        </p:spPr>
        <p:txBody>
          <a:bodyPr wrap="square" lIns="0" tIns="0" rIns="0" bIns="0" rtlCol="0" anchor="ctr"/>
          <a:lstStyle/>
          <a:p>
            <a:pPr marL="0" indent="0" algn="l">
              <a:buNone/>
            </a:pPr>
            <a:r>
              <a:rPr lang="en-US" sz="900" dirty="0">
                <a:solidFill>
                  <a:srgbClr val="E8F5E0"/>
                </a:solidFill>
                <a:latin typeface="Calibri" pitchFamily="34" charset="0"/>
                <a:ea typeface="Calibri" pitchFamily="34" charset="-122"/>
                <a:cs typeface="Calibri" pitchFamily="34" charset="-120"/>
              </a:rPr>
              <a:t>Lower variance than REINFORCE  •  Works with continuous actions  •  A2C/A3C: parallel agents in multiple horde instances</a:t>
            </a:r>
            <a:endParaRPr lang="en-US" sz="900" dirty="0"/>
          </a:p>
        </p:txBody>
      </p:sp>
      <p:sp>
        <p:nvSpPr>
          <p:cNvPr id="24" name="Shape 22"/>
          <p:cNvSpPr/>
          <p:nvPr/>
        </p:nvSpPr>
        <p:spPr>
          <a:xfrm>
            <a:off x="4663440" y="4041648"/>
            <a:ext cx="4160520" cy="64008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25" name="Shape 23"/>
          <p:cNvSpPr/>
          <p:nvPr/>
        </p:nvSpPr>
        <p:spPr>
          <a:xfrm>
            <a:off x="4663440" y="4041648"/>
            <a:ext cx="54864" cy="640080"/>
          </a:xfrm>
          <a:prstGeom prst="rect">
            <a:avLst/>
          </a:prstGeom>
          <a:solidFill>
            <a:srgbClr val="C0392B"/>
          </a:solidFill>
          <a:ln w="12700">
            <a:solidFill>
              <a:srgbClr val="C0392B"/>
            </a:solidFill>
            <a:prstDash val="solid"/>
          </a:ln>
        </p:spPr>
        <p:txBody>
          <a:bodyPr/>
          <a:lstStyle/>
          <a:p>
            <a:endParaRPr lang="LID4096"/>
          </a:p>
        </p:txBody>
      </p:sp>
      <p:sp>
        <p:nvSpPr>
          <p:cNvPr id="26" name="Text 24"/>
          <p:cNvSpPr/>
          <p:nvPr/>
        </p:nvSpPr>
        <p:spPr>
          <a:xfrm>
            <a:off x="4782312" y="4114800"/>
            <a:ext cx="3995928" cy="274320"/>
          </a:xfrm>
          <a:prstGeom prst="rect">
            <a:avLst/>
          </a:prstGeom>
          <a:noFill/>
          <a:ln/>
        </p:spPr>
        <p:txBody>
          <a:bodyPr wrap="square" lIns="0" tIns="0" rIns="0" bIns="0" rtlCol="0" anchor="ctr"/>
          <a:lstStyle/>
          <a:p>
            <a:pPr marL="0" indent="0" algn="l">
              <a:buNone/>
            </a:pPr>
            <a:r>
              <a:rPr lang="en-US" sz="1000" b="1" dirty="0">
                <a:solidFill>
                  <a:srgbClr val="C0392B"/>
                </a:solidFill>
                <a:latin typeface="Trebuchet MS" pitchFamily="34" charset="0"/>
                <a:ea typeface="Trebuchet MS" pitchFamily="34" charset="-122"/>
                <a:cs typeface="Trebuchet MS" pitchFamily="34" charset="-120"/>
              </a:rPr>
              <a:t>✘  LIMITATIONS</a:t>
            </a:r>
            <a:endParaRPr lang="en-US" sz="1000" dirty="0"/>
          </a:p>
        </p:txBody>
      </p:sp>
      <p:sp>
        <p:nvSpPr>
          <p:cNvPr id="27" name="Text 25"/>
          <p:cNvSpPr/>
          <p:nvPr/>
        </p:nvSpPr>
        <p:spPr>
          <a:xfrm>
            <a:off x="4800600" y="4334256"/>
            <a:ext cx="3931920" cy="292608"/>
          </a:xfrm>
          <a:prstGeom prst="rect">
            <a:avLst/>
          </a:prstGeom>
          <a:noFill/>
          <a:ln/>
        </p:spPr>
        <p:txBody>
          <a:bodyPr wrap="square" lIns="0" tIns="0" rIns="0" bIns="0" rtlCol="0" anchor="ctr"/>
          <a:lstStyle/>
          <a:p>
            <a:pPr marL="0" indent="0" algn="l">
              <a:buNone/>
            </a:pPr>
            <a:r>
              <a:rPr lang="en-US" sz="900" dirty="0">
                <a:solidFill>
                  <a:srgbClr val="E8F5E0"/>
                </a:solidFill>
                <a:latin typeface="Calibri" pitchFamily="34" charset="0"/>
                <a:ea typeface="Calibri" pitchFamily="34" charset="-122"/>
                <a:cs typeface="Calibri" pitchFamily="34" charset="-120"/>
              </a:rPr>
              <a:t>Two networks add complexity  •  Unstable without proper learning rate  •  Advantage estimation can be biased</a:t>
            </a:r>
            <a:endParaRPr lang="en-US" sz="900" dirty="0"/>
          </a:p>
        </p:txBody>
      </p:sp>
      <p:sp>
        <p:nvSpPr>
          <p:cNvPr id="28" name="Shape 26"/>
          <p:cNvSpPr/>
          <p:nvPr/>
        </p:nvSpPr>
        <p:spPr>
          <a:xfrm>
            <a:off x="0" y="4800600"/>
            <a:ext cx="9144000" cy="342900"/>
          </a:xfrm>
          <a:prstGeom prst="rect">
            <a:avLst/>
          </a:prstGeom>
          <a:solidFill>
            <a:srgbClr val="1A3A1E"/>
          </a:solidFill>
          <a:ln w="12700">
            <a:solidFill>
              <a:srgbClr val="7ED348"/>
            </a:solidFill>
            <a:prstDash val="solid"/>
          </a:ln>
        </p:spPr>
        <p:txBody>
          <a:bodyPr/>
          <a:lstStyle/>
          <a:p>
            <a:endParaRPr lang="LID4096"/>
          </a:p>
        </p:txBody>
      </p:sp>
      <p:sp>
        <p:nvSpPr>
          <p:cNvPr id="29" name="Text 27"/>
          <p:cNvSpPr/>
          <p:nvPr/>
        </p:nvSpPr>
        <p:spPr>
          <a:xfrm>
            <a:off x="182880" y="4818888"/>
            <a:ext cx="5486400" cy="292608"/>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Horde Survival Game, Deep RL</a:t>
            </a:r>
            <a:endParaRPr lang="en-US" sz="900" dirty="0"/>
          </a:p>
        </p:txBody>
      </p:sp>
      <p:sp>
        <p:nvSpPr>
          <p:cNvPr id="30" name="Text 28"/>
          <p:cNvSpPr/>
          <p:nvPr/>
        </p:nvSpPr>
        <p:spPr>
          <a:xfrm>
            <a:off x="3657600" y="4818888"/>
            <a:ext cx="5303520" cy="292608"/>
          </a:xfrm>
          <a:prstGeom prst="rect">
            <a:avLst/>
          </a:prstGeom>
          <a:noFill/>
          <a:ln/>
        </p:spPr>
        <p:txBody>
          <a:bodyPr wrap="square" lIns="0" tIns="0" rIns="0" bIns="0" rtlCol="0" anchor="ctr"/>
          <a:lstStyle/>
          <a:p>
            <a:pPr marL="0" indent="0" algn="r">
              <a:buNone/>
            </a:pPr>
            <a:r>
              <a:rPr lang="en-US" sz="900" dirty="0">
                <a:solidFill>
                  <a:srgbClr val="7ED348"/>
                </a:solidFill>
                <a:latin typeface="Calibri" pitchFamily="34" charset="0"/>
                <a:ea typeface="Calibri" pitchFamily="34" charset="-122"/>
                <a:cs typeface="Calibri" pitchFamily="34" charset="-120"/>
              </a:rPr>
              <a:t>Actor-Critic Loss (A2C / A3C)</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7ED348"/>
          </a:solidFill>
          <a:ln w="12700">
            <a:solidFill>
              <a:srgbClr val="7ED348"/>
            </a:solidFill>
            <a:prstDash val="solid"/>
          </a:ln>
        </p:spPr>
        <p:txBody>
          <a:bodyPr/>
          <a:lstStyle/>
          <a:p>
            <a:endParaRPr lang="LID4096"/>
          </a:p>
        </p:txBody>
      </p:sp>
      <p:sp>
        <p:nvSpPr>
          <p:cNvPr id="3" name="Text 1"/>
          <p:cNvSpPr/>
          <p:nvPr/>
        </p:nvSpPr>
        <p:spPr>
          <a:xfrm>
            <a:off x="320040" y="201168"/>
            <a:ext cx="347472" cy="347472"/>
          </a:xfrm>
          <a:prstGeom prst="rect">
            <a:avLst/>
          </a:prstGeom>
          <a:noFill/>
          <a:ln/>
        </p:spPr>
        <p:txBody>
          <a:bodyPr wrap="square" lIns="0" tIns="0" rIns="0" bIns="0" rtlCol="0" anchor="ctr"/>
          <a:lstStyle/>
          <a:p>
            <a:pPr marL="0" indent="0" algn="ctr">
              <a:buNone/>
            </a:pPr>
            <a:r>
              <a:rPr lang="en-US" sz="1300" b="1" dirty="0">
                <a:solidFill>
                  <a:srgbClr val="0D1F12"/>
                </a:solidFill>
                <a:latin typeface="Trebuchet MS" pitchFamily="34" charset="0"/>
                <a:ea typeface="Trebuchet MS" pitchFamily="34" charset="-122"/>
                <a:cs typeface="Trebuchet MS" pitchFamily="34" charset="-120"/>
              </a:rPr>
              <a:t>04</a:t>
            </a:r>
            <a:endParaRPr lang="en-US" sz="13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marL="0" indent="0" algn="l">
              <a:buNone/>
            </a:pPr>
            <a:r>
              <a:rPr lang="en-US" sz="1100" b="1" kern="0" spc="200" dirty="0">
                <a:solidFill>
                  <a:srgbClr val="7ED348"/>
                </a:solidFill>
                <a:latin typeface="Trebuchet MS" pitchFamily="34" charset="0"/>
                <a:ea typeface="Trebuchet MS" pitchFamily="34" charset="-122"/>
                <a:cs typeface="Trebuchet MS" pitchFamily="34" charset="-120"/>
              </a:rPr>
              <a:t>PPO LOSS</a:t>
            </a:r>
            <a:endParaRPr lang="en-US" sz="1100" dirty="0"/>
          </a:p>
        </p:txBody>
      </p:sp>
      <p:sp>
        <p:nvSpPr>
          <p:cNvPr id="5" name="Text 3"/>
          <p:cNvSpPr/>
          <p:nvPr/>
        </p:nvSpPr>
        <p:spPr>
          <a:xfrm>
            <a:off x="320040" y="566928"/>
            <a:ext cx="8229600" cy="45720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PPO Loss  </a:t>
            </a:r>
            <a:r>
              <a:rPr lang="en-US" sz="1400" b="1" dirty="0">
                <a:solidFill>
                  <a:srgbClr val="E8A020"/>
                </a:solidFill>
                <a:latin typeface="Trebuchet MS" pitchFamily="34" charset="0"/>
                <a:ea typeface="Trebuchet MS" pitchFamily="34" charset="-122"/>
                <a:cs typeface="Trebuchet MS" pitchFamily="34" charset="-120"/>
              </a:rPr>
              <a:t>PROXIMAL POLICY OPTIMISATION</a:t>
            </a:r>
            <a:endParaRPr lang="en-US" sz="2800" dirty="0"/>
          </a:p>
        </p:txBody>
      </p:sp>
      <p:sp>
        <p:nvSpPr>
          <p:cNvPr id="6" name="Text 4"/>
          <p:cNvSpPr/>
          <p:nvPr/>
        </p:nvSpPr>
        <p:spPr>
          <a:xfrm>
            <a:off x="320040" y="1078992"/>
            <a:ext cx="8412480" cy="457200"/>
          </a:xfrm>
          <a:prstGeom prst="rect">
            <a:avLst/>
          </a:prstGeom>
          <a:noFill/>
          <a:ln/>
        </p:spPr>
        <p:txBody>
          <a:bodyPr wrap="square" lIns="0" tIns="0" rIns="0" bIns="0" rtlCol="0" anchor="ctr"/>
          <a:lstStyle/>
          <a:p>
            <a:pPr marL="0" indent="0" algn="l">
              <a:buNone/>
            </a:pPr>
            <a:r>
              <a:rPr lang="en-US" sz="1050" dirty="0">
                <a:solidFill>
                  <a:srgbClr val="E8F5E0"/>
                </a:solidFill>
                <a:latin typeface="Calibri" pitchFamily="34" charset="0"/>
                <a:ea typeface="Calibri" pitchFamily="34" charset="-122"/>
                <a:cs typeface="Calibri" pitchFamily="34" charset="-120"/>
              </a:rPr>
              <a:t>PPO is the most widely used modern RL algorithm. Uses a clipped objective that prevents dangerously large policy updates, stable, efficient, and ideal for horde survival where training stability is critical.</a:t>
            </a:r>
            <a:endParaRPr lang="en-US" sz="1050" dirty="0"/>
          </a:p>
        </p:txBody>
      </p:sp>
      <p:sp>
        <p:nvSpPr>
          <p:cNvPr id="7" name="Shape 5"/>
          <p:cNvSpPr/>
          <p:nvPr/>
        </p:nvSpPr>
        <p:spPr>
          <a:xfrm>
            <a:off x="320040" y="1600200"/>
            <a:ext cx="8503920" cy="502920"/>
          </a:xfrm>
          <a:prstGeom prst="rect">
            <a:avLst/>
          </a:prstGeom>
          <a:solidFill>
            <a:srgbClr val="0A1A0E"/>
          </a:solidFill>
          <a:ln w="12700">
            <a:solidFill>
              <a:srgbClr val="7ED348"/>
            </a:solidFill>
            <a:prstDash val="solid"/>
          </a:ln>
        </p:spPr>
        <p:txBody>
          <a:bodyPr/>
          <a:lstStyle/>
          <a:p>
            <a:endParaRPr lang="LID4096"/>
          </a:p>
        </p:txBody>
      </p:sp>
      <p:sp>
        <p:nvSpPr>
          <p:cNvPr id="8" name="Text 6"/>
          <p:cNvSpPr/>
          <p:nvPr/>
        </p:nvSpPr>
        <p:spPr>
          <a:xfrm>
            <a:off x="320040" y="1600200"/>
            <a:ext cx="8503920" cy="502920"/>
          </a:xfrm>
          <a:prstGeom prst="rect">
            <a:avLst/>
          </a:prstGeom>
          <a:noFill/>
          <a:ln/>
        </p:spPr>
        <p:txBody>
          <a:bodyPr wrap="square" lIns="0" tIns="0" rIns="0" bIns="0" rtlCol="0" anchor="ctr"/>
          <a:lstStyle/>
          <a:p>
            <a:pPr marL="0" indent="0" algn="ctr">
              <a:buNone/>
            </a:pPr>
            <a:r>
              <a:rPr lang="en-US" sz="1200" dirty="0">
                <a:solidFill>
                  <a:srgbClr val="7ED348"/>
                </a:solidFill>
                <a:latin typeface="Consolas" pitchFamily="34" charset="0"/>
                <a:ea typeface="Consolas" pitchFamily="34" charset="-122"/>
                <a:cs typeface="Consolas" pitchFamily="34" charset="-120"/>
              </a:rPr>
              <a:t>L^CLIP(θ) = 𝔼[ min( r_t(θ)·Â_t ,  clip(r_t(θ), 1−ε, 1+ε)·Â_t ) ]</a:t>
            </a:r>
            <a:endParaRPr lang="en-US" sz="1200" dirty="0"/>
          </a:p>
        </p:txBody>
      </p:sp>
      <p:sp>
        <p:nvSpPr>
          <p:cNvPr id="9" name="Shape 7"/>
          <p:cNvSpPr/>
          <p:nvPr/>
        </p:nvSpPr>
        <p:spPr>
          <a:xfrm>
            <a:off x="320040" y="2212848"/>
            <a:ext cx="4160520" cy="2331720"/>
          </a:xfrm>
          <a:prstGeom prst="rect">
            <a:avLst/>
          </a:prstGeom>
          <a:solidFill>
            <a:srgbClr val="152C19"/>
          </a:solidFill>
          <a:ln w="12700">
            <a:solidFill>
              <a:srgbClr val="1A3A1E"/>
            </a:solidFill>
            <a:prstDash val="solid"/>
          </a:ln>
        </p:spPr>
        <p:txBody>
          <a:bodyPr/>
          <a:lstStyle/>
          <a:p>
            <a:endParaRPr lang="LID4096"/>
          </a:p>
        </p:txBody>
      </p:sp>
      <p:sp>
        <p:nvSpPr>
          <p:cNvPr id="10" name="Text 8"/>
          <p:cNvSpPr/>
          <p:nvPr/>
        </p:nvSpPr>
        <p:spPr>
          <a:xfrm>
            <a:off x="457200" y="2304288"/>
            <a:ext cx="3840480" cy="256032"/>
          </a:xfrm>
          <a:prstGeom prst="rect">
            <a:avLst/>
          </a:prstGeom>
          <a:noFill/>
          <a:ln/>
        </p:spPr>
        <p:txBody>
          <a:bodyPr wrap="square" lIns="0" tIns="0" rIns="0" bIns="0" rtlCol="0" anchor="ctr"/>
          <a:lstStyle/>
          <a:p>
            <a:pPr marL="0" indent="0">
              <a:buNone/>
            </a:pPr>
            <a:r>
              <a:rPr lang="en-US" sz="1000" b="1" dirty="0">
                <a:solidFill>
                  <a:srgbClr val="7ED348"/>
                </a:solidFill>
                <a:latin typeface="Trebuchet MS" pitchFamily="34" charset="0"/>
                <a:ea typeface="Trebuchet MS" pitchFamily="34" charset="-122"/>
                <a:cs typeface="Trebuchet MS" pitchFamily="34" charset="-120"/>
              </a:rPr>
              <a:t>Full PPO Objective:</a:t>
            </a:r>
            <a:endParaRPr lang="en-US" sz="1000" dirty="0"/>
          </a:p>
        </p:txBody>
      </p:sp>
      <p:sp>
        <p:nvSpPr>
          <p:cNvPr id="11" name="Text 9"/>
          <p:cNvSpPr/>
          <p:nvPr/>
        </p:nvSpPr>
        <p:spPr>
          <a:xfrm>
            <a:off x="457200" y="2578608"/>
            <a:ext cx="3840480" cy="320040"/>
          </a:xfrm>
          <a:prstGeom prst="rect">
            <a:avLst/>
          </a:prstGeom>
          <a:noFill/>
          <a:ln/>
        </p:spPr>
        <p:txBody>
          <a:bodyPr wrap="square" lIns="0" tIns="0" rIns="0" bIns="0" rtlCol="0" anchor="ctr"/>
          <a:lstStyle/>
          <a:p>
            <a:pPr marL="0" indent="0">
              <a:buNone/>
            </a:pPr>
            <a:r>
              <a:rPr lang="en-US" sz="1100" dirty="0">
                <a:solidFill>
                  <a:srgbClr val="E8A020"/>
                </a:solidFill>
                <a:latin typeface="Consolas" pitchFamily="34" charset="0"/>
                <a:ea typeface="Consolas" pitchFamily="34" charset="-122"/>
                <a:cs typeface="Consolas" pitchFamily="34" charset="-120"/>
              </a:rPr>
              <a:t>L = L^CLIP − c1·L^VF + c2·S[π_θ]</a:t>
            </a:r>
            <a:endParaRPr lang="en-US" sz="1100" dirty="0"/>
          </a:p>
        </p:txBody>
      </p:sp>
      <p:sp>
        <p:nvSpPr>
          <p:cNvPr id="12" name="Text 10"/>
          <p:cNvSpPr/>
          <p:nvPr/>
        </p:nvSpPr>
        <p:spPr>
          <a:xfrm>
            <a:off x="457200" y="2944368"/>
            <a:ext cx="457200" cy="292608"/>
          </a:xfrm>
          <a:prstGeom prst="rect">
            <a:avLst/>
          </a:prstGeom>
          <a:noFill/>
          <a:ln/>
        </p:spPr>
        <p:txBody>
          <a:bodyPr wrap="square" lIns="0" tIns="0" rIns="0" bIns="0" rtlCol="0" anchor="ctr"/>
          <a:lstStyle/>
          <a:p>
            <a:pPr marL="0" indent="0">
              <a:buNone/>
            </a:pPr>
            <a:r>
              <a:rPr lang="en-US" sz="1050" b="1" dirty="0">
                <a:solidFill>
                  <a:srgbClr val="E8A020"/>
                </a:solidFill>
                <a:latin typeface="Consolas" pitchFamily="34" charset="0"/>
                <a:ea typeface="Consolas" pitchFamily="34" charset="-122"/>
                <a:cs typeface="Consolas" pitchFamily="34" charset="-120"/>
              </a:rPr>
              <a:t>ε</a:t>
            </a:r>
            <a:endParaRPr lang="en-US" sz="1050" dirty="0"/>
          </a:p>
        </p:txBody>
      </p:sp>
      <p:sp>
        <p:nvSpPr>
          <p:cNvPr id="13" name="Text 11"/>
          <p:cNvSpPr/>
          <p:nvPr/>
        </p:nvSpPr>
        <p:spPr>
          <a:xfrm>
            <a:off x="960120" y="2944368"/>
            <a:ext cx="3383280" cy="292608"/>
          </a:xfrm>
          <a:prstGeom prst="rect">
            <a:avLst/>
          </a:prstGeom>
          <a:noFill/>
          <a:ln/>
        </p:spPr>
        <p:txBody>
          <a:bodyPr wrap="square" lIns="0" tIns="0" rIns="0" bIns="0" rtlCol="0" anchor="ctr"/>
          <a:lstStyle/>
          <a:p>
            <a:pPr marL="0" indent="0">
              <a:buNone/>
            </a:pPr>
            <a:r>
              <a:rPr lang="en-US" sz="950" dirty="0">
                <a:solidFill>
                  <a:srgbClr val="E8F5E0"/>
                </a:solidFill>
                <a:latin typeface="Calibri" pitchFamily="34" charset="0"/>
                <a:ea typeface="Calibri" pitchFamily="34" charset="-122"/>
                <a:cs typeface="Calibri" pitchFamily="34" charset="-120"/>
              </a:rPr>
              <a:t>Clip range, usually 0.1–0.2</a:t>
            </a:r>
            <a:endParaRPr lang="en-US" sz="950" dirty="0"/>
          </a:p>
        </p:txBody>
      </p:sp>
      <p:sp>
        <p:nvSpPr>
          <p:cNvPr id="14" name="Text 12"/>
          <p:cNvSpPr/>
          <p:nvPr/>
        </p:nvSpPr>
        <p:spPr>
          <a:xfrm>
            <a:off x="457200" y="3291840"/>
            <a:ext cx="457200" cy="292608"/>
          </a:xfrm>
          <a:prstGeom prst="rect">
            <a:avLst/>
          </a:prstGeom>
          <a:noFill/>
          <a:ln/>
        </p:spPr>
        <p:txBody>
          <a:bodyPr wrap="square" lIns="0" tIns="0" rIns="0" bIns="0" rtlCol="0" anchor="ctr"/>
          <a:lstStyle/>
          <a:p>
            <a:pPr marL="0" indent="0">
              <a:buNone/>
            </a:pPr>
            <a:r>
              <a:rPr lang="en-US" sz="1050" b="1" dirty="0">
                <a:solidFill>
                  <a:srgbClr val="E8A020"/>
                </a:solidFill>
                <a:latin typeface="Consolas" pitchFamily="34" charset="0"/>
                <a:ea typeface="Consolas" pitchFamily="34" charset="-122"/>
                <a:cs typeface="Consolas" pitchFamily="34" charset="-120"/>
              </a:rPr>
              <a:t>c1</a:t>
            </a:r>
            <a:endParaRPr lang="en-US" sz="1050" dirty="0"/>
          </a:p>
        </p:txBody>
      </p:sp>
      <p:sp>
        <p:nvSpPr>
          <p:cNvPr id="15" name="Text 13"/>
          <p:cNvSpPr/>
          <p:nvPr/>
        </p:nvSpPr>
        <p:spPr>
          <a:xfrm>
            <a:off x="960120" y="3291840"/>
            <a:ext cx="3383280" cy="292608"/>
          </a:xfrm>
          <a:prstGeom prst="rect">
            <a:avLst/>
          </a:prstGeom>
          <a:noFill/>
          <a:ln/>
        </p:spPr>
        <p:txBody>
          <a:bodyPr wrap="square" lIns="0" tIns="0" rIns="0" bIns="0" rtlCol="0" anchor="ctr"/>
          <a:lstStyle/>
          <a:p>
            <a:pPr marL="0" indent="0">
              <a:buNone/>
            </a:pPr>
            <a:r>
              <a:rPr lang="en-US" sz="950" dirty="0">
                <a:solidFill>
                  <a:srgbClr val="E8F5E0"/>
                </a:solidFill>
                <a:latin typeface="Calibri" pitchFamily="34" charset="0"/>
                <a:ea typeface="Calibri" pitchFamily="34" charset="-122"/>
                <a:cs typeface="Calibri" pitchFamily="34" charset="-120"/>
              </a:rPr>
              <a:t>Value function loss weight</a:t>
            </a:r>
            <a:endParaRPr lang="en-US" sz="950" dirty="0"/>
          </a:p>
        </p:txBody>
      </p:sp>
      <p:sp>
        <p:nvSpPr>
          <p:cNvPr id="16" name="Text 14"/>
          <p:cNvSpPr/>
          <p:nvPr/>
        </p:nvSpPr>
        <p:spPr>
          <a:xfrm>
            <a:off x="457200" y="3639312"/>
            <a:ext cx="457200" cy="292608"/>
          </a:xfrm>
          <a:prstGeom prst="rect">
            <a:avLst/>
          </a:prstGeom>
          <a:noFill/>
          <a:ln/>
        </p:spPr>
        <p:txBody>
          <a:bodyPr wrap="square" lIns="0" tIns="0" rIns="0" bIns="0" rtlCol="0" anchor="ctr"/>
          <a:lstStyle/>
          <a:p>
            <a:pPr marL="0" indent="0">
              <a:buNone/>
            </a:pPr>
            <a:r>
              <a:rPr lang="en-US" sz="1050" b="1" dirty="0">
                <a:solidFill>
                  <a:srgbClr val="E8A020"/>
                </a:solidFill>
                <a:latin typeface="Consolas" pitchFamily="34" charset="0"/>
                <a:ea typeface="Consolas" pitchFamily="34" charset="-122"/>
                <a:cs typeface="Consolas" pitchFamily="34" charset="-120"/>
              </a:rPr>
              <a:t>c2</a:t>
            </a:r>
            <a:endParaRPr lang="en-US" sz="1050" dirty="0"/>
          </a:p>
        </p:txBody>
      </p:sp>
      <p:sp>
        <p:nvSpPr>
          <p:cNvPr id="17" name="Text 15"/>
          <p:cNvSpPr/>
          <p:nvPr/>
        </p:nvSpPr>
        <p:spPr>
          <a:xfrm>
            <a:off x="960120" y="3639312"/>
            <a:ext cx="3383280" cy="292608"/>
          </a:xfrm>
          <a:prstGeom prst="rect">
            <a:avLst/>
          </a:prstGeom>
          <a:noFill/>
          <a:ln/>
        </p:spPr>
        <p:txBody>
          <a:bodyPr wrap="square" lIns="0" tIns="0" rIns="0" bIns="0" rtlCol="0" anchor="ctr"/>
          <a:lstStyle/>
          <a:p>
            <a:pPr marL="0" indent="0">
              <a:buNone/>
            </a:pPr>
            <a:r>
              <a:rPr lang="en-US" sz="950" dirty="0">
                <a:solidFill>
                  <a:srgbClr val="E8F5E0"/>
                </a:solidFill>
                <a:latin typeface="Calibri" pitchFamily="34" charset="0"/>
                <a:ea typeface="Calibri" pitchFamily="34" charset="-122"/>
                <a:cs typeface="Calibri" pitchFamily="34" charset="-120"/>
              </a:rPr>
              <a:t>Entropy bonus weight (exploration)</a:t>
            </a:r>
            <a:endParaRPr lang="en-US" sz="950" dirty="0"/>
          </a:p>
        </p:txBody>
      </p:sp>
      <p:sp>
        <p:nvSpPr>
          <p:cNvPr id="18" name="Text 16"/>
          <p:cNvSpPr/>
          <p:nvPr/>
        </p:nvSpPr>
        <p:spPr>
          <a:xfrm>
            <a:off x="457200" y="3986784"/>
            <a:ext cx="457200" cy="292608"/>
          </a:xfrm>
          <a:prstGeom prst="rect">
            <a:avLst/>
          </a:prstGeom>
          <a:noFill/>
          <a:ln/>
        </p:spPr>
        <p:txBody>
          <a:bodyPr wrap="square" lIns="0" tIns="0" rIns="0" bIns="0" rtlCol="0" anchor="ctr"/>
          <a:lstStyle/>
          <a:p>
            <a:pPr marL="0" indent="0">
              <a:buNone/>
            </a:pPr>
            <a:r>
              <a:rPr lang="en-US" sz="1050" b="1" dirty="0">
                <a:solidFill>
                  <a:srgbClr val="E8A020"/>
                </a:solidFill>
                <a:latin typeface="Consolas" pitchFamily="34" charset="0"/>
                <a:ea typeface="Consolas" pitchFamily="34" charset="-122"/>
                <a:cs typeface="Consolas" pitchFamily="34" charset="-120"/>
              </a:rPr>
              <a:t>S[π]</a:t>
            </a:r>
            <a:endParaRPr lang="en-US" sz="1050" dirty="0"/>
          </a:p>
        </p:txBody>
      </p:sp>
      <p:sp>
        <p:nvSpPr>
          <p:cNvPr id="19" name="Text 17"/>
          <p:cNvSpPr/>
          <p:nvPr/>
        </p:nvSpPr>
        <p:spPr>
          <a:xfrm>
            <a:off x="960120" y="3986784"/>
            <a:ext cx="3383280" cy="292608"/>
          </a:xfrm>
          <a:prstGeom prst="rect">
            <a:avLst/>
          </a:prstGeom>
          <a:noFill/>
          <a:ln/>
        </p:spPr>
        <p:txBody>
          <a:bodyPr wrap="square" lIns="0" tIns="0" rIns="0" bIns="0" rtlCol="0" anchor="ctr"/>
          <a:lstStyle/>
          <a:p>
            <a:pPr marL="0" indent="0">
              <a:buNone/>
            </a:pPr>
            <a:r>
              <a:rPr lang="en-US" sz="950" dirty="0">
                <a:solidFill>
                  <a:srgbClr val="E8F5E0"/>
                </a:solidFill>
                <a:latin typeface="Calibri" pitchFamily="34" charset="0"/>
                <a:ea typeface="Calibri" pitchFamily="34" charset="-122"/>
                <a:cs typeface="Calibri" pitchFamily="34" charset="-120"/>
              </a:rPr>
              <a:t>Entropy prevents premature convergence</a:t>
            </a:r>
            <a:endParaRPr lang="en-US" sz="950" dirty="0"/>
          </a:p>
        </p:txBody>
      </p:sp>
      <p:sp>
        <p:nvSpPr>
          <p:cNvPr id="20" name="Shape 18"/>
          <p:cNvSpPr/>
          <p:nvPr/>
        </p:nvSpPr>
        <p:spPr>
          <a:xfrm>
            <a:off x="4663440" y="2212848"/>
            <a:ext cx="4160520" cy="109728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21" name="Shape 19"/>
          <p:cNvSpPr/>
          <p:nvPr/>
        </p:nvSpPr>
        <p:spPr>
          <a:xfrm>
            <a:off x="4663440" y="2212848"/>
            <a:ext cx="54864" cy="1097280"/>
          </a:xfrm>
          <a:prstGeom prst="rect">
            <a:avLst/>
          </a:prstGeom>
          <a:solidFill>
            <a:srgbClr val="7ED348"/>
          </a:solidFill>
          <a:ln w="12700">
            <a:solidFill>
              <a:srgbClr val="7ED348"/>
            </a:solidFill>
            <a:prstDash val="solid"/>
          </a:ln>
        </p:spPr>
        <p:txBody>
          <a:bodyPr/>
          <a:lstStyle/>
          <a:p>
            <a:endParaRPr lang="LID4096"/>
          </a:p>
        </p:txBody>
      </p:sp>
      <p:sp>
        <p:nvSpPr>
          <p:cNvPr id="22" name="Text 20"/>
          <p:cNvSpPr/>
          <p:nvPr/>
        </p:nvSpPr>
        <p:spPr>
          <a:xfrm>
            <a:off x="4782312" y="2286000"/>
            <a:ext cx="3995928" cy="274320"/>
          </a:xfrm>
          <a:prstGeom prst="rect">
            <a:avLst/>
          </a:prstGeom>
          <a:noFill/>
          <a:ln/>
        </p:spPr>
        <p:txBody>
          <a:bodyPr wrap="square" lIns="0" tIns="0" rIns="0" bIns="0" rtlCol="0" anchor="ctr"/>
          <a:lstStyle/>
          <a:p>
            <a:pPr marL="0" indent="0" algn="l">
              <a:buNone/>
            </a:pPr>
            <a:r>
              <a:rPr lang="en-US" sz="1000" b="1" dirty="0">
                <a:solidFill>
                  <a:srgbClr val="7ED348"/>
                </a:solidFill>
                <a:latin typeface="Trebuchet MS" pitchFamily="34" charset="0"/>
                <a:ea typeface="Trebuchet MS" pitchFamily="34" charset="-122"/>
                <a:cs typeface="Trebuchet MS" pitchFamily="34" charset="-120"/>
              </a:rPr>
              <a:t>✔  ADVANTAGES</a:t>
            </a:r>
            <a:endParaRPr lang="en-US" sz="1000" dirty="0"/>
          </a:p>
        </p:txBody>
      </p:sp>
      <p:sp>
        <p:nvSpPr>
          <p:cNvPr id="23" name="Text 21"/>
          <p:cNvSpPr/>
          <p:nvPr/>
        </p:nvSpPr>
        <p:spPr>
          <a:xfrm>
            <a:off x="4782312" y="2560320"/>
            <a:ext cx="3977640" cy="685800"/>
          </a:xfrm>
          <a:prstGeom prst="rect">
            <a:avLst/>
          </a:prstGeom>
          <a:noFill/>
          <a:ln/>
        </p:spPr>
        <p:txBody>
          <a:bodyPr wrap="square" rtlCol="0" anchor="t"/>
          <a:lstStyle/>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Stable &amp; simple, no 2nd-order optimisation</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OpenAI/SB3 default, huge community support</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Ideal for complex horde wave training</a:t>
            </a:r>
            <a:endParaRPr lang="en-US" sz="950" dirty="0"/>
          </a:p>
        </p:txBody>
      </p:sp>
      <p:sp>
        <p:nvSpPr>
          <p:cNvPr id="24" name="Shape 22"/>
          <p:cNvSpPr/>
          <p:nvPr/>
        </p:nvSpPr>
        <p:spPr>
          <a:xfrm>
            <a:off x="4663440" y="3429000"/>
            <a:ext cx="4160520" cy="1115568"/>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25" name="Shape 23"/>
          <p:cNvSpPr/>
          <p:nvPr/>
        </p:nvSpPr>
        <p:spPr>
          <a:xfrm>
            <a:off x="4663440" y="3429000"/>
            <a:ext cx="54864" cy="1115568"/>
          </a:xfrm>
          <a:prstGeom prst="rect">
            <a:avLst/>
          </a:prstGeom>
          <a:solidFill>
            <a:srgbClr val="C0392B"/>
          </a:solidFill>
          <a:ln w="12700">
            <a:solidFill>
              <a:srgbClr val="C0392B"/>
            </a:solidFill>
            <a:prstDash val="solid"/>
          </a:ln>
        </p:spPr>
        <p:txBody>
          <a:bodyPr/>
          <a:lstStyle/>
          <a:p>
            <a:endParaRPr lang="LID4096"/>
          </a:p>
        </p:txBody>
      </p:sp>
      <p:sp>
        <p:nvSpPr>
          <p:cNvPr id="26" name="Text 24"/>
          <p:cNvSpPr/>
          <p:nvPr/>
        </p:nvSpPr>
        <p:spPr>
          <a:xfrm>
            <a:off x="4782312" y="3502152"/>
            <a:ext cx="3995928" cy="274320"/>
          </a:xfrm>
          <a:prstGeom prst="rect">
            <a:avLst/>
          </a:prstGeom>
          <a:noFill/>
          <a:ln/>
        </p:spPr>
        <p:txBody>
          <a:bodyPr wrap="square" lIns="0" tIns="0" rIns="0" bIns="0" rtlCol="0" anchor="ctr"/>
          <a:lstStyle/>
          <a:p>
            <a:pPr marL="0" indent="0" algn="l">
              <a:buNone/>
            </a:pPr>
            <a:r>
              <a:rPr lang="en-US" sz="1000" b="1" dirty="0">
                <a:solidFill>
                  <a:srgbClr val="C0392B"/>
                </a:solidFill>
                <a:latin typeface="Trebuchet MS" pitchFamily="34" charset="0"/>
                <a:ea typeface="Trebuchet MS" pitchFamily="34" charset="-122"/>
                <a:cs typeface="Trebuchet MS" pitchFamily="34" charset="-120"/>
              </a:rPr>
              <a:t>✘  LIMITATIONS</a:t>
            </a:r>
            <a:endParaRPr lang="en-US" sz="1000" dirty="0"/>
          </a:p>
        </p:txBody>
      </p:sp>
      <p:sp>
        <p:nvSpPr>
          <p:cNvPr id="27" name="Text 25"/>
          <p:cNvSpPr/>
          <p:nvPr/>
        </p:nvSpPr>
        <p:spPr>
          <a:xfrm>
            <a:off x="4782312" y="3776472"/>
            <a:ext cx="3977640" cy="704088"/>
          </a:xfrm>
          <a:prstGeom prst="rect">
            <a:avLst/>
          </a:prstGeom>
          <a:noFill/>
          <a:ln/>
        </p:spPr>
        <p:txBody>
          <a:bodyPr wrap="square" rtlCol="0" anchor="t"/>
          <a:lstStyle/>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On policy: data not reusable between updates</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Clip range needs tuning per environment</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Sparse reward environments can struggle</a:t>
            </a:r>
            <a:endParaRPr lang="en-US" sz="950" dirty="0"/>
          </a:p>
        </p:txBody>
      </p:sp>
      <p:sp>
        <p:nvSpPr>
          <p:cNvPr id="28" name="Shape 26"/>
          <p:cNvSpPr/>
          <p:nvPr/>
        </p:nvSpPr>
        <p:spPr>
          <a:xfrm>
            <a:off x="0" y="4800600"/>
            <a:ext cx="9144000" cy="342900"/>
          </a:xfrm>
          <a:prstGeom prst="rect">
            <a:avLst/>
          </a:prstGeom>
          <a:solidFill>
            <a:srgbClr val="1A3A1E"/>
          </a:solidFill>
          <a:ln w="12700">
            <a:solidFill>
              <a:srgbClr val="7ED348"/>
            </a:solidFill>
            <a:prstDash val="solid"/>
          </a:ln>
        </p:spPr>
        <p:txBody>
          <a:bodyPr/>
          <a:lstStyle/>
          <a:p>
            <a:endParaRPr lang="LID4096"/>
          </a:p>
        </p:txBody>
      </p:sp>
      <p:sp>
        <p:nvSpPr>
          <p:cNvPr id="29" name="Text 27"/>
          <p:cNvSpPr/>
          <p:nvPr/>
        </p:nvSpPr>
        <p:spPr>
          <a:xfrm>
            <a:off x="182880" y="4818888"/>
            <a:ext cx="5486400" cy="292608"/>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Horde Survival Game, Deep RL</a:t>
            </a:r>
            <a:endParaRPr lang="en-US" sz="900" dirty="0"/>
          </a:p>
        </p:txBody>
      </p:sp>
      <p:sp>
        <p:nvSpPr>
          <p:cNvPr id="30" name="Text 28"/>
          <p:cNvSpPr/>
          <p:nvPr/>
        </p:nvSpPr>
        <p:spPr>
          <a:xfrm>
            <a:off x="3657600" y="4818888"/>
            <a:ext cx="5303520" cy="292608"/>
          </a:xfrm>
          <a:prstGeom prst="rect">
            <a:avLst/>
          </a:prstGeom>
          <a:noFill/>
          <a:ln/>
        </p:spPr>
        <p:txBody>
          <a:bodyPr wrap="square" lIns="0" tIns="0" rIns="0" bIns="0" rtlCol="0" anchor="ctr"/>
          <a:lstStyle/>
          <a:p>
            <a:pPr marL="0" indent="0" algn="r">
              <a:buNone/>
            </a:pPr>
            <a:r>
              <a:rPr lang="en-US" sz="900" dirty="0">
                <a:solidFill>
                  <a:srgbClr val="7ED348"/>
                </a:solidFill>
                <a:latin typeface="Calibri" pitchFamily="34" charset="0"/>
                <a:ea typeface="Calibri" pitchFamily="34" charset="-122"/>
                <a:cs typeface="Calibri" pitchFamily="34" charset="-120"/>
              </a:rPr>
              <a:t>Proximal Policy Optimisation (PPO)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7ED348"/>
          </a:solidFill>
          <a:ln w="12700">
            <a:solidFill>
              <a:srgbClr val="7ED348"/>
            </a:solidFill>
            <a:prstDash val="solid"/>
          </a:ln>
        </p:spPr>
        <p:txBody>
          <a:bodyPr/>
          <a:lstStyle/>
          <a:p>
            <a:endParaRPr lang="LID4096"/>
          </a:p>
        </p:txBody>
      </p:sp>
      <p:sp>
        <p:nvSpPr>
          <p:cNvPr id="3" name="Text 1"/>
          <p:cNvSpPr/>
          <p:nvPr/>
        </p:nvSpPr>
        <p:spPr>
          <a:xfrm>
            <a:off x="320040" y="201168"/>
            <a:ext cx="347472" cy="347472"/>
          </a:xfrm>
          <a:prstGeom prst="rect">
            <a:avLst/>
          </a:prstGeom>
          <a:noFill/>
          <a:ln/>
        </p:spPr>
        <p:txBody>
          <a:bodyPr wrap="square" lIns="0" tIns="0" rIns="0" bIns="0" rtlCol="0" anchor="ctr"/>
          <a:lstStyle/>
          <a:p>
            <a:pPr marL="0" indent="0" algn="ctr">
              <a:buNone/>
            </a:pPr>
            <a:r>
              <a:rPr lang="en-US" sz="1300" b="1" dirty="0">
                <a:solidFill>
                  <a:srgbClr val="0D1F12"/>
                </a:solidFill>
                <a:latin typeface="Trebuchet MS" pitchFamily="34" charset="0"/>
                <a:ea typeface="Trebuchet MS" pitchFamily="34" charset="-122"/>
                <a:cs typeface="Trebuchet MS" pitchFamily="34" charset="-120"/>
              </a:rPr>
              <a:t>05</a:t>
            </a:r>
            <a:endParaRPr lang="en-US" sz="13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marL="0" indent="0" algn="l">
              <a:buNone/>
            </a:pPr>
            <a:r>
              <a:rPr lang="en-US" sz="1100" b="1" kern="0" spc="200" dirty="0">
                <a:solidFill>
                  <a:srgbClr val="7ED348"/>
                </a:solidFill>
                <a:latin typeface="Trebuchet MS" pitchFamily="34" charset="0"/>
                <a:ea typeface="Trebuchet MS" pitchFamily="34" charset="-122"/>
                <a:cs typeface="Trebuchet MS" pitchFamily="34" charset="-120"/>
              </a:rPr>
              <a:t>KL DIVERGENCE PENALTY</a:t>
            </a:r>
            <a:endParaRPr lang="en-US" sz="1100" dirty="0"/>
          </a:p>
        </p:txBody>
      </p:sp>
      <p:sp>
        <p:nvSpPr>
          <p:cNvPr id="5" name="Text 3"/>
          <p:cNvSpPr/>
          <p:nvPr/>
        </p:nvSpPr>
        <p:spPr>
          <a:xfrm>
            <a:off x="320040" y="566928"/>
            <a:ext cx="822960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KL Divergence Penalty</a:t>
            </a:r>
            <a:endParaRPr lang="en-US" sz="2800" dirty="0"/>
          </a:p>
        </p:txBody>
      </p:sp>
      <p:sp>
        <p:nvSpPr>
          <p:cNvPr id="6" name="Text 4"/>
          <p:cNvSpPr/>
          <p:nvPr/>
        </p:nvSpPr>
        <p:spPr>
          <a:xfrm>
            <a:off x="320040" y="1078992"/>
            <a:ext cx="8412480" cy="457200"/>
          </a:xfrm>
          <a:prstGeom prst="rect">
            <a:avLst/>
          </a:prstGeom>
          <a:noFill/>
          <a:ln/>
        </p:spPr>
        <p:txBody>
          <a:bodyPr wrap="square" lIns="0" tIns="0" rIns="0" bIns="0" rtlCol="0" anchor="ctr"/>
          <a:lstStyle/>
          <a:p>
            <a:pPr marL="0" indent="0" algn="l">
              <a:buNone/>
            </a:pPr>
            <a:r>
              <a:rPr lang="en-US" sz="1050" dirty="0">
                <a:solidFill>
                  <a:srgbClr val="E8F5E0"/>
                </a:solidFill>
                <a:latin typeface="Calibri" pitchFamily="34" charset="0"/>
                <a:ea typeface="Calibri" pitchFamily="34" charset="-122"/>
                <a:cs typeface="Calibri" pitchFamily="34" charset="-120"/>
              </a:rPr>
              <a:t>KL Divergence measures how different the new policy is from the old one. Used in TRPO and PPO to prevent the agent from making updates so large they destroy what it has already learned, critical in long horde training runs.</a:t>
            </a:r>
            <a:endParaRPr lang="en-US" sz="1050" dirty="0"/>
          </a:p>
        </p:txBody>
      </p:sp>
      <p:sp>
        <p:nvSpPr>
          <p:cNvPr id="7" name="Shape 5"/>
          <p:cNvSpPr/>
          <p:nvPr/>
        </p:nvSpPr>
        <p:spPr>
          <a:xfrm>
            <a:off x="320040" y="1600200"/>
            <a:ext cx="8503920" cy="457200"/>
          </a:xfrm>
          <a:prstGeom prst="rect">
            <a:avLst/>
          </a:prstGeom>
          <a:solidFill>
            <a:srgbClr val="0A1A0E"/>
          </a:solidFill>
          <a:ln w="12700">
            <a:solidFill>
              <a:srgbClr val="7ED348"/>
            </a:solidFill>
            <a:prstDash val="solid"/>
          </a:ln>
        </p:spPr>
        <p:txBody>
          <a:bodyPr/>
          <a:lstStyle/>
          <a:p>
            <a:endParaRPr lang="LID4096"/>
          </a:p>
        </p:txBody>
      </p:sp>
      <p:sp>
        <p:nvSpPr>
          <p:cNvPr id="8" name="Text 6"/>
          <p:cNvSpPr/>
          <p:nvPr/>
        </p:nvSpPr>
        <p:spPr>
          <a:xfrm>
            <a:off x="320040" y="1600200"/>
            <a:ext cx="8503920" cy="457200"/>
          </a:xfrm>
          <a:prstGeom prst="rect">
            <a:avLst/>
          </a:prstGeom>
          <a:noFill/>
          <a:ln/>
        </p:spPr>
        <p:txBody>
          <a:bodyPr wrap="square" lIns="0" tIns="0" rIns="0" bIns="0" rtlCol="0" anchor="ctr"/>
          <a:lstStyle/>
          <a:p>
            <a:pPr marL="0" indent="0" algn="ctr">
              <a:buNone/>
            </a:pPr>
            <a:r>
              <a:rPr lang="en-US" sz="1200" dirty="0">
                <a:solidFill>
                  <a:srgbClr val="7ED348"/>
                </a:solidFill>
                <a:latin typeface="Consolas" pitchFamily="34" charset="0"/>
                <a:ea typeface="Consolas" pitchFamily="34" charset="-122"/>
                <a:cs typeface="Consolas" pitchFamily="34" charset="-120"/>
              </a:rPr>
              <a:t>KL(π_old || π_new) = Σ π_old(a|s) · log[ π_old(a|s) / π_new(a|s) ]</a:t>
            </a:r>
            <a:endParaRPr lang="en-US" sz="1200" dirty="0"/>
          </a:p>
        </p:txBody>
      </p:sp>
      <p:sp>
        <p:nvSpPr>
          <p:cNvPr id="9" name="Shape 7"/>
          <p:cNvSpPr/>
          <p:nvPr/>
        </p:nvSpPr>
        <p:spPr>
          <a:xfrm>
            <a:off x="320040" y="2176272"/>
            <a:ext cx="2697480" cy="118872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10" name="Shape 8"/>
          <p:cNvSpPr/>
          <p:nvPr/>
        </p:nvSpPr>
        <p:spPr>
          <a:xfrm>
            <a:off x="320040" y="2176272"/>
            <a:ext cx="54864" cy="1188720"/>
          </a:xfrm>
          <a:prstGeom prst="rect">
            <a:avLst/>
          </a:prstGeom>
          <a:solidFill>
            <a:srgbClr val="7ED348"/>
          </a:solidFill>
          <a:ln w="12700">
            <a:solidFill>
              <a:srgbClr val="7ED348"/>
            </a:solidFill>
            <a:prstDash val="solid"/>
          </a:ln>
        </p:spPr>
        <p:txBody>
          <a:bodyPr/>
          <a:lstStyle/>
          <a:p>
            <a:endParaRPr lang="LID4096"/>
          </a:p>
        </p:txBody>
      </p:sp>
      <p:sp>
        <p:nvSpPr>
          <p:cNvPr id="11" name="Text 9"/>
          <p:cNvSpPr/>
          <p:nvPr/>
        </p:nvSpPr>
        <p:spPr>
          <a:xfrm>
            <a:off x="438912" y="2249424"/>
            <a:ext cx="2532888" cy="274320"/>
          </a:xfrm>
          <a:prstGeom prst="rect">
            <a:avLst/>
          </a:prstGeom>
          <a:noFill/>
          <a:ln/>
        </p:spPr>
        <p:txBody>
          <a:bodyPr wrap="square" lIns="0" tIns="0" rIns="0" bIns="0" rtlCol="0" anchor="ctr"/>
          <a:lstStyle/>
          <a:p>
            <a:pPr marL="0" indent="0" algn="l">
              <a:buNone/>
            </a:pPr>
            <a:r>
              <a:rPr lang="en-US" sz="1000" b="1" dirty="0">
                <a:solidFill>
                  <a:srgbClr val="7ED348"/>
                </a:solidFill>
                <a:latin typeface="Trebuchet MS" pitchFamily="34" charset="0"/>
                <a:ea typeface="Trebuchet MS" pitchFamily="34" charset="-122"/>
                <a:cs typeface="Trebuchet MS" pitchFamily="34" charset="-120"/>
              </a:rPr>
              <a:t>🛡  STABILITY GUARDRAIL</a:t>
            </a:r>
            <a:endParaRPr lang="en-US" sz="1000" dirty="0"/>
          </a:p>
        </p:txBody>
      </p:sp>
      <p:sp>
        <p:nvSpPr>
          <p:cNvPr id="12" name="Text 10"/>
          <p:cNvSpPr/>
          <p:nvPr/>
        </p:nvSpPr>
        <p:spPr>
          <a:xfrm>
            <a:off x="438912" y="2523744"/>
            <a:ext cx="2514600" cy="777240"/>
          </a:xfrm>
          <a:prstGeom prst="rect">
            <a:avLst/>
          </a:prstGeom>
          <a:noFill/>
          <a:ln/>
        </p:spPr>
        <p:txBody>
          <a:bodyPr wrap="square" rtlCol="0" anchor="t"/>
          <a:lstStyle/>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Prevents catastrophic forgetting of learned horde tactics</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Critical when training spans thousands of episodes</a:t>
            </a:r>
            <a:endParaRPr lang="en-US" sz="950" dirty="0"/>
          </a:p>
        </p:txBody>
      </p:sp>
      <p:sp>
        <p:nvSpPr>
          <p:cNvPr id="13" name="Shape 11"/>
          <p:cNvSpPr/>
          <p:nvPr/>
        </p:nvSpPr>
        <p:spPr>
          <a:xfrm>
            <a:off x="320040" y="3429000"/>
            <a:ext cx="2697480" cy="1097280"/>
          </a:xfrm>
          <a:prstGeom prst="rect">
            <a:avLst/>
          </a:prstGeom>
          <a:solidFill>
            <a:srgbClr val="152C19"/>
          </a:solidFill>
          <a:ln w="12700">
            <a:solidFill>
              <a:srgbClr val="1A3A1E"/>
            </a:solidFill>
            <a:prstDash val="solid"/>
          </a:ln>
          <a:effectLst>
            <a:outerShdw blurRad="101600" dist="38100" dir="8100000" algn="bl" rotWithShape="0">
              <a:srgbClr val="000000">
                <a:alpha val="40000"/>
              </a:srgbClr>
            </a:outerShdw>
          </a:effectLst>
        </p:spPr>
        <p:txBody>
          <a:bodyPr/>
          <a:lstStyle/>
          <a:p>
            <a:endParaRPr lang="LID4096"/>
          </a:p>
        </p:txBody>
      </p:sp>
      <p:sp>
        <p:nvSpPr>
          <p:cNvPr id="14" name="Shape 12"/>
          <p:cNvSpPr/>
          <p:nvPr/>
        </p:nvSpPr>
        <p:spPr>
          <a:xfrm>
            <a:off x="320040" y="3429000"/>
            <a:ext cx="54864" cy="1097280"/>
          </a:xfrm>
          <a:prstGeom prst="rect">
            <a:avLst/>
          </a:prstGeom>
          <a:solidFill>
            <a:srgbClr val="E8A020"/>
          </a:solidFill>
          <a:ln w="12700">
            <a:solidFill>
              <a:srgbClr val="E8A020"/>
            </a:solidFill>
            <a:prstDash val="solid"/>
          </a:ln>
        </p:spPr>
        <p:txBody>
          <a:bodyPr/>
          <a:lstStyle/>
          <a:p>
            <a:endParaRPr lang="LID4096"/>
          </a:p>
        </p:txBody>
      </p:sp>
      <p:sp>
        <p:nvSpPr>
          <p:cNvPr id="15" name="Text 13"/>
          <p:cNvSpPr/>
          <p:nvPr/>
        </p:nvSpPr>
        <p:spPr>
          <a:xfrm>
            <a:off x="438912" y="3502152"/>
            <a:ext cx="2532888" cy="274320"/>
          </a:xfrm>
          <a:prstGeom prst="rect">
            <a:avLst/>
          </a:prstGeom>
          <a:noFill/>
          <a:ln/>
        </p:spPr>
        <p:txBody>
          <a:bodyPr wrap="square" lIns="0" tIns="0" rIns="0" bIns="0" rtlCol="0" anchor="ctr"/>
          <a:lstStyle/>
          <a:p>
            <a:pPr marL="0" indent="0" algn="l">
              <a:buNone/>
            </a:pPr>
            <a:r>
              <a:rPr lang="en-US" sz="1000" b="1" dirty="0">
                <a:solidFill>
                  <a:srgbClr val="E8A020"/>
                </a:solidFill>
                <a:latin typeface="Trebuchet MS" pitchFamily="34" charset="0"/>
                <a:ea typeface="Trebuchet MS" pitchFamily="34" charset="-122"/>
                <a:cs typeface="Trebuchet MS" pitchFamily="34" charset="-120"/>
              </a:rPr>
              <a:t>⚖  EXPLORATION vs EXPLOITATION</a:t>
            </a:r>
            <a:endParaRPr lang="en-US" sz="1000" dirty="0"/>
          </a:p>
        </p:txBody>
      </p:sp>
      <p:sp>
        <p:nvSpPr>
          <p:cNvPr id="16" name="Text 14"/>
          <p:cNvSpPr/>
          <p:nvPr/>
        </p:nvSpPr>
        <p:spPr>
          <a:xfrm>
            <a:off x="438912" y="3776472"/>
            <a:ext cx="2514600" cy="685800"/>
          </a:xfrm>
          <a:prstGeom prst="rect">
            <a:avLst/>
          </a:prstGeom>
          <a:noFill/>
          <a:ln/>
        </p:spPr>
        <p:txBody>
          <a:bodyPr wrap="square" rtlCol="0" anchor="t"/>
          <a:lstStyle/>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KL penalty discourages drastic policy changes</a:t>
            </a:r>
            <a:endParaRPr lang="en-US" sz="950" dirty="0"/>
          </a:p>
          <a:p>
            <a:pPr marL="342900" indent="-342900" algn="l">
              <a:buSzPct val="100000"/>
              <a:buChar char="•"/>
            </a:pPr>
            <a:r>
              <a:rPr lang="en-US" sz="950" dirty="0">
                <a:solidFill>
                  <a:srgbClr val="E8F5E0"/>
                </a:solidFill>
                <a:latin typeface="Calibri" pitchFamily="34" charset="0"/>
                <a:ea typeface="Calibri" pitchFamily="34" charset="-122"/>
                <a:cs typeface="Calibri" pitchFamily="34" charset="-120"/>
              </a:rPr>
              <a:t>Too large a penalty stifles exploration of new tactics</a:t>
            </a:r>
            <a:endParaRPr lang="en-US" sz="950" dirty="0"/>
          </a:p>
        </p:txBody>
      </p:sp>
      <p:sp>
        <p:nvSpPr>
          <p:cNvPr id="19" name="Text 17"/>
          <p:cNvSpPr/>
          <p:nvPr/>
        </p:nvSpPr>
        <p:spPr>
          <a:xfrm>
            <a:off x="438912" y="4645152"/>
            <a:ext cx="2532888" cy="274320"/>
          </a:xfrm>
          <a:prstGeom prst="rect">
            <a:avLst/>
          </a:prstGeom>
          <a:noFill/>
          <a:ln/>
        </p:spPr>
        <p:txBody>
          <a:bodyPr wrap="square" lIns="0" tIns="0" rIns="0" bIns="0" rtlCol="0" anchor="ctr"/>
          <a:lstStyle/>
          <a:p>
            <a:pPr marL="0" indent="0" algn="l">
              <a:buNone/>
            </a:pPr>
            <a:endParaRPr lang="en-US" sz="1000" dirty="0"/>
          </a:p>
        </p:txBody>
      </p:sp>
      <p:sp>
        <p:nvSpPr>
          <p:cNvPr id="20" name="Shape 18"/>
          <p:cNvSpPr/>
          <p:nvPr/>
        </p:nvSpPr>
        <p:spPr>
          <a:xfrm>
            <a:off x="3246120" y="2176272"/>
            <a:ext cx="5577840" cy="566928"/>
          </a:xfrm>
          <a:prstGeom prst="rect">
            <a:avLst/>
          </a:prstGeom>
          <a:solidFill>
            <a:srgbClr val="152C19"/>
          </a:solidFill>
          <a:ln w="12700">
            <a:solidFill>
              <a:srgbClr val="8BB87A"/>
            </a:solidFill>
            <a:prstDash val="solid"/>
          </a:ln>
        </p:spPr>
        <p:txBody>
          <a:bodyPr/>
          <a:lstStyle/>
          <a:p>
            <a:endParaRPr lang="LID4096"/>
          </a:p>
        </p:txBody>
      </p:sp>
      <p:sp>
        <p:nvSpPr>
          <p:cNvPr id="21" name="Text 19"/>
          <p:cNvSpPr/>
          <p:nvPr/>
        </p:nvSpPr>
        <p:spPr>
          <a:xfrm>
            <a:off x="3383280" y="2194560"/>
            <a:ext cx="1371600" cy="530352"/>
          </a:xfrm>
          <a:prstGeom prst="rect">
            <a:avLst/>
          </a:prstGeom>
          <a:noFill/>
          <a:ln/>
        </p:spPr>
        <p:txBody>
          <a:bodyPr wrap="square" lIns="0" tIns="0" rIns="0" bIns="0" rtlCol="0" anchor="ctr"/>
          <a:lstStyle/>
          <a:p>
            <a:pPr marL="0" indent="0">
              <a:buNone/>
            </a:pPr>
            <a:r>
              <a:rPr lang="en-US" sz="1050" b="1" dirty="0">
                <a:solidFill>
                  <a:srgbClr val="8BB87A"/>
                </a:solidFill>
                <a:latin typeface="Consolas" pitchFamily="34" charset="0"/>
                <a:ea typeface="Consolas" pitchFamily="34" charset="-122"/>
                <a:cs typeface="Consolas" pitchFamily="34" charset="-120"/>
              </a:rPr>
              <a:t>KL = 0</a:t>
            </a:r>
            <a:endParaRPr lang="en-US" sz="1050" dirty="0"/>
          </a:p>
        </p:txBody>
      </p:sp>
      <p:sp>
        <p:nvSpPr>
          <p:cNvPr id="22" name="Text 20"/>
          <p:cNvSpPr/>
          <p:nvPr/>
        </p:nvSpPr>
        <p:spPr>
          <a:xfrm>
            <a:off x="4846320" y="2194560"/>
            <a:ext cx="3840480" cy="530352"/>
          </a:xfrm>
          <a:prstGeom prst="rect">
            <a:avLst/>
          </a:prstGeom>
          <a:noFill/>
          <a:ln/>
        </p:spPr>
        <p:txBody>
          <a:bodyPr wrap="square" lIns="0" tIns="0" rIns="0" bIns="0" rtlCol="0" anchor="ctr"/>
          <a:lstStyle/>
          <a:p>
            <a:pPr marL="0" indent="0">
              <a:buNone/>
            </a:pPr>
            <a:r>
              <a:rPr lang="en-US" sz="1050" dirty="0">
                <a:solidFill>
                  <a:srgbClr val="E8F5E0"/>
                </a:solidFill>
                <a:latin typeface="Calibri" pitchFamily="34" charset="0"/>
                <a:ea typeface="Calibri" pitchFamily="34" charset="-122"/>
                <a:cs typeface="Calibri" pitchFamily="34" charset="-120"/>
              </a:rPr>
              <a:t>Policies identical, no update</a:t>
            </a:r>
            <a:endParaRPr lang="en-US" sz="1050" dirty="0"/>
          </a:p>
        </p:txBody>
      </p:sp>
      <p:sp>
        <p:nvSpPr>
          <p:cNvPr id="23" name="Shape 21"/>
          <p:cNvSpPr/>
          <p:nvPr/>
        </p:nvSpPr>
        <p:spPr>
          <a:xfrm>
            <a:off x="3246120" y="2834640"/>
            <a:ext cx="5577840" cy="566928"/>
          </a:xfrm>
          <a:prstGeom prst="rect">
            <a:avLst/>
          </a:prstGeom>
          <a:solidFill>
            <a:srgbClr val="152C19"/>
          </a:solidFill>
          <a:ln w="12700">
            <a:solidFill>
              <a:srgbClr val="7ED348"/>
            </a:solidFill>
            <a:prstDash val="solid"/>
          </a:ln>
        </p:spPr>
        <p:txBody>
          <a:bodyPr/>
          <a:lstStyle/>
          <a:p>
            <a:endParaRPr lang="LID4096"/>
          </a:p>
        </p:txBody>
      </p:sp>
      <p:sp>
        <p:nvSpPr>
          <p:cNvPr id="24" name="Text 22"/>
          <p:cNvSpPr/>
          <p:nvPr/>
        </p:nvSpPr>
        <p:spPr>
          <a:xfrm>
            <a:off x="3383280" y="2852928"/>
            <a:ext cx="1371600" cy="530352"/>
          </a:xfrm>
          <a:prstGeom prst="rect">
            <a:avLst/>
          </a:prstGeom>
          <a:noFill/>
          <a:ln/>
        </p:spPr>
        <p:txBody>
          <a:bodyPr wrap="square" lIns="0" tIns="0" rIns="0" bIns="0" rtlCol="0" anchor="ctr"/>
          <a:lstStyle/>
          <a:p>
            <a:pPr marL="0" indent="0">
              <a:buNone/>
            </a:pPr>
            <a:r>
              <a:rPr lang="en-US" sz="1050" b="1" dirty="0">
                <a:solidFill>
                  <a:srgbClr val="7ED348"/>
                </a:solidFill>
                <a:latin typeface="Consolas" pitchFamily="34" charset="0"/>
                <a:ea typeface="Consolas" pitchFamily="34" charset="-122"/>
                <a:cs typeface="Consolas" pitchFamily="34" charset="-120"/>
              </a:rPr>
              <a:t>KL small</a:t>
            </a:r>
            <a:endParaRPr lang="en-US" sz="1050" dirty="0"/>
          </a:p>
        </p:txBody>
      </p:sp>
      <p:sp>
        <p:nvSpPr>
          <p:cNvPr id="25" name="Text 23"/>
          <p:cNvSpPr/>
          <p:nvPr/>
        </p:nvSpPr>
        <p:spPr>
          <a:xfrm>
            <a:off x="4846320" y="2852928"/>
            <a:ext cx="3840480" cy="530352"/>
          </a:xfrm>
          <a:prstGeom prst="rect">
            <a:avLst/>
          </a:prstGeom>
          <a:noFill/>
          <a:ln/>
        </p:spPr>
        <p:txBody>
          <a:bodyPr wrap="square" lIns="0" tIns="0" rIns="0" bIns="0" rtlCol="0" anchor="ctr"/>
          <a:lstStyle/>
          <a:p>
            <a:pPr marL="0" indent="0">
              <a:buNone/>
            </a:pPr>
            <a:r>
              <a:rPr lang="en-US" sz="1050" dirty="0">
                <a:solidFill>
                  <a:srgbClr val="E8F5E0"/>
                </a:solidFill>
                <a:latin typeface="Calibri" pitchFamily="34" charset="0"/>
                <a:ea typeface="Calibri" pitchFamily="34" charset="-122"/>
                <a:cs typeface="Calibri" pitchFamily="34" charset="-120"/>
              </a:rPr>
              <a:t>Safe, conservative update</a:t>
            </a:r>
            <a:endParaRPr lang="en-US" sz="1050" dirty="0"/>
          </a:p>
        </p:txBody>
      </p:sp>
      <p:sp>
        <p:nvSpPr>
          <p:cNvPr id="26" name="Shape 24"/>
          <p:cNvSpPr/>
          <p:nvPr/>
        </p:nvSpPr>
        <p:spPr>
          <a:xfrm>
            <a:off x="3246120" y="3493008"/>
            <a:ext cx="5577840" cy="566928"/>
          </a:xfrm>
          <a:prstGeom prst="rect">
            <a:avLst/>
          </a:prstGeom>
          <a:solidFill>
            <a:srgbClr val="152C19"/>
          </a:solidFill>
          <a:ln w="12700">
            <a:solidFill>
              <a:srgbClr val="C0392B"/>
            </a:solidFill>
            <a:prstDash val="solid"/>
          </a:ln>
        </p:spPr>
        <p:txBody>
          <a:bodyPr/>
          <a:lstStyle/>
          <a:p>
            <a:endParaRPr lang="LID4096"/>
          </a:p>
        </p:txBody>
      </p:sp>
      <p:sp>
        <p:nvSpPr>
          <p:cNvPr id="27" name="Text 25"/>
          <p:cNvSpPr/>
          <p:nvPr/>
        </p:nvSpPr>
        <p:spPr>
          <a:xfrm>
            <a:off x="3383280" y="3511296"/>
            <a:ext cx="1371600" cy="530352"/>
          </a:xfrm>
          <a:prstGeom prst="rect">
            <a:avLst/>
          </a:prstGeom>
          <a:noFill/>
          <a:ln/>
        </p:spPr>
        <p:txBody>
          <a:bodyPr wrap="square" lIns="0" tIns="0" rIns="0" bIns="0" rtlCol="0" anchor="ctr"/>
          <a:lstStyle/>
          <a:p>
            <a:pPr marL="0" indent="0">
              <a:buNone/>
            </a:pPr>
            <a:r>
              <a:rPr lang="en-US" sz="1050" b="1" dirty="0">
                <a:solidFill>
                  <a:srgbClr val="C0392B"/>
                </a:solidFill>
                <a:latin typeface="Consolas" pitchFamily="34" charset="0"/>
                <a:ea typeface="Consolas" pitchFamily="34" charset="-122"/>
                <a:cs typeface="Consolas" pitchFamily="34" charset="-120"/>
              </a:rPr>
              <a:t>KL large</a:t>
            </a:r>
            <a:endParaRPr lang="en-US" sz="1050" dirty="0"/>
          </a:p>
        </p:txBody>
      </p:sp>
      <p:sp>
        <p:nvSpPr>
          <p:cNvPr id="28" name="Text 26"/>
          <p:cNvSpPr/>
          <p:nvPr/>
        </p:nvSpPr>
        <p:spPr>
          <a:xfrm>
            <a:off x="4846320" y="3511296"/>
            <a:ext cx="3840480" cy="530352"/>
          </a:xfrm>
          <a:prstGeom prst="rect">
            <a:avLst/>
          </a:prstGeom>
          <a:noFill/>
          <a:ln/>
        </p:spPr>
        <p:txBody>
          <a:bodyPr wrap="square" lIns="0" tIns="0" rIns="0" bIns="0" rtlCol="0" anchor="ctr"/>
          <a:lstStyle/>
          <a:p>
            <a:pPr marL="0" indent="0">
              <a:buNone/>
            </a:pPr>
            <a:r>
              <a:rPr lang="en-US" sz="1050" dirty="0">
                <a:solidFill>
                  <a:srgbClr val="E8F5E0"/>
                </a:solidFill>
                <a:latin typeface="Calibri" pitchFamily="34" charset="0"/>
                <a:ea typeface="Calibri" pitchFamily="34" charset="-122"/>
                <a:cs typeface="Calibri" pitchFamily="34" charset="-120"/>
              </a:rPr>
              <a:t>Dangerous! Performance may collapse</a:t>
            </a:r>
            <a:endParaRPr lang="en-US" sz="1050" dirty="0"/>
          </a:p>
        </p:txBody>
      </p:sp>
      <p:sp>
        <p:nvSpPr>
          <p:cNvPr id="29" name="Shape 27"/>
          <p:cNvSpPr/>
          <p:nvPr/>
        </p:nvSpPr>
        <p:spPr>
          <a:xfrm>
            <a:off x="3246120" y="4151376"/>
            <a:ext cx="5577840" cy="566928"/>
          </a:xfrm>
          <a:prstGeom prst="rect">
            <a:avLst/>
          </a:prstGeom>
          <a:solidFill>
            <a:srgbClr val="152C19"/>
          </a:solidFill>
          <a:ln w="12700">
            <a:solidFill>
              <a:srgbClr val="E8A020"/>
            </a:solidFill>
            <a:prstDash val="solid"/>
          </a:ln>
        </p:spPr>
        <p:txBody>
          <a:bodyPr/>
          <a:lstStyle/>
          <a:p>
            <a:endParaRPr lang="LID4096"/>
          </a:p>
        </p:txBody>
      </p:sp>
      <p:sp>
        <p:nvSpPr>
          <p:cNvPr id="30" name="Text 28"/>
          <p:cNvSpPr/>
          <p:nvPr/>
        </p:nvSpPr>
        <p:spPr>
          <a:xfrm>
            <a:off x="3383280" y="4169664"/>
            <a:ext cx="1371600" cy="530352"/>
          </a:xfrm>
          <a:prstGeom prst="rect">
            <a:avLst/>
          </a:prstGeom>
          <a:noFill/>
          <a:ln/>
        </p:spPr>
        <p:txBody>
          <a:bodyPr wrap="square" lIns="0" tIns="0" rIns="0" bIns="0" rtlCol="0" anchor="ctr"/>
          <a:lstStyle/>
          <a:p>
            <a:pPr marL="0" indent="0">
              <a:buNone/>
            </a:pPr>
            <a:r>
              <a:rPr lang="en-US" sz="1050" b="1" dirty="0">
                <a:solidFill>
                  <a:srgbClr val="E8A020"/>
                </a:solidFill>
                <a:latin typeface="Consolas" pitchFamily="34" charset="0"/>
                <a:ea typeface="Consolas" pitchFamily="34" charset="-122"/>
                <a:cs typeface="Consolas" pitchFamily="34" charset="-120"/>
              </a:rPr>
              <a:t>Asymmetric</a:t>
            </a:r>
            <a:endParaRPr lang="en-US" sz="1050" dirty="0"/>
          </a:p>
        </p:txBody>
      </p:sp>
      <p:sp>
        <p:nvSpPr>
          <p:cNvPr id="31" name="Text 29"/>
          <p:cNvSpPr/>
          <p:nvPr/>
        </p:nvSpPr>
        <p:spPr>
          <a:xfrm>
            <a:off x="4846320" y="4169664"/>
            <a:ext cx="3840480" cy="530352"/>
          </a:xfrm>
          <a:prstGeom prst="rect">
            <a:avLst/>
          </a:prstGeom>
          <a:noFill/>
          <a:ln/>
        </p:spPr>
        <p:txBody>
          <a:bodyPr wrap="square" lIns="0" tIns="0" rIns="0" bIns="0" rtlCol="0" anchor="ctr"/>
          <a:lstStyle/>
          <a:p>
            <a:pPr marL="0" indent="0">
              <a:buNone/>
            </a:pPr>
            <a:r>
              <a:rPr lang="en-US" sz="1050" dirty="0">
                <a:solidFill>
                  <a:srgbClr val="E8F5E0"/>
                </a:solidFill>
                <a:latin typeface="Calibri" pitchFamily="34" charset="0"/>
                <a:ea typeface="Calibri" pitchFamily="34" charset="-122"/>
                <a:cs typeface="Calibri" pitchFamily="34" charset="-120"/>
              </a:rPr>
              <a:t>KL(P||Q) ≠ KL(Q||P)</a:t>
            </a:r>
            <a:endParaRPr lang="en-US" sz="1050" dirty="0"/>
          </a:p>
        </p:txBody>
      </p:sp>
      <p:sp>
        <p:nvSpPr>
          <p:cNvPr id="32" name="Shape 30"/>
          <p:cNvSpPr/>
          <p:nvPr/>
        </p:nvSpPr>
        <p:spPr>
          <a:xfrm>
            <a:off x="3246120" y="4041648"/>
            <a:ext cx="5577840" cy="777240"/>
          </a:xfrm>
          <a:prstGeom prst="rect">
            <a:avLst/>
          </a:prstGeom>
          <a:solidFill>
            <a:srgbClr val="152C19"/>
          </a:solidFill>
          <a:ln w="12700">
            <a:solidFill>
              <a:srgbClr val="1A3A1E"/>
            </a:solidFill>
            <a:prstDash val="solid"/>
          </a:ln>
        </p:spPr>
        <p:txBody>
          <a:bodyPr/>
          <a:lstStyle/>
          <a:p>
            <a:endParaRPr lang="LID4096" dirty="0"/>
          </a:p>
        </p:txBody>
      </p:sp>
      <p:sp>
        <p:nvSpPr>
          <p:cNvPr id="33" name="Text 31"/>
          <p:cNvSpPr/>
          <p:nvPr/>
        </p:nvSpPr>
        <p:spPr>
          <a:xfrm>
            <a:off x="3383280" y="4078224"/>
            <a:ext cx="5303520" cy="256032"/>
          </a:xfrm>
          <a:prstGeom prst="rect">
            <a:avLst/>
          </a:prstGeom>
          <a:noFill/>
          <a:ln/>
        </p:spPr>
        <p:txBody>
          <a:bodyPr wrap="square" lIns="0" tIns="0" rIns="0" bIns="0" rtlCol="0" anchor="ctr"/>
          <a:lstStyle/>
          <a:p>
            <a:pPr marL="0" indent="0">
              <a:buNone/>
            </a:pPr>
            <a:r>
              <a:rPr lang="en-US" sz="950" dirty="0">
                <a:solidFill>
                  <a:srgbClr val="8BB87A"/>
                </a:solidFill>
                <a:latin typeface="Calibri" pitchFamily="34" charset="0"/>
                <a:ea typeface="Calibri" pitchFamily="34" charset="-122"/>
                <a:cs typeface="Calibri" pitchFamily="34" charset="-120"/>
              </a:rPr>
              <a:t>TRPO:  Hard constraint  KL ≤ δ  (2nd-order opt.)</a:t>
            </a:r>
            <a:endParaRPr lang="en-US" sz="950" dirty="0"/>
          </a:p>
        </p:txBody>
      </p:sp>
      <p:sp>
        <p:nvSpPr>
          <p:cNvPr id="34" name="Text 32"/>
          <p:cNvSpPr/>
          <p:nvPr/>
        </p:nvSpPr>
        <p:spPr>
          <a:xfrm>
            <a:off x="3383280" y="4325112"/>
            <a:ext cx="5303520" cy="256032"/>
          </a:xfrm>
          <a:prstGeom prst="rect">
            <a:avLst/>
          </a:prstGeom>
          <a:noFill/>
          <a:ln/>
        </p:spPr>
        <p:txBody>
          <a:bodyPr wrap="square" lIns="0" tIns="0" rIns="0" bIns="0" rtlCol="0" anchor="ctr"/>
          <a:lstStyle/>
          <a:p>
            <a:pPr marL="0" indent="0">
              <a:buNone/>
            </a:pPr>
            <a:r>
              <a:rPr lang="en-US" sz="950" dirty="0">
                <a:solidFill>
                  <a:srgbClr val="7ED348"/>
                </a:solidFill>
                <a:latin typeface="Calibri" pitchFamily="34" charset="0"/>
                <a:ea typeface="Calibri" pitchFamily="34" charset="-122"/>
                <a:cs typeface="Calibri" pitchFamily="34" charset="-120"/>
              </a:rPr>
              <a:t>PPO:    Soft constraint  Clipped ratio  (1st-order opt.)</a:t>
            </a:r>
            <a:endParaRPr lang="en-US" sz="950" dirty="0"/>
          </a:p>
        </p:txBody>
      </p:sp>
      <p:sp>
        <p:nvSpPr>
          <p:cNvPr id="35" name="Shape 33"/>
          <p:cNvSpPr/>
          <p:nvPr/>
        </p:nvSpPr>
        <p:spPr>
          <a:xfrm>
            <a:off x="0" y="4800600"/>
            <a:ext cx="9144000" cy="342900"/>
          </a:xfrm>
          <a:prstGeom prst="rect">
            <a:avLst/>
          </a:prstGeom>
          <a:solidFill>
            <a:srgbClr val="1A3A1E"/>
          </a:solidFill>
          <a:ln w="12700">
            <a:solidFill>
              <a:srgbClr val="7ED348"/>
            </a:solidFill>
            <a:prstDash val="solid"/>
          </a:ln>
        </p:spPr>
        <p:txBody>
          <a:bodyPr/>
          <a:lstStyle/>
          <a:p>
            <a:endParaRPr lang="LID4096"/>
          </a:p>
        </p:txBody>
      </p:sp>
      <p:sp>
        <p:nvSpPr>
          <p:cNvPr id="36" name="Text 34"/>
          <p:cNvSpPr/>
          <p:nvPr/>
        </p:nvSpPr>
        <p:spPr>
          <a:xfrm>
            <a:off x="182880" y="4818888"/>
            <a:ext cx="5486400" cy="292608"/>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Horde Survival Game, Deep RL</a:t>
            </a:r>
            <a:endParaRPr lang="en-US" sz="900" dirty="0"/>
          </a:p>
        </p:txBody>
      </p:sp>
      <p:sp>
        <p:nvSpPr>
          <p:cNvPr id="37" name="Text 35"/>
          <p:cNvSpPr/>
          <p:nvPr/>
        </p:nvSpPr>
        <p:spPr>
          <a:xfrm>
            <a:off x="3657600" y="4818888"/>
            <a:ext cx="5303520" cy="292608"/>
          </a:xfrm>
          <a:prstGeom prst="rect">
            <a:avLst/>
          </a:prstGeom>
          <a:noFill/>
          <a:ln/>
        </p:spPr>
        <p:txBody>
          <a:bodyPr wrap="square" lIns="0" tIns="0" rIns="0" bIns="0" rtlCol="0" anchor="ctr"/>
          <a:lstStyle/>
          <a:p>
            <a:pPr marL="0" indent="0" algn="r">
              <a:buNone/>
            </a:pPr>
            <a:r>
              <a:rPr lang="en-US" sz="900" dirty="0">
                <a:solidFill>
                  <a:srgbClr val="7ED348"/>
                </a:solidFill>
                <a:latin typeface="Calibri" pitchFamily="34" charset="0"/>
                <a:ea typeface="Calibri" pitchFamily="34" charset="-122"/>
                <a:cs typeface="Calibri" pitchFamily="34" charset="-120"/>
              </a:rPr>
              <a:t>KL Divergence Penalty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1E"/>
          </a:solidFill>
          <a:ln w="12700">
            <a:solidFill>
              <a:srgbClr val="1A3A1E"/>
            </a:solidFill>
            <a:prstDash val="solid"/>
          </a:ln>
        </p:spPr>
        <p:txBody>
          <a:bodyPr/>
          <a:lstStyle/>
          <a:p>
            <a:endParaRPr lang="LID4096"/>
          </a:p>
        </p:txBody>
      </p:sp>
      <p:sp>
        <p:nvSpPr>
          <p:cNvPr id="3" name="Text 1"/>
          <p:cNvSpPr/>
          <p:nvPr/>
        </p:nvSpPr>
        <p:spPr>
          <a:xfrm>
            <a:off x="457200" y="109728"/>
            <a:ext cx="8229600" cy="438912"/>
          </a:xfrm>
          <a:prstGeom prst="rect">
            <a:avLst/>
          </a:prstGeom>
          <a:noFill/>
          <a:ln/>
        </p:spPr>
        <p:txBody>
          <a:bodyPr wrap="square" lIns="0" tIns="0" rIns="0" bIns="0" rtlCol="0" anchor="ctr"/>
          <a:lstStyle/>
          <a:p>
            <a:pPr marL="0" indent="0" algn="l">
              <a:buNone/>
            </a:pPr>
            <a:r>
              <a:rPr lang="en-US" sz="2600" b="1" dirty="0">
                <a:solidFill>
                  <a:srgbClr val="7ED348"/>
                </a:solidFill>
                <a:latin typeface="Trebuchet MS" pitchFamily="34" charset="0"/>
                <a:ea typeface="Trebuchet MS" pitchFamily="34" charset="-122"/>
                <a:cs typeface="Trebuchet MS" pitchFamily="34" charset="-120"/>
              </a:rPr>
              <a:t>LOSS FUNCTION COMPARISON</a:t>
            </a:r>
            <a:endParaRPr lang="en-US" sz="2600" dirty="0"/>
          </a:p>
        </p:txBody>
      </p:sp>
      <p:sp>
        <p:nvSpPr>
          <p:cNvPr id="4" name="Text 2"/>
          <p:cNvSpPr/>
          <p:nvPr/>
        </p:nvSpPr>
        <p:spPr>
          <a:xfrm>
            <a:off x="457200" y="548640"/>
            <a:ext cx="8229600" cy="256032"/>
          </a:xfrm>
          <a:prstGeom prst="rect">
            <a:avLst/>
          </a:prstGeom>
          <a:noFill/>
          <a:ln/>
        </p:spPr>
        <p:txBody>
          <a:bodyPr wrap="square" lIns="0" tIns="0" rIns="0" bIns="0" rtlCol="0" anchor="ctr"/>
          <a:lstStyle/>
          <a:p>
            <a:pPr marL="0" indent="0" algn="l">
              <a:buNone/>
            </a:pPr>
            <a:r>
              <a:rPr lang="en-US" sz="1100" dirty="0">
                <a:solidFill>
                  <a:srgbClr val="8BB87A"/>
                </a:solidFill>
                <a:latin typeface="Calibri" pitchFamily="34" charset="0"/>
                <a:ea typeface="Calibri" pitchFamily="34" charset="-122"/>
                <a:cs typeface="Calibri" pitchFamily="34" charset="-120"/>
              </a:rPr>
              <a:t>Side-by-side analysis across key dimensions</a:t>
            </a:r>
            <a:endParaRPr lang="en-US" sz="1100" dirty="0"/>
          </a:p>
        </p:txBody>
      </p:sp>
      <p:sp>
        <p:nvSpPr>
          <p:cNvPr id="5" name="Shape 3"/>
          <p:cNvSpPr/>
          <p:nvPr/>
        </p:nvSpPr>
        <p:spPr>
          <a:xfrm>
            <a:off x="274320" y="987552"/>
            <a:ext cx="1828800" cy="347472"/>
          </a:xfrm>
          <a:prstGeom prst="rect">
            <a:avLst/>
          </a:prstGeom>
          <a:solidFill>
            <a:srgbClr val="1A3A1E"/>
          </a:solidFill>
          <a:ln w="12700">
            <a:solidFill>
              <a:srgbClr val="7ED348"/>
            </a:solidFill>
            <a:prstDash val="solid"/>
          </a:ln>
        </p:spPr>
        <p:txBody>
          <a:bodyPr/>
          <a:lstStyle/>
          <a:p>
            <a:endParaRPr lang="LID4096"/>
          </a:p>
        </p:txBody>
      </p:sp>
      <p:sp>
        <p:nvSpPr>
          <p:cNvPr id="6" name="Text 4"/>
          <p:cNvSpPr/>
          <p:nvPr/>
        </p:nvSpPr>
        <p:spPr>
          <a:xfrm>
            <a:off x="274320" y="987552"/>
            <a:ext cx="1828800" cy="347472"/>
          </a:xfrm>
          <a:prstGeom prst="rect">
            <a:avLst/>
          </a:prstGeom>
          <a:noFill/>
          <a:ln/>
        </p:spPr>
        <p:txBody>
          <a:bodyPr wrap="square" lIns="0" tIns="0" rIns="0" bIns="0" rtlCol="0" anchor="ctr"/>
          <a:lstStyle/>
          <a:p>
            <a:pPr marL="0" indent="0" algn="ctr">
              <a:buNone/>
            </a:pPr>
            <a:r>
              <a:rPr lang="en-US" sz="950" b="1" dirty="0">
                <a:solidFill>
                  <a:srgbClr val="7ED348"/>
                </a:solidFill>
                <a:latin typeface="Trebuchet MS" pitchFamily="34" charset="0"/>
                <a:ea typeface="Trebuchet MS" pitchFamily="34" charset="-122"/>
                <a:cs typeface="Trebuchet MS" pitchFamily="34" charset="-120"/>
              </a:rPr>
              <a:t>Loss Function</a:t>
            </a:r>
            <a:endParaRPr lang="en-US" sz="950" dirty="0"/>
          </a:p>
        </p:txBody>
      </p:sp>
      <p:sp>
        <p:nvSpPr>
          <p:cNvPr id="7" name="Shape 5"/>
          <p:cNvSpPr/>
          <p:nvPr/>
        </p:nvSpPr>
        <p:spPr>
          <a:xfrm>
            <a:off x="2103120" y="987552"/>
            <a:ext cx="1188720" cy="347472"/>
          </a:xfrm>
          <a:prstGeom prst="rect">
            <a:avLst/>
          </a:prstGeom>
          <a:solidFill>
            <a:srgbClr val="1A3A1E"/>
          </a:solidFill>
          <a:ln w="12700">
            <a:solidFill>
              <a:srgbClr val="7ED348"/>
            </a:solidFill>
            <a:prstDash val="solid"/>
          </a:ln>
        </p:spPr>
        <p:txBody>
          <a:bodyPr/>
          <a:lstStyle/>
          <a:p>
            <a:endParaRPr lang="LID4096"/>
          </a:p>
        </p:txBody>
      </p:sp>
      <p:sp>
        <p:nvSpPr>
          <p:cNvPr id="8" name="Text 6"/>
          <p:cNvSpPr/>
          <p:nvPr/>
        </p:nvSpPr>
        <p:spPr>
          <a:xfrm>
            <a:off x="2103120" y="987552"/>
            <a:ext cx="1188720" cy="347472"/>
          </a:xfrm>
          <a:prstGeom prst="rect">
            <a:avLst/>
          </a:prstGeom>
          <a:noFill/>
          <a:ln/>
        </p:spPr>
        <p:txBody>
          <a:bodyPr wrap="square" lIns="0" tIns="0" rIns="0" bIns="0" rtlCol="0" anchor="ctr"/>
          <a:lstStyle/>
          <a:p>
            <a:pPr marL="0" indent="0" algn="ctr">
              <a:buNone/>
            </a:pPr>
            <a:r>
              <a:rPr lang="en-US" sz="950" b="1" dirty="0">
                <a:solidFill>
                  <a:srgbClr val="7ED348"/>
                </a:solidFill>
                <a:latin typeface="Trebuchet MS" pitchFamily="34" charset="0"/>
                <a:ea typeface="Trebuchet MS" pitchFamily="34" charset="-122"/>
                <a:cs typeface="Trebuchet MS" pitchFamily="34" charset="-120"/>
              </a:rPr>
              <a:t>Type</a:t>
            </a:r>
            <a:endParaRPr lang="en-US" sz="950" dirty="0"/>
          </a:p>
        </p:txBody>
      </p:sp>
      <p:sp>
        <p:nvSpPr>
          <p:cNvPr id="9" name="Shape 7"/>
          <p:cNvSpPr/>
          <p:nvPr/>
        </p:nvSpPr>
        <p:spPr>
          <a:xfrm>
            <a:off x="3291840" y="987552"/>
            <a:ext cx="1280160" cy="347472"/>
          </a:xfrm>
          <a:prstGeom prst="rect">
            <a:avLst/>
          </a:prstGeom>
          <a:solidFill>
            <a:srgbClr val="1A3A1E"/>
          </a:solidFill>
          <a:ln w="12700">
            <a:solidFill>
              <a:srgbClr val="7ED348"/>
            </a:solidFill>
            <a:prstDash val="solid"/>
          </a:ln>
        </p:spPr>
        <p:txBody>
          <a:bodyPr/>
          <a:lstStyle/>
          <a:p>
            <a:endParaRPr lang="LID4096"/>
          </a:p>
        </p:txBody>
      </p:sp>
      <p:sp>
        <p:nvSpPr>
          <p:cNvPr id="10" name="Text 8"/>
          <p:cNvSpPr/>
          <p:nvPr/>
        </p:nvSpPr>
        <p:spPr>
          <a:xfrm>
            <a:off x="3291840" y="987552"/>
            <a:ext cx="1280160" cy="347472"/>
          </a:xfrm>
          <a:prstGeom prst="rect">
            <a:avLst/>
          </a:prstGeom>
          <a:noFill/>
          <a:ln/>
        </p:spPr>
        <p:txBody>
          <a:bodyPr wrap="square" lIns="0" tIns="0" rIns="0" bIns="0" rtlCol="0" anchor="ctr"/>
          <a:lstStyle/>
          <a:p>
            <a:pPr marL="0" indent="0" algn="ctr">
              <a:buNone/>
            </a:pPr>
            <a:r>
              <a:rPr lang="en-US" sz="950" b="1" dirty="0">
                <a:solidFill>
                  <a:srgbClr val="7ED348"/>
                </a:solidFill>
                <a:latin typeface="Trebuchet MS" pitchFamily="34" charset="0"/>
                <a:ea typeface="Trebuchet MS" pitchFamily="34" charset="-122"/>
                <a:cs typeface="Trebuchet MS" pitchFamily="34" charset="-120"/>
              </a:rPr>
              <a:t>Action Space</a:t>
            </a:r>
            <a:endParaRPr lang="en-US" sz="950" dirty="0"/>
          </a:p>
        </p:txBody>
      </p:sp>
      <p:sp>
        <p:nvSpPr>
          <p:cNvPr id="11" name="Shape 9"/>
          <p:cNvSpPr/>
          <p:nvPr/>
        </p:nvSpPr>
        <p:spPr>
          <a:xfrm>
            <a:off x="4572000" y="987552"/>
            <a:ext cx="1005840" cy="347472"/>
          </a:xfrm>
          <a:prstGeom prst="rect">
            <a:avLst/>
          </a:prstGeom>
          <a:solidFill>
            <a:srgbClr val="1A3A1E"/>
          </a:solidFill>
          <a:ln w="12700">
            <a:solidFill>
              <a:srgbClr val="7ED348"/>
            </a:solidFill>
            <a:prstDash val="solid"/>
          </a:ln>
        </p:spPr>
        <p:txBody>
          <a:bodyPr/>
          <a:lstStyle/>
          <a:p>
            <a:endParaRPr lang="LID4096"/>
          </a:p>
        </p:txBody>
      </p:sp>
      <p:sp>
        <p:nvSpPr>
          <p:cNvPr id="12" name="Text 10"/>
          <p:cNvSpPr/>
          <p:nvPr/>
        </p:nvSpPr>
        <p:spPr>
          <a:xfrm>
            <a:off x="4572000" y="987552"/>
            <a:ext cx="1005840" cy="347472"/>
          </a:xfrm>
          <a:prstGeom prst="rect">
            <a:avLst/>
          </a:prstGeom>
          <a:noFill/>
          <a:ln/>
        </p:spPr>
        <p:txBody>
          <a:bodyPr wrap="square" lIns="0" tIns="0" rIns="0" bIns="0" rtlCol="0" anchor="ctr"/>
          <a:lstStyle/>
          <a:p>
            <a:pPr marL="0" indent="0" algn="ctr">
              <a:buNone/>
            </a:pPr>
            <a:r>
              <a:rPr lang="en-US" sz="950" b="1" dirty="0">
                <a:solidFill>
                  <a:srgbClr val="7ED348"/>
                </a:solidFill>
                <a:latin typeface="Trebuchet MS" pitchFamily="34" charset="0"/>
                <a:ea typeface="Trebuchet MS" pitchFamily="34" charset="-122"/>
                <a:cs typeface="Trebuchet MS" pitchFamily="34" charset="-120"/>
              </a:rPr>
              <a:t>Variance</a:t>
            </a:r>
            <a:endParaRPr lang="en-US" sz="950" dirty="0"/>
          </a:p>
        </p:txBody>
      </p:sp>
      <p:sp>
        <p:nvSpPr>
          <p:cNvPr id="13" name="Shape 11"/>
          <p:cNvSpPr/>
          <p:nvPr/>
        </p:nvSpPr>
        <p:spPr>
          <a:xfrm>
            <a:off x="5577840" y="987552"/>
            <a:ext cx="1005840" cy="347472"/>
          </a:xfrm>
          <a:prstGeom prst="rect">
            <a:avLst/>
          </a:prstGeom>
          <a:solidFill>
            <a:srgbClr val="1A3A1E"/>
          </a:solidFill>
          <a:ln w="12700">
            <a:solidFill>
              <a:srgbClr val="7ED348"/>
            </a:solidFill>
            <a:prstDash val="solid"/>
          </a:ln>
        </p:spPr>
        <p:txBody>
          <a:bodyPr/>
          <a:lstStyle/>
          <a:p>
            <a:endParaRPr lang="LID4096"/>
          </a:p>
        </p:txBody>
      </p:sp>
      <p:sp>
        <p:nvSpPr>
          <p:cNvPr id="14" name="Text 12"/>
          <p:cNvSpPr/>
          <p:nvPr/>
        </p:nvSpPr>
        <p:spPr>
          <a:xfrm>
            <a:off x="5577840" y="987552"/>
            <a:ext cx="1005840" cy="347472"/>
          </a:xfrm>
          <a:prstGeom prst="rect">
            <a:avLst/>
          </a:prstGeom>
          <a:noFill/>
          <a:ln/>
        </p:spPr>
        <p:txBody>
          <a:bodyPr wrap="square" lIns="0" tIns="0" rIns="0" bIns="0" rtlCol="0" anchor="ctr"/>
          <a:lstStyle/>
          <a:p>
            <a:pPr marL="0" indent="0" algn="ctr">
              <a:buNone/>
            </a:pPr>
            <a:r>
              <a:rPr lang="en-US" sz="950" b="1" dirty="0">
                <a:solidFill>
                  <a:srgbClr val="7ED348"/>
                </a:solidFill>
                <a:latin typeface="Trebuchet MS" pitchFamily="34" charset="0"/>
                <a:ea typeface="Trebuchet MS" pitchFamily="34" charset="-122"/>
                <a:cs typeface="Trebuchet MS" pitchFamily="34" charset="-120"/>
              </a:rPr>
              <a:t>Stability</a:t>
            </a:r>
            <a:endParaRPr lang="en-US" sz="950" dirty="0"/>
          </a:p>
        </p:txBody>
      </p:sp>
      <p:sp>
        <p:nvSpPr>
          <p:cNvPr id="15" name="Shape 13"/>
          <p:cNvSpPr/>
          <p:nvPr/>
        </p:nvSpPr>
        <p:spPr>
          <a:xfrm>
            <a:off x="6583680" y="987552"/>
            <a:ext cx="2423160" cy="347472"/>
          </a:xfrm>
          <a:prstGeom prst="rect">
            <a:avLst/>
          </a:prstGeom>
          <a:solidFill>
            <a:srgbClr val="1A3A1E"/>
          </a:solidFill>
          <a:ln w="12700">
            <a:solidFill>
              <a:srgbClr val="7ED348"/>
            </a:solidFill>
            <a:prstDash val="solid"/>
          </a:ln>
        </p:spPr>
        <p:txBody>
          <a:bodyPr/>
          <a:lstStyle/>
          <a:p>
            <a:endParaRPr lang="LID4096"/>
          </a:p>
        </p:txBody>
      </p:sp>
      <p:sp>
        <p:nvSpPr>
          <p:cNvPr id="16" name="Text 14"/>
          <p:cNvSpPr/>
          <p:nvPr/>
        </p:nvSpPr>
        <p:spPr>
          <a:xfrm>
            <a:off x="6583680" y="987552"/>
            <a:ext cx="2423160" cy="347472"/>
          </a:xfrm>
          <a:prstGeom prst="rect">
            <a:avLst/>
          </a:prstGeom>
          <a:noFill/>
          <a:ln/>
        </p:spPr>
        <p:txBody>
          <a:bodyPr wrap="square" lIns="0" tIns="0" rIns="0" bIns="0" rtlCol="0" anchor="ctr"/>
          <a:lstStyle/>
          <a:p>
            <a:pPr marL="0" indent="0" algn="ctr">
              <a:buNone/>
            </a:pPr>
            <a:r>
              <a:rPr lang="en-US" sz="950" b="1" dirty="0">
                <a:solidFill>
                  <a:srgbClr val="7ED348"/>
                </a:solidFill>
                <a:latin typeface="Trebuchet MS" pitchFamily="34" charset="0"/>
                <a:ea typeface="Trebuchet MS" pitchFamily="34" charset="-122"/>
                <a:cs typeface="Trebuchet MS" pitchFamily="34" charset="-120"/>
              </a:rPr>
              <a:t>Best For</a:t>
            </a:r>
            <a:endParaRPr lang="en-US" sz="950" dirty="0"/>
          </a:p>
        </p:txBody>
      </p:sp>
      <p:sp>
        <p:nvSpPr>
          <p:cNvPr id="17" name="Shape 15"/>
          <p:cNvSpPr/>
          <p:nvPr/>
        </p:nvSpPr>
        <p:spPr>
          <a:xfrm>
            <a:off x="274320" y="1371600"/>
            <a:ext cx="1828800" cy="493776"/>
          </a:xfrm>
          <a:prstGeom prst="rect">
            <a:avLst/>
          </a:prstGeom>
          <a:solidFill>
            <a:srgbClr val="152C19"/>
          </a:solidFill>
          <a:ln w="12700">
            <a:solidFill>
              <a:srgbClr val="1A3A1E"/>
            </a:solidFill>
            <a:prstDash val="solid"/>
          </a:ln>
        </p:spPr>
        <p:txBody>
          <a:bodyPr/>
          <a:lstStyle/>
          <a:p>
            <a:endParaRPr lang="LID4096"/>
          </a:p>
        </p:txBody>
      </p:sp>
      <p:sp>
        <p:nvSpPr>
          <p:cNvPr id="18" name="Text 16"/>
          <p:cNvSpPr/>
          <p:nvPr/>
        </p:nvSpPr>
        <p:spPr>
          <a:xfrm>
            <a:off x="274320" y="1371600"/>
            <a:ext cx="1828800" cy="493776"/>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TD / Bellman</a:t>
            </a:r>
            <a:endParaRPr lang="en-US" sz="1000" dirty="0"/>
          </a:p>
        </p:txBody>
      </p:sp>
      <p:sp>
        <p:nvSpPr>
          <p:cNvPr id="19" name="Shape 17"/>
          <p:cNvSpPr/>
          <p:nvPr/>
        </p:nvSpPr>
        <p:spPr>
          <a:xfrm>
            <a:off x="2103120" y="1371600"/>
            <a:ext cx="1188720" cy="493776"/>
          </a:xfrm>
          <a:prstGeom prst="rect">
            <a:avLst/>
          </a:prstGeom>
          <a:solidFill>
            <a:srgbClr val="152C19"/>
          </a:solidFill>
          <a:ln w="12700">
            <a:solidFill>
              <a:srgbClr val="1A3A1E"/>
            </a:solidFill>
            <a:prstDash val="solid"/>
          </a:ln>
        </p:spPr>
        <p:txBody>
          <a:bodyPr/>
          <a:lstStyle/>
          <a:p>
            <a:endParaRPr lang="LID4096"/>
          </a:p>
        </p:txBody>
      </p:sp>
      <p:sp>
        <p:nvSpPr>
          <p:cNvPr id="20" name="Text 18"/>
          <p:cNvSpPr/>
          <p:nvPr/>
        </p:nvSpPr>
        <p:spPr>
          <a:xfrm>
            <a:off x="2103120" y="1371600"/>
            <a:ext cx="118872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Value-based</a:t>
            </a:r>
            <a:endParaRPr lang="en-US" sz="900" dirty="0"/>
          </a:p>
        </p:txBody>
      </p:sp>
      <p:sp>
        <p:nvSpPr>
          <p:cNvPr id="21" name="Shape 19"/>
          <p:cNvSpPr/>
          <p:nvPr/>
        </p:nvSpPr>
        <p:spPr>
          <a:xfrm>
            <a:off x="3291840" y="1371600"/>
            <a:ext cx="1280160" cy="493776"/>
          </a:xfrm>
          <a:prstGeom prst="rect">
            <a:avLst/>
          </a:prstGeom>
          <a:solidFill>
            <a:srgbClr val="152C19"/>
          </a:solidFill>
          <a:ln w="12700">
            <a:solidFill>
              <a:srgbClr val="1A3A1E"/>
            </a:solidFill>
            <a:prstDash val="solid"/>
          </a:ln>
        </p:spPr>
        <p:txBody>
          <a:bodyPr/>
          <a:lstStyle/>
          <a:p>
            <a:endParaRPr lang="LID4096"/>
          </a:p>
        </p:txBody>
      </p:sp>
      <p:sp>
        <p:nvSpPr>
          <p:cNvPr id="22" name="Text 20"/>
          <p:cNvSpPr/>
          <p:nvPr/>
        </p:nvSpPr>
        <p:spPr>
          <a:xfrm>
            <a:off x="3291840" y="1371600"/>
            <a:ext cx="128016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Discrete</a:t>
            </a:r>
            <a:endParaRPr lang="en-US" sz="900" dirty="0"/>
          </a:p>
        </p:txBody>
      </p:sp>
      <p:sp>
        <p:nvSpPr>
          <p:cNvPr id="23" name="Shape 21"/>
          <p:cNvSpPr/>
          <p:nvPr/>
        </p:nvSpPr>
        <p:spPr>
          <a:xfrm>
            <a:off x="4572000" y="1371600"/>
            <a:ext cx="1005840" cy="493776"/>
          </a:xfrm>
          <a:prstGeom prst="rect">
            <a:avLst/>
          </a:prstGeom>
          <a:solidFill>
            <a:srgbClr val="152C19"/>
          </a:solidFill>
          <a:ln w="12700">
            <a:solidFill>
              <a:srgbClr val="1A3A1E"/>
            </a:solidFill>
            <a:prstDash val="solid"/>
          </a:ln>
        </p:spPr>
        <p:txBody>
          <a:bodyPr/>
          <a:lstStyle/>
          <a:p>
            <a:endParaRPr lang="LID4096"/>
          </a:p>
        </p:txBody>
      </p:sp>
      <p:sp>
        <p:nvSpPr>
          <p:cNvPr id="24" name="Text 22"/>
          <p:cNvSpPr/>
          <p:nvPr/>
        </p:nvSpPr>
        <p:spPr>
          <a:xfrm>
            <a:off x="4572000" y="1371600"/>
            <a:ext cx="100584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Low</a:t>
            </a:r>
            <a:endParaRPr lang="en-US" sz="900" dirty="0"/>
          </a:p>
        </p:txBody>
      </p:sp>
      <p:sp>
        <p:nvSpPr>
          <p:cNvPr id="25" name="Shape 23"/>
          <p:cNvSpPr/>
          <p:nvPr/>
        </p:nvSpPr>
        <p:spPr>
          <a:xfrm>
            <a:off x="5577840" y="1371600"/>
            <a:ext cx="1005840" cy="493776"/>
          </a:xfrm>
          <a:prstGeom prst="rect">
            <a:avLst/>
          </a:prstGeom>
          <a:solidFill>
            <a:srgbClr val="152C19"/>
          </a:solidFill>
          <a:ln w="12700">
            <a:solidFill>
              <a:srgbClr val="1A3A1E"/>
            </a:solidFill>
            <a:prstDash val="solid"/>
          </a:ln>
        </p:spPr>
        <p:txBody>
          <a:bodyPr/>
          <a:lstStyle/>
          <a:p>
            <a:endParaRPr lang="LID4096"/>
          </a:p>
        </p:txBody>
      </p:sp>
      <p:sp>
        <p:nvSpPr>
          <p:cNvPr id="26" name="Text 24"/>
          <p:cNvSpPr/>
          <p:nvPr/>
        </p:nvSpPr>
        <p:spPr>
          <a:xfrm>
            <a:off x="5577840" y="1371600"/>
            <a:ext cx="100584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High</a:t>
            </a:r>
            <a:endParaRPr lang="en-US" sz="900" dirty="0"/>
          </a:p>
        </p:txBody>
      </p:sp>
      <p:sp>
        <p:nvSpPr>
          <p:cNvPr id="27" name="Shape 25"/>
          <p:cNvSpPr/>
          <p:nvPr/>
        </p:nvSpPr>
        <p:spPr>
          <a:xfrm>
            <a:off x="6583680" y="1371600"/>
            <a:ext cx="2423160" cy="493776"/>
          </a:xfrm>
          <a:prstGeom prst="rect">
            <a:avLst/>
          </a:prstGeom>
          <a:solidFill>
            <a:srgbClr val="152C19"/>
          </a:solidFill>
          <a:ln w="12700">
            <a:solidFill>
              <a:srgbClr val="1A3A1E"/>
            </a:solidFill>
            <a:prstDash val="solid"/>
          </a:ln>
        </p:spPr>
        <p:txBody>
          <a:bodyPr/>
          <a:lstStyle/>
          <a:p>
            <a:endParaRPr lang="LID4096"/>
          </a:p>
        </p:txBody>
      </p:sp>
      <p:sp>
        <p:nvSpPr>
          <p:cNvPr id="28" name="Text 26"/>
          <p:cNvSpPr/>
          <p:nvPr/>
        </p:nvSpPr>
        <p:spPr>
          <a:xfrm>
            <a:off x="6583680" y="1371600"/>
            <a:ext cx="242316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DQN horde baseline</a:t>
            </a:r>
            <a:endParaRPr lang="en-US" sz="900" dirty="0"/>
          </a:p>
        </p:txBody>
      </p:sp>
      <p:sp>
        <p:nvSpPr>
          <p:cNvPr id="29" name="Shape 27"/>
          <p:cNvSpPr/>
          <p:nvPr/>
        </p:nvSpPr>
        <p:spPr>
          <a:xfrm>
            <a:off x="274320" y="1901952"/>
            <a:ext cx="1828800" cy="493776"/>
          </a:xfrm>
          <a:prstGeom prst="rect">
            <a:avLst/>
          </a:prstGeom>
          <a:solidFill>
            <a:srgbClr val="152C19"/>
          </a:solidFill>
          <a:ln w="12700">
            <a:solidFill>
              <a:srgbClr val="1A3A1E"/>
            </a:solidFill>
            <a:prstDash val="solid"/>
          </a:ln>
        </p:spPr>
        <p:txBody>
          <a:bodyPr/>
          <a:lstStyle/>
          <a:p>
            <a:endParaRPr lang="LID4096"/>
          </a:p>
        </p:txBody>
      </p:sp>
      <p:sp>
        <p:nvSpPr>
          <p:cNvPr id="30" name="Text 28"/>
          <p:cNvSpPr/>
          <p:nvPr/>
        </p:nvSpPr>
        <p:spPr>
          <a:xfrm>
            <a:off x="274320" y="1901952"/>
            <a:ext cx="1828800" cy="493776"/>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Policy Gradient</a:t>
            </a:r>
            <a:endParaRPr lang="en-US" sz="1000" dirty="0"/>
          </a:p>
        </p:txBody>
      </p:sp>
      <p:sp>
        <p:nvSpPr>
          <p:cNvPr id="31" name="Shape 29"/>
          <p:cNvSpPr/>
          <p:nvPr/>
        </p:nvSpPr>
        <p:spPr>
          <a:xfrm>
            <a:off x="2103120" y="1901952"/>
            <a:ext cx="1188720" cy="493776"/>
          </a:xfrm>
          <a:prstGeom prst="rect">
            <a:avLst/>
          </a:prstGeom>
          <a:solidFill>
            <a:srgbClr val="152C19"/>
          </a:solidFill>
          <a:ln w="12700">
            <a:solidFill>
              <a:srgbClr val="1A3A1E"/>
            </a:solidFill>
            <a:prstDash val="solid"/>
          </a:ln>
        </p:spPr>
        <p:txBody>
          <a:bodyPr/>
          <a:lstStyle/>
          <a:p>
            <a:endParaRPr lang="LID4096"/>
          </a:p>
        </p:txBody>
      </p:sp>
      <p:sp>
        <p:nvSpPr>
          <p:cNvPr id="32" name="Text 30"/>
          <p:cNvSpPr/>
          <p:nvPr/>
        </p:nvSpPr>
        <p:spPr>
          <a:xfrm>
            <a:off x="2103120" y="1901952"/>
            <a:ext cx="118872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Policy-based</a:t>
            </a:r>
            <a:endParaRPr lang="en-US" sz="900" dirty="0"/>
          </a:p>
        </p:txBody>
      </p:sp>
      <p:sp>
        <p:nvSpPr>
          <p:cNvPr id="33" name="Shape 31"/>
          <p:cNvSpPr/>
          <p:nvPr/>
        </p:nvSpPr>
        <p:spPr>
          <a:xfrm>
            <a:off x="3291840" y="1901952"/>
            <a:ext cx="1280160" cy="493776"/>
          </a:xfrm>
          <a:prstGeom prst="rect">
            <a:avLst/>
          </a:prstGeom>
          <a:solidFill>
            <a:srgbClr val="152C19"/>
          </a:solidFill>
          <a:ln w="12700">
            <a:solidFill>
              <a:srgbClr val="1A3A1E"/>
            </a:solidFill>
            <a:prstDash val="solid"/>
          </a:ln>
        </p:spPr>
        <p:txBody>
          <a:bodyPr/>
          <a:lstStyle/>
          <a:p>
            <a:endParaRPr lang="LID4096"/>
          </a:p>
        </p:txBody>
      </p:sp>
      <p:sp>
        <p:nvSpPr>
          <p:cNvPr id="34" name="Text 32"/>
          <p:cNvSpPr/>
          <p:nvPr/>
        </p:nvSpPr>
        <p:spPr>
          <a:xfrm>
            <a:off x="3291840" y="1901952"/>
            <a:ext cx="128016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Both</a:t>
            </a:r>
            <a:endParaRPr lang="en-US" sz="900" dirty="0"/>
          </a:p>
        </p:txBody>
      </p:sp>
      <p:sp>
        <p:nvSpPr>
          <p:cNvPr id="35" name="Shape 33"/>
          <p:cNvSpPr/>
          <p:nvPr/>
        </p:nvSpPr>
        <p:spPr>
          <a:xfrm>
            <a:off x="4572000" y="1901952"/>
            <a:ext cx="1005840" cy="493776"/>
          </a:xfrm>
          <a:prstGeom prst="rect">
            <a:avLst/>
          </a:prstGeom>
          <a:solidFill>
            <a:srgbClr val="152C19"/>
          </a:solidFill>
          <a:ln w="12700">
            <a:solidFill>
              <a:srgbClr val="1A3A1E"/>
            </a:solidFill>
            <a:prstDash val="solid"/>
          </a:ln>
        </p:spPr>
        <p:txBody>
          <a:bodyPr/>
          <a:lstStyle/>
          <a:p>
            <a:endParaRPr lang="LID4096"/>
          </a:p>
        </p:txBody>
      </p:sp>
      <p:sp>
        <p:nvSpPr>
          <p:cNvPr id="36" name="Text 34"/>
          <p:cNvSpPr/>
          <p:nvPr/>
        </p:nvSpPr>
        <p:spPr>
          <a:xfrm>
            <a:off x="4572000" y="1901952"/>
            <a:ext cx="100584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Very High</a:t>
            </a:r>
            <a:endParaRPr lang="en-US" sz="900" dirty="0"/>
          </a:p>
        </p:txBody>
      </p:sp>
      <p:sp>
        <p:nvSpPr>
          <p:cNvPr id="37" name="Shape 35"/>
          <p:cNvSpPr/>
          <p:nvPr/>
        </p:nvSpPr>
        <p:spPr>
          <a:xfrm>
            <a:off x="5577840" y="1901952"/>
            <a:ext cx="1005840" cy="493776"/>
          </a:xfrm>
          <a:prstGeom prst="rect">
            <a:avLst/>
          </a:prstGeom>
          <a:solidFill>
            <a:srgbClr val="152C19"/>
          </a:solidFill>
          <a:ln w="12700">
            <a:solidFill>
              <a:srgbClr val="1A3A1E"/>
            </a:solidFill>
            <a:prstDash val="solid"/>
          </a:ln>
        </p:spPr>
        <p:txBody>
          <a:bodyPr/>
          <a:lstStyle/>
          <a:p>
            <a:endParaRPr lang="LID4096"/>
          </a:p>
        </p:txBody>
      </p:sp>
      <p:sp>
        <p:nvSpPr>
          <p:cNvPr id="38" name="Text 36"/>
          <p:cNvSpPr/>
          <p:nvPr/>
        </p:nvSpPr>
        <p:spPr>
          <a:xfrm>
            <a:off x="5577840" y="1901952"/>
            <a:ext cx="100584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Low</a:t>
            </a:r>
            <a:endParaRPr lang="en-US" sz="900" dirty="0"/>
          </a:p>
        </p:txBody>
      </p:sp>
      <p:sp>
        <p:nvSpPr>
          <p:cNvPr id="39" name="Shape 37"/>
          <p:cNvSpPr/>
          <p:nvPr/>
        </p:nvSpPr>
        <p:spPr>
          <a:xfrm>
            <a:off x="6583680" y="1901952"/>
            <a:ext cx="2423160" cy="493776"/>
          </a:xfrm>
          <a:prstGeom prst="rect">
            <a:avLst/>
          </a:prstGeom>
          <a:solidFill>
            <a:srgbClr val="152C19"/>
          </a:solidFill>
          <a:ln w="12700">
            <a:solidFill>
              <a:srgbClr val="1A3A1E"/>
            </a:solidFill>
            <a:prstDash val="solid"/>
          </a:ln>
        </p:spPr>
        <p:txBody>
          <a:bodyPr/>
          <a:lstStyle/>
          <a:p>
            <a:endParaRPr lang="LID4096"/>
          </a:p>
        </p:txBody>
      </p:sp>
      <p:sp>
        <p:nvSpPr>
          <p:cNvPr id="40" name="Text 38"/>
          <p:cNvSpPr/>
          <p:nvPr/>
        </p:nvSpPr>
        <p:spPr>
          <a:xfrm>
            <a:off x="6583680" y="1901952"/>
            <a:ext cx="242316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Simple sparse tasks</a:t>
            </a:r>
            <a:endParaRPr lang="en-US" sz="900" dirty="0"/>
          </a:p>
        </p:txBody>
      </p:sp>
      <p:sp>
        <p:nvSpPr>
          <p:cNvPr id="41" name="Shape 39"/>
          <p:cNvSpPr/>
          <p:nvPr/>
        </p:nvSpPr>
        <p:spPr>
          <a:xfrm>
            <a:off x="274320" y="2432304"/>
            <a:ext cx="1828800" cy="493776"/>
          </a:xfrm>
          <a:prstGeom prst="rect">
            <a:avLst/>
          </a:prstGeom>
          <a:solidFill>
            <a:srgbClr val="152C19"/>
          </a:solidFill>
          <a:ln w="12700">
            <a:solidFill>
              <a:srgbClr val="1A3A1E"/>
            </a:solidFill>
            <a:prstDash val="solid"/>
          </a:ln>
        </p:spPr>
        <p:txBody>
          <a:bodyPr/>
          <a:lstStyle/>
          <a:p>
            <a:endParaRPr lang="LID4096"/>
          </a:p>
        </p:txBody>
      </p:sp>
      <p:sp>
        <p:nvSpPr>
          <p:cNvPr id="42" name="Text 40"/>
          <p:cNvSpPr/>
          <p:nvPr/>
        </p:nvSpPr>
        <p:spPr>
          <a:xfrm>
            <a:off x="274320" y="2432304"/>
            <a:ext cx="1828800" cy="493776"/>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Actor-Critic</a:t>
            </a:r>
            <a:endParaRPr lang="en-US" sz="1000" dirty="0"/>
          </a:p>
        </p:txBody>
      </p:sp>
      <p:sp>
        <p:nvSpPr>
          <p:cNvPr id="43" name="Shape 41"/>
          <p:cNvSpPr/>
          <p:nvPr/>
        </p:nvSpPr>
        <p:spPr>
          <a:xfrm>
            <a:off x="2103120" y="2432304"/>
            <a:ext cx="1188720" cy="493776"/>
          </a:xfrm>
          <a:prstGeom prst="rect">
            <a:avLst/>
          </a:prstGeom>
          <a:solidFill>
            <a:srgbClr val="152C19"/>
          </a:solidFill>
          <a:ln w="12700">
            <a:solidFill>
              <a:srgbClr val="1A3A1E"/>
            </a:solidFill>
            <a:prstDash val="solid"/>
          </a:ln>
        </p:spPr>
        <p:txBody>
          <a:bodyPr/>
          <a:lstStyle/>
          <a:p>
            <a:endParaRPr lang="LID4096"/>
          </a:p>
        </p:txBody>
      </p:sp>
      <p:sp>
        <p:nvSpPr>
          <p:cNvPr id="44" name="Text 42"/>
          <p:cNvSpPr/>
          <p:nvPr/>
        </p:nvSpPr>
        <p:spPr>
          <a:xfrm>
            <a:off x="2103120" y="2432304"/>
            <a:ext cx="118872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Hybrid</a:t>
            </a:r>
            <a:endParaRPr lang="en-US" sz="900" dirty="0"/>
          </a:p>
        </p:txBody>
      </p:sp>
      <p:sp>
        <p:nvSpPr>
          <p:cNvPr id="45" name="Shape 43"/>
          <p:cNvSpPr/>
          <p:nvPr/>
        </p:nvSpPr>
        <p:spPr>
          <a:xfrm>
            <a:off x="3291840" y="2432304"/>
            <a:ext cx="1280160" cy="493776"/>
          </a:xfrm>
          <a:prstGeom prst="rect">
            <a:avLst/>
          </a:prstGeom>
          <a:solidFill>
            <a:srgbClr val="152C19"/>
          </a:solidFill>
          <a:ln w="12700">
            <a:solidFill>
              <a:srgbClr val="1A3A1E"/>
            </a:solidFill>
            <a:prstDash val="solid"/>
          </a:ln>
        </p:spPr>
        <p:txBody>
          <a:bodyPr/>
          <a:lstStyle/>
          <a:p>
            <a:endParaRPr lang="LID4096"/>
          </a:p>
        </p:txBody>
      </p:sp>
      <p:sp>
        <p:nvSpPr>
          <p:cNvPr id="46" name="Text 44"/>
          <p:cNvSpPr/>
          <p:nvPr/>
        </p:nvSpPr>
        <p:spPr>
          <a:xfrm>
            <a:off x="3291840" y="2432304"/>
            <a:ext cx="128016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Both</a:t>
            </a:r>
            <a:endParaRPr lang="en-US" sz="900" dirty="0"/>
          </a:p>
        </p:txBody>
      </p:sp>
      <p:sp>
        <p:nvSpPr>
          <p:cNvPr id="47" name="Shape 45"/>
          <p:cNvSpPr/>
          <p:nvPr/>
        </p:nvSpPr>
        <p:spPr>
          <a:xfrm>
            <a:off x="4572000" y="2432304"/>
            <a:ext cx="1005840" cy="493776"/>
          </a:xfrm>
          <a:prstGeom prst="rect">
            <a:avLst/>
          </a:prstGeom>
          <a:solidFill>
            <a:srgbClr val="152C19"/>
          </a:solidFill>
          <a:ln w="12700">
            <a:solidFill>
              <a:srgbClr val="1A3A1E"/>
            </a:solidFill>
            <a:prstDash val="solid"/>
          </a:ln>
        </p:spPr>
        <p:txBody>
          <a:bodyPr/>
          <a:lstStyle/>
          <a:p>
            <a:endParaRPr lang="LID4096"/>
          </a:p>
        </p:txBody>
      </p:sp>
      <p:sp>
        <p:nvSpPr>
          <p:cNvPr id="48" name="Text 46"/>
          <p:cNvSpPr/>
          <p:nvPr/>
        </p:nvSpPr>
        <p:spPr>
          <a:xfrm>
            <a:off x="4572000" y="2432304"/>
            <a:ext cx="100584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Medium</a:t>
            </a:r>
            <a:endParaRPr lang="en-US" sz="900" dirty="0"/>
          </a:p>
        </p:txBody>
      </p:sp>
      <p:sp>
        <p:nvSpPr>
          <p:cNvPr id="49" name="Shape 47"/>
          <p:cNvSpPr/>
          <p:nvPr/>
        </p:nvSpPr>
        <p:spPr>
          <a:xfrm>
            <a:off x="5577840" y="2432304"/>
            <a:ext cx="1005840" cy="493776"/>
          </a:xfrm>
          <a:prstGeom prst="rect">
            <a:avLst/>
          </a:prstGeom>
          <a:solidFill>
            <a:srgbClr val="152C19"/>
          </a:solidFill>
          <a:ln w="12700">
            <a:solidFill>
              <a:srgbClr val="1A3A1E"/>
            </a:solidFill>
            <a:prstDash val="solid"/>
          </a:ln>
        </p:spPr>
        <p:txBody>
          <a:bodyPr/>
          <a:lstStyle/>
          <a:p>
            <a:endParaRPr lang="LID4096"/>
          </a:p>
        </p:txBody>
      </p:sp>
      <p:sp>
        <p:nvSpPr>
          <p:cNvPr id="50" name="Text 48"/>
          <p:cNvSpPr/>
          <p:nvPr/>
        </p:nvSpPr>
        <p:spPr>
          <a:xfrm>
            <a:off x="5577840" y="2432304"/>
            <a:ext cx="100584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Medium</a:t>
            </a:r>
            <a:endParaRPr lang="en-US" sz="900" dirty="0"/>
          </a:p>
        </p:txBody>
      </p:sp>
      <p:sp>
        <p:nvSpPr>
          <p:cNvPr id="51" name="Shape 49"/>
          <p:cNvSpPr/>
          <p:nvPr/>
        </p:nvSpPr>
        <p:spPr>
          <a:xfrm>
            <a:off x="6583680" y="2432304"/>
            <a:ext cx="2423160" cy="493776"/>
          </a:xfrm>
          <a:prstGeom prst="rect">
            <a:avLst/>
          </a:prstGeom>
          <a:solidFill>
            <a:srgbClr val="152C19"/>
          </a:solidFill>
          <a:ln w="12700">
            <a:solidFill>
              <a:srgbClr val="1A3A1E"/>
            </a:solidFill>
            <a:prstDash val="solid"/>
          </a:ln>
        </p:spPr>
        <p:txBody>
          <a:bodyPr/>
          <a:lstStyle/>
          <a:p>
            <a:endParaRPr lang="LID4096"/>
          </a:p>
        </p:txBody>
      </p:sp>
      <p:sp>
        <p:nvSpPr>
          <p:cNvPr id="52" name="Text 50"/>
          <p:cNvSpPr/>
          <p:nvPr/>
        </p:nvSpPr>
        <p:spPr>
          <a:xfrm>
            <a:off x="6583680" y="2432304"/>
            <a:ext cx="242316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A2C/A3C horde agents</a:t>
            </a:r>
            <a:endParaRPr lang="en-US" sz="900" dirty="0"/>
          </a:p>
        </p:txBody>
      </p:sp>
      <p:sp>
        <p:nvSpPr>
          <p:cNvPr id="53" name="Shape 51"/>
          <p:cNvSpPr/>
          <p:nvPr/>
        </p:nvSpPr>
        <p:spPr>
          <a:xfrm>
            <a:off x="274320" y="2962656"/>
            <a:ext cx="1828800" cy="493776"/>
          </a:xfrm>
          <a:prstGeom prst="rect">
            <a:avLst/>
          </a:prstGeom>
          <a:solidFill>
            <a:srgbClr val="1E3D1E"/>
          </a:solidFill>
          <a:ln w="12700">
            <a:solidFill>
              <a:srgbClr val="7ED348"/>
            </a:solidFill>
            <a:prstDash val="solid"/>
          </a:ln>
        </p:spPr>
        <p:txBody>
          <a:bodyPr/>
          <a:lstStyle/>
          <a:p>
            <a:endParaRPr lang="LID4096"/>
          </a:p>
        </p:txBody>
      </p:sp>
      <p:sp>
        <p:nvSpPr>
          <p:cNvPr id="54" name="Text 52"/>
          <p:cNvSpPr/>
          <p:nvPr/>
        </p:nvSpPr>
        <p:spPr>
          <a:xfrm>
            <a:off x="274320" y="2962656"/>
            <a:ext cx="1828800" cy="493776"/>
          </a:xfrm>
          <a:prstGeom prst="rect">
            <a:avLst/>
          </a:prstGeom>
          <a:noFill/>
          <a:ln/>
        </p:spPr>
        <p:txBody>
          <a:bodyPr wrap="square" lIns="0" tIns="0" rIns="0" bIns="0" rtlCol="0" anchor="ctr"/>
          <a:lstStyle/>
          <a:p>
            <a:pPr marL="0" indent="0" algn="ctr">
              <a:buNone/>
            </a:pPr>
            <a:r>
              <a:rPr lang="en-US" sz="1000" b="1" dirty="0">
                <a:solidFill>
                  <a:srgbClr val="7ED348"/>
                </a:solidFill>
                <a:latin typeface="Trebuchet MS" pitchFamily="34" charset="0"/>
                <a:ea typeface="Trebuchet MS" pitchFamily="34" charset="-122"/>
                <a:cs typeface="Trebuchet MS" pitchFamily="34" charset="-120"/>
              </a:rPr>
              <a:t>PPO Loss </a:t>
            </a:r>
            <a:endParaRPr lang="en-US" sz="1000" dirty="0"/>
          </a:p>
        </p:txBody>
      </p:sp>
      <p:sp>
        <p:nvSpPr>
          <p:cNvPr id="55" name="Shape 53"/>
          <p:cNvSpPr/>
          <p:nvPr/>
        </p:nvSpPr>
        <p:spPr>
          <a:xfrm>
            <a:off x="2103120" y="2962656"/>
            <a:ext cx="1188720" cy="493776"/>
          </a:xfrm>
          <a:prstGeom prst="rect">
            <a:avLst/>
          </a:prstGeom>
          <a:solidFill>
            <a:srgbClr val="1E3D1E"/>
          </a:solidFill>
          <a:ln w="12700">
            <a:solidFill>
              <a:srgbClr val="7ED348"/>
            </a:solidFill>
            <a:prstDash val="solid"/>
          </a:ln>
        </p:spPr>
        <p:txBody>
          <a:bodyPr/>
          <a:lstStyle/>
          <a:p>
            <a:endParaRPr lang="LID4096"/>
          </a:p>
        </p:txBody>
      </p:sp>
      <p:sp>
        <p:nvSpPr>
          <p:cNvPr id="56" name="Text 54"/>
          <p:cNvSpPr/>
          <p:nvPr/>
        </p:nvSpPr>
        <p:spPr>
          <a:xfrm>
            <a:off x="2103120" y="2962656"/>
            <a:ext cx="1188720" cy="493776"/>
          </a:xfrm>
          <a:prstGeom prst="rect">
            <a:avLst/>
          </a:prstGeom>
          <a:noFill/>
          <a:ln/>
        </p:spPr>
        <p:txBody>
          <a:bodyPr wrap="square" lIns="0" tIns="0" rIns="0" bIns="0" rtlCol="0" anchor="ctr"/>
          <a:lstStyle/>
          <a:p>
            <a:pPr marL="0" indent="0" algn="ctr">
              <a:buNone/>
            </a:pPr>
            <a:r>
              <a:rPr lang="en-US" sz="900" dirty="0">
                <a:solidFill>
                  <a:srgbClr val="7ED348"/>
                </a:solidFill>
                <a:latin typeface="Calibri" pitchFamily="34" charset="0"/>
                <a:ea typeface="Calibri" pitchFamily="34" charset="-122"/>
                <a:cs typeface="Calibri" pitchFamily="34" charset="-120"/>
              </a:rPr>
              <a:t>Policy-based</a:t>
            </a:r>
            <a:endParaRPr lang="en-US" sz="900" dirty="0"/>
          </a:p>
        </p:txBody>
      </p:sp>
      <p:sp>
        <p:nvSpPr>
          <p:cNvPr id="57" name="Shape 55"/>
          <p:cNvSpPr/>
          <p:nvPr/>
        </p:nvSpPr>
        <p:spPr>
          <a:xfrm>
            <a:off x="3291840" y="2962656"/>
            <a:ext cx="1280160" cy="493776"/>
          </a:xfrm>
          <a:prstGeom prst="rect">
            <a:avLst/>
          </a:prstGeom>
          <a:solidFill>
            <a:srgbClr val="1E3D1E"/>
          </a:solidFill>
          <a:ln w="12700">
            <a:solidFill>
              <a:srgbClr val="7ED348"/>
            </a:solidFill>
            <a:prstDash val="solid"/>
          </a:ln>
        </p:spPr>
        <p:txBody>
          <a:bodyPr/>
          <a:lstStyle/>
          <a:p>
            <a:endParaRPr lang="LID4096"/>
          </a:p>
        </p:txBody>
      </p:sp>
      <p:sp>
        <p:nvSpPr>
          <p:cNvPr id="58" name="Text 56"/>
          <p:cNvSpPr/>
          <p:nvPr/>
        </p:nvSpPr>
        <p:spPr>
          <a:xfrm>
            <a:off x="3291840" y="2962656"/>
            <a:ext cx="1280160" cy="493776"/>
          </a:xfrm>
          <a:prstGeom prst="rect">
            <a:avLst/>
          </a:prstGeom>
          <a:noFill/>
          <a:ln/>
        </p:spPr>
        <p:txBody>
          <a:bodyPr wrap="square" lIns="0" tIns="0" rIns="0" bIns="0" rtlCol="0" anchor="ctr"/>
          <a:lstStyle/>
          <a:p>
            <a:pPr marL="0" indent="0" algn="ctr">
              <a:buNone/>
            </a:pPr>
            <a:r>
              <a:rPr lang="en-US" sz="900" dirty="0">
                <a:solidFill>
                  <a:srgbClr val="7ED348"/>
                </a:solidFill>
                <a:latin typeface="Calibri" pitchFamily="34" charset="0"/>
                <a:ea typeface="Calibri" pitchFamily="34" charset="-122"/>
                <a:cs typeface="Calibri" pitchFamily="34" charset="-120"/>
              </a:rPr>
              <a:t>Both</a:t>
            </a:r>
            <a:endParaRPr lang="en-US" sz="900" dirty="0"/>
          </a:p>
        </p:txBody>
      </p:sp>
      <p:sp>
        <p:nvSpPr>
          <p:cNvPr id="59" name="Shape 57"/>
          <p:cNvSpPr/>
          <p:nvPr/>
        </p:nvSpPr>
        <p:spPr>
          <a:xfrm>
            <a:off x="4572000" y="2962656"/>
            <a:ext cx="1005840" cy="493776"/>
          </a:xfrm>
          <a:prstGeom prst="rect">
            <a:avLst/>
          </a:prstGeom>
          <a:solidFill>
            <a:srgbClr val="1E3D1E"/>
          </a:solidFill>
          <a:ln w="12700">
            <a:solidFill>
              <a:srgbClr val="7ED348"/>
            </a:solidFill>
            <a:prstDash val="solid"/>
          </a:ln>
        </p:spPr>
        <p:txBody>
          <a:bodyPr/>
          <a:lstStyle/>
          <a:p>
            <a:endParaRPr lang="LID4096"/>
          </a:p>
        </p:txBody>
      </p:sp>
      <p:sp>
        <p:nvSpPr>
          <p:cNvPr id="60" name="Text 58"/>
          <p:cNvSpPr/>
          <p:nvPr/>
        </p:nvSpPr>
        <p:spPr>
          <a:xfrm>
            <a:off x="4572000" y="2962656"/>
            <a:ext cx="1005840" cy="493776"/>
          </a:xfrm>
          <a:prstGeom prst="rect">
            <a:avLst/>
          </a:prstGeom>
          <a:noFill/>
          <a:ln/>
        </p:spPr>
        <p:txBody>
          <a:bodyPr wrap="square" lIns="0" tIns="0" rIns="0" bIns="0" rtlCol="0" anchor="ctr"/>
          <a:lstStyle/>
          <a:p>
            <a:pPr marL="0" indent="0" algn="ctr">
              <a:buNone/>
            </a:pPr>
            <a:r>
              <a:rPr lang="en-US" sz="900" dirty="0">
                <a:solidFill>
                  <a:srgbClr val="7ED348"/>
                </a:solidFill>
                <a:latin typeface="Calibri" pitchFamily="34" charset="0"/>
                <a:ea typeface="Calibri" pitchFamily="34" charset="-122"/>
                <a:cs typeface="Calibri" pitchFamily="34" charset="-120"/>
              </a:rPr>
              <a:t>Low</a:t>
            </a:r>
            <a:endParaRPr lang="en-US" sz="900" dirty="0"/>
          </a:p>
        </p:txBody>
      </p:sp>
      <p:sp>
        <p:nvSpPr>
          <p:cNvPr id="61" name="Shape 59"/>
          <p:cNvSpPr/>
          <p:nvPr/>
        </p:nvSpPr>
        <p:spPr>
          <a:xfrm>
            <a:off x="5577840" y="2962656"/>
            <a:ext cx="1005840" cy="493776"/>
          </a:xfrm>
          <a:prstGeom prst="rect">
            <a:avLst/>
          </a:prstGeom>
          <a:solidFill>
            <a:srgbClr val="1E3D1E"/>
          </a:solidFill>
          <a:ln w="12700">
            <a:solidFill>
              <a:srgbClr val="7ED348"/>
            </a:solidFill>
            <a:prstDash val="solid"/>
          </a:ln>
        </p:spPr>
        <p:txBody>
          <a:bodyPr/>
          <a:lstStyle/>
          <a:p>
            <a:endParaRPr lang="LID4096"/>
          </a:p>
        </p:txBody>
      </p:sp>
      <p:sp>
        <p:nvSpPr>
          <p:cNvPr id="62" name="Text 60"/>
          <p:cNvSpPr/>
          <p:nvPr/>
        </p:nvSpPr>
        <p:spPr>
          <a:xfrm>
            <a:off x="5577840" y="2962656"/>
            <a:ext cx="1005840" cy="493776"/>
          </a:xfrm>
          <a:prstGeom prst="rect">
            <a:avLst/>
          </a:prstGeom>
          <a:noFill/>
          <a:ln/>
        </p:spPr>
        <p:txBody>
          <a:bodyPr wrap="square" lIns="0" tIns="0" rIns="0" bIns="0" rtlCol="0" anchor="ctr"/>
          <a:lstStyle/>
          <a:p>
            <a:pPr marL="0" indent="0" algn="ctr">
              <a:buNone/>
            </a:pPr>
            <a:r>
              <a:rPr lang="en-US" sz="900" dirty="0">
                <a:solidFill>
                  <a:srgbClr val="7ED348"/>
                </a:solidFill>
                <a:latin typeface="Calibri" pitchFamily="34" charset="0"/>
                <a:ea typeface="Calibri" pitchFamily="34" charset="-122"/>
                <a:cs typeface="Calibri" pitchFamily="34" charset="-120"/>
              </a:rPr>
              <a:t>Very High</a:t>
            </a:r>
            <a:endParaRPr lang="en-US" sz="900" dirty="0"/>
          </a:p>
        </p:txBody>
      </p:sp>
      <p:sp>
        <p:nvSpPr>
          <p:cNvPr id="63" name="Shape 61"/>
          <p:cNvSpPr/>
          <p:nvPr/>
        </p:nvSpPr>
        <p:spPr>
          <a:xfrm>
            <a:off x="6583680" y="2962656"/>
            <a:ext cx="2423160" cy="493776"/>
          </a:xfrm>
          <a:prstGeom prst="rect">
            <a:avLst/>
          </a:prstGeom>
          <a:solidFill>
            <a:srgbClr val="1E3D1E"/>
          </a:solidFill>
          <a:ln w="12700">
            <a:solidFill>
              <a:srgbClr val="7ED348"/>
            </a:solidFill>
            <a:prstDash val="solid"/>
          </a:ln>
        </p:spPr>
        <p:txBody>
          <a:bodyPr/>
          <a:lstStyle/>
          <a:p>
            <a:endParaRPr lang="LID4096"/>
          </a:p>
        </p:txBody>
      </p:sp>
      <p:sp>
        <p:nvSpPr>
          <p:cNvPr id="64" name="Text 62"/>
          <p:cNvSpPr/>
          <p:nvPr/>
        </p:nvSpPr>
        <p:spPr>
          <a:xfrm>
            <a:off x="6583680" y="2962656"/>
            <a:ext cx="2423160" cy="493776"/>
          </a:xfrm>
          <a:prstGeom prst="rect">
            <a:avLst/>
          </a:prstGeom>
          <a:noFill/>
          <a:ln/>
        </p:spPr>
        <p:txBody>
          <a:bodyPr wrap="square" lIns="0" tIns="0" rIns="0" bIns="0" rtlCol="0" anchor="ctr"/>
          <a:lstStyle/>
          <a:p>
            <a:pPr marL="0" indent="0" algn="ctr">
              <a:buNone/>
            </a:pPr>
            <a:r>
              <a:rPr lang="en-US" sz="900" dirty="0">
                <a:solidFill>
                  <a:srgbClr val="7ED348"/>
                </a:solidFill>
                <a:latin typeface="Calibri" pitchFamily="34" charset="0"/>
                <a:ea typeface="Calibri" pitchFamily="34" charset="-122"/>
                <a:cs typeface="Calibri" pitchFamily="34" charset="-120"/>
              </a:rPr>
              <a:t> Recommended</a:t>
            </a:r>
            <a:endParaRPr lang="en-US" sz="900" dirty="0"/>
          </a:p>
        </p:txBody>
      </p:sp>
      <p:sp>
        <p:nvSpPr>
          <p:cNvPr id="65" name="Shape 63"/>
          <p:cNvSpPr/>
          <p:nvPr/>
        </p:nvSpPr>
        <p:spPr>
          <a:xfrm>
            <a:off x="274320" y="3493008"/>
            <a:ext cx="1828800" cy="493776"/>
          </a:xfrm>
          <a:prstGeom prst="rect">
            <a:avLst/>
          </a:prstGeom>
          <a:solidFill>
            <a:srgbClr val="152C19"/>
          </a:solidFill>
          <a:ln w="12700">
            <a:solidFill>
              <a:srgbClr val="1A3A1E"/>
            </a:solidFill>
            <a:prstDash val="solid"/>
          </a:ln>
        </p:spPr>
        <p:txBody>
          <a:bodyPr/>
          <a:lstStyle/>
          <a:p>
            <a:endParaRPr lang="LID4096"/>
          </a:p>
        </p:txBody>
      </p:sp>
      <p:sp>
        <p:nvSpPr>
          <p:cNvPr id="66" name="Text 64"/>
          <p:cNvSpPr/>
          <p:nvPr/>
        </p:nvSpPr>
        <p:spPr>
          <a:xfrm>
            <a:off x="274320" y="3493008"/>
            <a:ext cx="1828800" cy="493776"/>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KL Divergence</a:t>
            </a:r>
            <a:endParaRPr lang="en-US" sz="1000" dirty="0"/>
          </a:p>
        </p:txBody>
      </p:sp>
      <p:sp>
        <p:nvSpPr>
          <p:cNvPr id="67" name="Shape 65"/>
          <p:cNvSpPr/>
          <p:nvPr/>
        </p:nvSpPr>
        <p:spPr>
          <a:xfrm>
            <a:off x="2103120" y="3493008"/>
            <a:ext cx="1188720" cy="493776"/>
          </a:xfrm>
          <a:prstGeom prst="rect">
            <a:avLst/>
          </a:prstGeom>
          <a:solidFill>
            <a:srgbClr val="152C19"/>
          </a:solidFill>
          <a:ln w="12700">
            <a:solidFill>
              <a:srgbClr val="1A3A1E"/>
            </a:solidFill>
            <a:prstDash val="solid"/>
          </a:ln>
        </p:spPr>
        <p:txBody>
          <a:bodyPr/>
          <a:lstStyle/>
          <a:p>
            <a:endParaRPr lang="LID4096"/>
          </a:p>
        </p:txBody>
      </p:sp>
      <p:sp>
        <p:nvSpPr>
          <p:cNvPr id="68" name="Text 66"/>
          <p:cNvSpPr/>
          <p:nvPr/>
        </p:nvSpPr>
        <p:spPr>
          <a:xfrm>
            <a:off x="2103120" y="3493008"/>
            <a:ext cx="118872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Constraint</a:t>
            </a:r>
            <a:endParaRPr lang="en-US" sz="900" dirty="0"/>
          </a:p>
        </p:txBody>
      </p:sp>
      <p:sp>
        <p:nvSpPr>
          <p:cNvPr id="69" name="Shape 67"/>
          <p:cNvSpPr/>
          <p:nvPr/>
        </p:nvSpPr>
        <p:spPr>
          <a:xfrm>
            <a:off x="3291840" y="3493008"/>
            <a:ext cx="1280160" cy="493776"/>
          </a:xfrm>
          <a:prstGeom prst="rect">
            <a:avLst/>
          </a:prstGeom>
          <a:solidFill>
            <a:srgbClr val="152C19"/>
          </a:solidFill>
          <a:ln w="12700">
            <a:solidFill>
              <a:srgbClr val="1A3A1E"/>
            </a:solidFill>
            <a:prstDash val="solid"/>
          </a:ln>
        </p:spPr>
        <p:txBody>
          <a:bodyPr/>
          <a:lstStyle/>
          <a:p>
            <a:endParaRPr lang="LID4096"/>
          </a:p>
        </p:txBody>
      </p:sp>
      <p:sp>
        <p:nvSpPr>
          <p:cNvPr id="70" name="Text 68"/>
          <p:cNvSpPr/>
          <p:nvPr/>
        </p:nvSpPr>
        <p:spPr>
          <a:xfrm>
            <a:off x="3291840" y="3493008"/>
            <a:ext cx="128016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Both</a:t>
            </a:r>
            <a:endParaRPr lang="en-US" sz="900" dirty="0"/>
          </a:p>
        </p:txBody>
      </p:sp>
      <p:sp>
        <p:nvSpPr>
          <p:cNvPr id="71" name="Shape 69"/>
          <p:cNvSpPr/>
          <p:nvPr/>
        </p:nvSpPr>
        <p:spPr>
          <a:xfrm>
            <a:off x="4572000" y="3493008"/>
            <a:ext cx="1005840" cy="493776"/>
          </a:xfrm>
          <a:prstGeom prst="rect">
            <a:avLst/>
          </a:prstGeom>
          <a:solidFill>
            <a:srgbClr val="152C19"/>
          </a:solidFill>
          <a:ln w="12700">
            <a:solidFill>
              <a:srgbClr val="1A3A1E"/>
            </a:solidFill>
            <a:prstDash val="solid"/>
          </a:ln>
        </p:spPr>
        <p:txBody>
          <a:bodyPr/>
          <a:lstStyle/>
          <a:p>
            <a:endParaRPr lang="LID4096"/>
          </a:p>
        </p:txBody>
      </p:sp>
      <p:sp>
        <p:nvSpPr>
          <p:cNvPr id="72" name="Text 70"/>
          <p:cNvSpPr/>
          <p:nvPr/>
        </p:nvSpPr>
        <p:spPr>
          <a:xfrm>
            <a:off x="4572000" y="3493008"/>
            <a:ext cx="100584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a:t>
            </a:r>
            <a:endParaRPr lang="en-US" sz="900" dirty="0"/>
          </a:p>
        </p:txBody>
      </p:sp>
      <p:sp>
        <p:nvSpPr>
          <p:cNvPr id="73" name="Shape 71"/>
          <p:cNvSpPr/>
          <p:nvPr/>
        </p:nvSpPr>
        <p:spPr>
          <a:xfrm>
            <a:off x="5577840" y="3493008"/>
            <a:ext cx="1005840" cy="493776"/>
          </a:xfrm>
          <a:prstGeom prst="rect">
            <a:avLst/>
          </a:prstGeom>
          <a:solidFill>
            <a:srgbClr val="152C19"/>
          </a:solidFill>
          <a:ln w="12700">
            <a:solidFill>
              <a:srgbClr val="1A3A1E"/>
            </a:solidFill>
            <a:prstDash val="solid"/>
          </a:ln>
        </p:spPr>
        <p:txBody>
          <a:bodyPr/>
          <a:lstStyle/>
          <a:p>
            <a:endParaRPr lang="LID4096"/>
          </a:p>
        </p:txBody>
      </p:sp>
      <p:sp>
        <p:nvSpPr>
          <p:cNvPr id="74" name="Text 72"/>
          <p:cNvSpPr/>
          <p:nvPr/>
        </p:nvSpPr>
        <p:spPr>
          <a:xfrm>
            <a:off x="5577840" y="3493008"/>
            <a:ext cx="100584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Enforced</a:t>
            </a:r>
            <a:endParaRPr lang="en-US" sz="900" dirty="0"/>
          </a:p>
        </p:txBody>
      </p:sp>
      <p:sp>
        <p:nvSpPr>
          <p:cNvPr id="75" name="Shape 73"/>
          <p:cNvSpPr/>
          <p:nvPr/>
        </p:nvSpPr>
        <p:spPr>
          <a:xfrm>
            <a:off x="6583680" y="3493008"/>
            <a:ext cx="2423160" cy="493776"/>
          </a:xfrm>
          <a:prstGeom prst="rect">
            <a:avLst/>
          </a:prstGeom>
          <a:solidFill>
            <a:srgbClr val="152C19"/>
          </a:solidFill>
          <a:ln w="12700">
            <a:solidFill>
              <a:srgbClr val="1A3A1E"/>
            </a:solidFill>
            <a:prstDash val="solid"/>
          </a:ln>
        </p:spPr>
        <p:txBody>
          <a:bodyPr/>
          <a:lstStyle/>
          <a:p>
            <a:endParaRPr lang="LID4096"/>
          </a:p>
        </p:txBody>
      </p:sp>
      <p:sp>
        <p:nvSpPr>
          <p:cNvPr id="76" name="Text 74"/>
          <p:cNvSpPr/>
          <p:nvPr/>
        </p:nvSpPr>
        <p:spPr>
          <a:xfrm>
            <a:off x="6583680" y="3493008"/>
            <a:ext cx="2423160" cy="493776"/>
          </a:xfrm>
          <a:prstGeom prst="rect">
            <a:avLst/>
          </a:prstGeom>
          <a:noFill/>
          <a:ln/>
        </p:spPr>
        <p:txBody>
          <a:bodyPr wrap="square" lIns="0" tIns="0" rIns="0" bIns="0" rtlCol="0" anchor="ctr"/>
          <a:lstStyle/>
          <a:p>
            <a:pPr marL="0" indent="0" algn="ctr">
              <a:buNone/>
            </a:pPr>
            <a:r>
              <a:rPr lang="en-US" sz="900" dirty="0">
                <a:solidFill>
                  <a:srgbClr val="E8F5E0"/>
                </a:solidFill>
                <a:latin typeface="Calibri" pitchFamily="34" charset="0"/>
                <a:ea typeface="Calibri" pitchFamily="34" charset="-122"/>
                <a:cs typeface="Calibri" pitchFamily="34" charset="-120"/>
              </a:rPr>
              <a:t>Stability in TRPO/PPO</a:t>
            </a:r>
            <a:endParaRPr lang="en-US" sz="900" dirty="0"/>
          </a:p>
        </p:txBody>
      </p:sp>
      <p:sp>
        <p:nvSpPr>
          <p:cNvPr id="77" name="Shape 75"/>
          <p:cNvSpPr/>
          <p:nvPr/>
        </p:nvSpPr>
        <p:spPr>
          <a:xfrm>
            <a:off x="274320" y="4069080"/>
            <a:ext cx="8549640" cy="685800"/>
          </a:xfrm>
          <a:prstGeom prst="rect">
            <a:avLst/>
          </a:prstGeom>
          <a:solidFill>
            <a:srgbClr val="152C19"/>
          </a:solidFill>
          <a:ln w="12700">
            <a:solidFill>
              <a:srgbClr val="E8A020"/>
            </a:solidFill>
            <a:prstDash val="solid"/>
          </a:ln>
        </p:spPr>
        <p:txBody>
          <a:bodyPr/>
          <a:lstStyle/>
          <a:p>
            <a:endParaRPr lang="LID4096"/>
          </a:p>
        </p:txBody>
      </p:sp>
      <p:sp>
        <p:nvSpPr>
          <p:cNvPr id="78" name="Text 76"/>
          <p:cNvSpPr/>
          <p:nvPr/>
        </p:nvSpPr>
        <p:spPr>
          <a:xfrm>
            <a:off x="457200" y="4114800"/>
            <a:ext cx="2286000" cy="228600"/>
          </a:xfrm>
          <a:prstGeom prst="rect">
            <a:avLst/>
          </a:prstGeom>
          <a:noFill/>
          <a:ln/>
        </p:spPr>
        <p:txBody>
          <a:bodyPr wrap="square" lIns="0" tIns="0" rIns="0" bIns="0" rtlCol="0" anchor="ctr"/>
          <a:lstStyle/>
          <a:p>
            <a:pPr marL="0" indent="0">
              <a:buNone/>
            </a:pPr>
            <a:r>
              <a:rPr lang="en-US" sz="900" b="1" dirty="0">
                <a:solidFill>
                  <a:srgbClr val="E8A020"/>
                </a:solidFill>
                <a:latin typeface="Trebuchet MS" pitchFamily="34" charset="0"/>
                <a:ea typeface="Trebuchet MS" pitchFamily="34" charset="-122"/>
                <a:cs typeface="Trebuchet MS" pitchFamily="34" charset="-120"/>
              </a:rPr>
              <a:t>KEY DECISION FACTORS:</a:t>
            </a:r>
            <a:endParaRPr lang="en-US" sz="900" dirty="0"/>
          </a:p>
        </p:txBody>
      </p:sp>
      <p:sp>
        <p:nvSpPr>
          <p:cNvPr id="79" name="Text 77"/>
          <p:cNvSpPr/>
          <p:nvPr/>
        </p:nvSpPr>
        <p:spPr>
          <a:xfrm>
            <a:off x="457200" y="4343400"/>
            <a:ext cx="8321040" cy="347472"/>
          </a:xfrm>
          <a:prstGeom prst="rect">
            <a:avLst/>
          </a:prstGeom>
          <a:noFill/>
          <a:ln/>
        </p:spPr>
        <p:txBody>
          <a:bodyPr wrap="square" lIns="0" tIns="0" rIns="0" bIns="0" rtlCol="0" anchor="ctr"/>
          <a:lstStyle/>
          <a:p>
            <a:pPr marL="0" indent="0">
              <a:buNone/>
            </a:pPr>
            <a:r>
              <a:rPr lang="en-US" sz="900" dirty="0">
                <a:solidFill>
                  <a:srgbClr val="E8F5E0"/>
                </a:solidFill>
                <a:latin typeface="Calibri" pitchFamily="34" charset="0"/>
                <a:ea typeface="Calibri" pitchFamily="34" charset="-122"/>
                <a:cs typeface="Calibri" pitchFamily="34" charset="-120"/>
              </a:rPr>
              <a:t>Action Space: Discrete → DQN  |  Continuous → PPO/A2C     Stability needed: PPO &gt; Actor-Critic &gt; REINFORCE     Sample efficiency: Off-policy (DQN) &gt; On-policy (PPO)     Ease of implementation: DQN ≈ PPO &gt; TRPO</a:t>
            </a:r>
            <a:endParaRPr lang="en-US" sz="900" dirty="0"/>
          </a:p>
        </p:txBody>
      </p:sp>
      <p:sp>
        <p:nvSpPr>
          <p:cNvPr id="80" name="Shape 78"/>
          <p:cNvSpPr/>
          <p:nvPr/>
        </p:nvSpPr>
        <p:spPr>
          <a:xfrm>
            <a:off x="0" y="4800600"/>
            <a:ext cx="9144000" cy="342900"/>
          </a:xfrm>
          <a:prstGeom prst="rect">
            <a:avLst/>
          </a:prstGeom>
          <a:solidFill>
            <a:srgbClr val="1A3A1E"/>
          </a:solidFill>
          <a:ln w="12700">
            <a:solidFill>
              <a:srgbClr val="7ED348"/>
            </a:solidFill>
            <a:prstDash val="solid"/>
          </a:ln>
        </p:spPr>
        <p:txBody>
          <a:bodyPr/>
          <a:lstStyle/>
          <a:p>
            <a:endParaRPr lang="LID4096"/>
          </a:p>
        </p:txBody>
      </p:sp>
      <p:sp>
        <p:nvSpPr>
          <p:cNvPr id="81" name="Text 79"/>
          <p:cNvSpPr/>
          <p:nvPr/>
        </p:nvSpPr>
        <p:spPr>
          <a:xfrm>
            <a:off x="182880" y="4818888"/>
            <a:ext cx="5486400" cy="292608"/>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Horde Survival Game, Deep RL</a:t>
            </a:r>
            <a:endParaRPr lang="en-US" sz="900" dirty="0"/>
          </a:p>
        </p:txBody>
      </p:sp>
      <p:sp>
        <p:nvSpPr>
          <p:cNvPr id="82" name="Text 80"/>
          <p:cNvSpPr/>
          <p:nvPr/>
        </p:nvSpPr>
        <p:spPr>
          <a:xfrm>
            <a:off x="3657600" y="4818888"/>
            <a:ext cx="5303520" cy="292608"/>
          </a:xfrm>
          <a:prstGeom prst="rect">
            <a:avLst/>
          </a:prstGeom>
          <a:noFill/>
          <a:ln/>
        </p:spPr>
        <p:txBody>
          <a:bodyPr wrap="square" lIns="0" tIns="0" rIns="0" bIns="0" rtlCol="0" anchor="ctr"/>
          <a:lstStyle/>
          <a:p>
            <a:pPr marL="0" indent="0" algn="r">
              <a:buNone/>
            </a:pPr>
            <a:r>
              <a:rPr lang="en-US" sz="900" dirty="0">
                <a:solidFill>
                  <a:srgbClr val="7ED348"/>
                </a:solidFill>
                <a:latin typeface="Calibri" pitchFamily="34" charset="0"/>
                <a:ea typeface="Calibri" pitchFamily="34" charset="-122"/>
                <a:cs typeface="Calibri" pitchFamily="34" charset="-120"/>
              </a:rPr>
              <a:t>Loss Function Comparison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7ED348"/>
          </a:solidFill>
          <a:ln w="12700">
            <a:solidFill>
              <a:srgbClr val="7ED348"/>
            </a:solidFill>
            <a:prstDash val="solid"/>
          </a:ln>
        </p:spPr>
        <p:txBody>
          <a:bodyPr/>
          <a:lstStyle/>
          <a:p>
            <a:endParaRPr lang="LID4096"/>
          </a:p>
        </p:txBody>
      </p:sp>
      <p:sp>
        <p:nvSpPr>
          <p:cNvPr id="3" name="Text 1"/>
          <p:cNvSpPr/>
          <p:nvPr/>
        </p:nvSpPr>
        <p:spPr>
          <a:xfrm>
            <a:off x="320040" y="201168"/>
            <a:ext cx="347472" cy="347472"/>
          </a:xfrm>
          <a:prstGeom prst="rect">
            <a:avLst/>
          </a:prstGeom>
          <a:noFill/>
          <a:ln/>
        </p:spPr>
        <p:txBody>
          <a:bodyPr wrap="square" lIns="0" tIns="0" rIns="0" bIns="0" rtlCol="0" anchor="ctr"/>
          <a:lstStyle/>
          <a:p>
            <a:pPr marL="0" indent="0" algn="ctr">
              <a:buNone/>
            </a:pPr>
            <a:r>
              <a:rPr lang="en-US" sz="1300" b="1" dirty="0">
                <a:solidFill>
                  <a:srgbClr val="0D1F12"/>
                </a:solidFill>
                <a:latin typeface="Trebuchet MS" pitchFamily="34" charset="0"/>
                <a:ea typeface="Trebuchet MS" pitchFamily="34" charset="-122"/>
                <a:cs typeface="Trebuchet MS" pitchFamily="34" charset="-120"/>
              </a:rPr>
              <a:t>06</a:t>
            </a:r>
            <a:endParaRPr lang="en-US" sz="13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marL="0" indent="0" algn="l">
              <a:buNone/>
            </a:pPr>
            <a:r>
              <a:rPr lang="en-US" sz="1100" b="1" kern="0" spc="200" dirty="0">
                <a:solidFill>
                  <a:srgbClr val="7ED348"/>
                </a:solidFill>
                <a:latin typeface="Trebuchet MS" pitchFamily="34" charset="0"/>
                <a:ea typeface="Trebuchet MS" pitchFamily="34" charset="-122"/>
                <a:cs typeface="Trebuchet MS" pitchFamily="34" charset="-120"/>
              </a:rPr>
              <a:t>EVALUATION METRICS</a:t>
            </a:r>
            <a:endParaRPr lang="en-US" sz="1100" dirty="0"/>
          </a:p>
        </p:txBody>
      </p:sp>
      <p:sp>
        <p:nvSpPr>
          <p:cNvPr id="5" name="Text 3"/>
          <p:cNvSpPr/>
          <p:nvPr/>
        </p:nvSpPr>
        <p:spPr>
          <a:xfrm>
            <a:off x="320040" y="566928"/>
            <a:ext cx="8229600" cy="45720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Evaluation Metrics</a:t>
            </a:r>
            <a:endParaRPr lang="en-US" sz="2800" dirty="0"/>
          </a:p>
        </p:txBody>
      </p:sp>
      <p:sp>
        <p:nvSpPr>
          <p:cNvPr id="6" name="Shape 4"/>
          <p:cNvSpPr/>
          <p:nvPr/>
        </p:nvSpPr>
        <p:spPr>
          <a:xfrm>
            <a:off x="274320" y="1115568"/>
            <a:ext cx="2743200" cy="1645920"/>
          </a:xfrm>
          <a:prstGeom prst="rect">
            <a:avLst/>
          </a:prstGeom>
          <a:solidFill>
            <a:srgbClr val="152C19"/>
          </a:solidFill>
          <a:ln w="12700">
            <a:solidFill>
              <a:srgbClr val="7ED348"/>
            </a:solidFill>
            <a:prstDash val="solid"/>
          </a:ln>
        </p:spPr>
        <p:txBody>
          <a:bodyPr/>
          <a:lstStyle/>
          <a:p>
            <a:endParaRPr lang="LID4096"/>
          </a:p>
        </p:txBody>
      </p:sp>
      <p:sp>
        <p:nvSpPr>
          <p:cNvPr id="7" name="Shape 5"/>
          <p:cNvSpPr/>
          <p:nvPr/>
        </p:nvSpPr>
        <p:spPr>
          <a:xfrm>
            <a:off x="274320" y="1115568"/>
            <a:ext cx="54864" cy="1645920"/>
          </a:xfrm>
          <a:prstGeom prst="rect">
            <a:avLst/>
          </a:prstGeom>
          <a:solidFill>
            <a:srgbClr val="7ED348"/>
          </a:solidFill>
          <a:ln w="12700">
            <a:solidFill>
              <a:srgbClr val="7ED348"/>
            </a:solidFill>
            <a:prstDash val="solid"/>
          </a:ln>
        </p:spPr>
        <p:txBody>
          <a:bodyPr/>
          <a:lstStyle/>
          <a:p>
            <a:endParaRPr lang="LID4096"/>
          </a:p>
        </p:txBody>
      </p:sp>
      <p:sp>
        <p:nvSpPr>
          <p:cNvPr id="8" name="Text 6"/>
          <p:cNvSpPr/>
          <p:nvPr/>
        </p:nvSpPr>
        <p:spPr>
          <a:xfrm>
            <a:off x="384048" y="1170432"/>
            <a:ext cx="2578608" cy="256032"/>
          </a:xfrm>
          <a:prstGeom prst="rect">
            <a:avLst/>
          </a:prstGeom>
          <a:noFill/>
          <a:ln/>
        </p:spPr>
        <p:txBody>
          <a:bodyPr wrap="square" lIns="0" tIns="0" rIns="0" bIns="0" rtlCol="0" anchor="ctr"/>
          <a:lstStyle/>
          <a:p>
            <a:pPr marL="0" indent="0">
              <a:buNone/>
            </a:pPr>
            <a:r>
              <a:rPr lang="en-US" sz="1050" b="1" dirty="0">
                <a:solidFill>
                  <a:srgbClr val="7ED348"/>
                </a:solidFill>
                <a:latin typeface="Trebuchet MS" pitchFamily="34" charset="0"/>
                <a:ea typeface="Trebuchet MS" pitchFamily="34" charset="-122"/>
                <a:cs typeface="Trebuchet MS" pitchFamily="34" charset="-120"/>
              </a:rPr>
              <a:t>Cumulative Reward</a:t>
            </a:r>
            <a:endParaRPr lang="en-US" sz="1050" dirty="0"/>
          </a:p>
        </p:txBody>
      </p:sp>
      <p:sp>
        <p:nvSpPr>
          <p:cNvPr id="9" name="Text 7"/>
          <p:cNvSpPr/>
          <p:nvPr/>
        </p:nvSpPr>
        <p:spPr>
          <a:xfrm>
            <a:off x="384048" y="1408176"/>
            <a:ext cx="2578608" cy="182880"/>
          </a:xfrm>
          <a:prstGeom prst="rect">
            <a:avLst/>
          </a:prstGeom>
          <a:noFill/>
          <a:ln/>
        </p:spPr>
        <p:txBody>
          <a:bodyPr wrap="square" lIns="0" tIns="0" rIns="0" bIns="0" rtlCol="0" anchor="ctr"/>
          <a:lstStyle/>
          <a:p>
            <a:pPr marL="0" indent="0">
              <a:buNone/>
            </a:pPr>
            <a:r>
              <a:rPr lang="en-US" sz="850" dirty="0">
                <a:solidFill>
                  <a:srgbClr val="8BB87A"/>
                </a:solidFill>
                <a:latin typeface="Calibri" pitchFamily="34" charset="0"/>
                <a:ea typeface="Calibri" pitchFamily="34" charset="-122"/>
                <a:cs typeface="Calibri" pitchFamily="34" charset="-120"/>
              </a:rPr>
              <a:t>Episode Return</a:t>
            </a:r>
            <a:endParaRPr lang="en-US" sz="850" dirty="0"/>
          </a:p>
        </p:txBody>
      </p:sp>
      <p:sp>
        <p:nvSpPr>
          <p:cNvPr id="10" name="Text 8"/>
          <p:cNvSpPr/>
          <p:nvPr/>
        </p:nvSpPr>
        <p:spPr>
          <a:xfrm>
            <a:off x="384048" y="1591056"/>
            <a:ext cx="2578608" cy="228600"/>
          </a:xfrm>
          <a:prstGeom prst="rect">
            <a:avLst/>
          </a:prstGeom>
          <a:noFill/>
          <a:ln/>
        </p:spPr>
        <p:txBody>
          <a:bodyPr wrap="square" lIns="0" tIns="0" rIns="0" bIns="0" rtlCol="0" anchor="ctr"/>
          <a:lstStyle/>
          <a:p>
            <a:pPr marL="0" indent="0">
              <a:buNone/>
            </a:pPr>
            <a:r>
              <a:rPr lang="en-US" sz="900" dirty="0">
                <a:solidFill>
                  <a:srgbClr val="FFFFFF"/>
                </a:solidFill>
                <a:latin typeface="Consolas" pitchFamily="34" charset="0"/>
                <a:ea typeface="Consolas" pitchFamily="34" charset="-122"/>
                <a:cs typeface="Consolas" pitchFamily="34" charset="-120"/>
              </a:rPr>
              <a:t>G = Σ γᵗ · rₜ</a:t>
            </a:r>
            <a:endParaRPr lang="en-US" sz="900" dirty="0"/>
          </a:p>
        </p:txBody>
      </p:sp>
      <p:sp>
        <p:nvSpPr>
          <p:cNvPr id="11" name="Text 9"/>
          <p:cNvSpPr/>
          <p:nvPr/>
        </p:nvSpPr>
        <p:spPr>
          <a:xfrm>
            <a:off x="384048" y="1865376"/>
            <a:ext cx="2578608" cy="320040"/>
          </a:xfrm>
          <a:prstGeom prst="rect">
            <a:avLst/>
          </a:prstGeom>
          <a:noFill/>
          <a:ln/>
        </p:spPr>
        <p:txBody>
          <a:bodyPr wrap="square" lIns="0" tIns="0" rIns="0" bIns="0" rtlCol="0" anchor="ctr"/>
          <a:lstStyle/>
          <a:p>
            <a:pPr marL="0" indent="0">
              <a:buNone/>
            </a:pPr>
            <a:r>
              <a:rPr lang="en-US" sz="850" dirty="0">
                <a:solidFill>
                  <a:srgbClr val="7ED348"/>
                </a:solidFill>
                <a:latin typeface="Calibri" pitchFamily="34" charset="0"/>
                <a:ea typeface="Calibri" pitchFamily="34" charset="-122"/>
                <a:cs typeface="Calibri" pitchFamily="34" charset="-120"/>
              </a:rPr>
              <a:t>✔ Direct optimization target; reflects true goal</a:t>
            </a:r>
            <a:endParaRPr lang="en-US" sz="850" dirty="0"/>
          </a:p>
        </p:txBody>
      </p:sp>
      <p:sp>
        <p:nvSpPr>
          <p:cNvPr id="12" name="Text 10"/>
          <p:cNvSpPr/>
          <p:nvPr/>
        </p:nvSpPr>
        <p:spPr>
          <a:xfrm>
            <a:off x="384048" y="2185416"/>
            <a:ext cx="2578608" cy="320040"/>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 Reward shaping can mislead; sparse rewards noisy</a:t>
            </a:r>
            <a:endParaRPr lang="en-US" sz="850" dirty="0"/>
          </a:p>
        </p:txBody>
      </p:sp>
      <p:sp>
        <p:nvSpPr>
          <p:cNvPr id="13" name="Shape 11"/>
          <p:cNvSpPr/>
          <p:nvPr/>
        </p:nvSpPr>
        <p:spPr>
          <a:xfrm>
            <a:off x="3218688" y="1115568"/>
            <a:ext cx="2743200" cy="1645920"/>
          </a:xfrm>
          <a:prstGeom prst="rect">
            <a:avLst/>
          </a:prstGeom>
          <a:solidFill>
            <a:srgbClr val="152C19"/>
          </a:solidFill>
          <a:ln w="12700">
            <a:solidFill>
              <a:srgbClr val="E8A020"/>
            </a:solidFill>
            <a:prstDash val="solid"/>
          </a:ln>
        </p:spPr>
        <p:txBody>
          <a:bodyPr/>
          <a:lstStyle/>
          <a:p>
            <a:endParaRPr lang="LID4096"/>
          </a:p>
        </p:txBody>
      </p:sp>
      <p:sp>
        <p:nvSpPr>
          <p:cNvPr id="14" name="Shape 12"/>
          <p:cNvSpPr/>
          <p:nvPr/>
        </p:nvSpPr>
        <p:spPr>
          <a:xfrm>
            <a:off x="3218688" y="1115568"/>
            <a:ext cx="54864" cy="1645920"/>
          </a:xfrm>
          <a:prstGeom prst="rect">
            <a:avLst/>
          </a:prstGeom>
          <a:solidFill>
            <a:srgbClr val="E8A020"/>
          </a:solidFill>
          <a:ln w="12700">
            <a:solidFill>
              <a:srgbClr val="E8A020"/>
            </a:solidFill>
            <a:prstDash val="solid"/>
          </a:ln>
        </p:spPr>
        <p:txBody>
          <a:bodyPr/>
          <a:lstStyle/>
          <a:p>
            <a:endParaRPr lang="LID4096"/>
          </a:p>
        </p:txBody>
      </p:sp>
      <p:sp>
        <p:nvSpPr>
          <p:cNvPr id="15" name="Text 13"/>
          <p:cNvSpPr/>
          <p:nvPr/>
        </p:nvSpPr>
        <p:spPr>
          <a:xfrm>
            <a:off x="3328416" y="1170432"/>
            <a:ext cx="2578608" cy="256032"/>
          </a:xfrm>
          <a:prstGeom prst="rect">
            <a:avLst/>
          </a:prstGeom>
          <a:noFill/>
          <a:ln/>
        </p:spPr>
        <p:txBody>
          <a:bodyPr wrap="square" lIns="0" tIns="0" rIns="0" bIns="0" rtlCol="0" anchor="ctr"/>
          <a:lstStyle/>
          <a:p>
            <a:pPr marL="0" indent="0">
              <a:buNone/>
            </a:pPr>
            <a:r>
              <a:rPr lang="en-US" sz="1050" b="1" dirty="0">
                <a:solidFill>
                  <a:srgbClr val="E8A020"/>
                </a:solidFill>
                <a:latin typeface="Trebuchet MS" pitchFamily="34" charset="0"/>
                <a:ea typeface="Trebuchet MS" pitchFamily="34" charset="-122"/>
                <a:cs typeface="Trebuchet MS" pitchFamily="34" charset="-120"/>
              </a:rPr>
              <a:t>Kill / Death Ratio</a:t>
            </a:r>
            <a:endParaRPr lang="en-US" sz="1050" dirty="0"/>
          </a:p>
        </p:txBody>
      </p:sp>
      <p:sp>
        <p:nvSpPr>
          <p:cNvPr id="16" name="Text 14"/>
          <p:cNvSpPr/>
          <p:nvPr/>
        </p:nvSpPr>
        <p:spPr>
          <a:xfrm>
            <a:off x="3328416" y="1408176"/>
            <a:ext cx="2578608" cy="182880"/>
          </a:xfrm>
          <a:prstGeom prst="rect">
            <a:avLst/>
          </a:prstGeom>
          <a:noFill/>
          <a:ln/>
        </p:spPr>
        <p:txBody>
          <a:bodyPr wrap="square" lIns="0" tIns="0" rIns="0" bIns="0" rtlCol="0" anchor="ctr"/>
          <a:lstStyle/>
          <a:p>
            <a:pPr marL="0" indent="0">
              <a:buNone/>
            </a:pPr>
            <a:r>
              <a:rPr lang="en-US" sz="850" dirty="0">
                <a:solidFill>
                  <a:srgbClr val="8BB87A"/>
                </a:solidFill>
                <a:latin typeface="Calibri" pitchFamily="34" charset="0"/>
                <a:ea typeface="Calibri" pitchFamily="34" charset="-122"/>
                <a:cs typeface="Calibri" pitchFamily="34" charset="-120"/>
              </a:rPr>
              <a:t>Domain Metric</a:t>
            </a:r>
            <a:endParaRPr lang="en-US" sz="850" dirty="0"/>
          </a:p>
        </p:txBody>
      </p:sp>
      <p:sp>
        <p:nvSpPr>
          <p:cNvPr id="17" name="Text 15"/>
          <p:cNvSpPr/>
          <p:nvPr/>
        </p:nvSpPr>
        <p:spPr>
          <a:xfrm>
            <a:off x="3328416" y="1591056"/>
            <a:ext cx="2578608" cy="228600"/>
          </a:xfrm>
          <a:prstGeom prst="rect">
            <a:avLst/>
          </a:prstGeom>
          <a:noFill/>
          <a:ln/>
        </p:spPr>
        <p:txBody>
          <a:bodyPr wrap="square" lIns="0" tIns="0" rIns="0" bIns="0" rtlCol="0" anchor="ctr"/>
          <a:lstStyle/>
          <a:p>
            <a:pPr marL="0" indent="0">
              <a:buNone/>
            </a:pPr>
            <a:r>
              <a:rPr lang="en-US" sz="900" dirty="0">
                <a:solidFill>
                  <a:srgbClr val="FFFFFF"/>
                </a:solidFill>
                <a:latin typeface="Consolas" pitchFamily="34" charset="0"/>
                <a:ea typeface="Consolas" pitchFamily="34" charset="-122"/>
                <a:cs typeface="Consolas" pitchFamily="34" charset="-120"/>
              </a:rPr>
              <a:t>KDR = Kills / Deaths</a:t>
            </a:r>
            <a:endParaRPr lang="en-US" sz="900" dirty="0"/>
          </a:p>
        </p:txBody>
      </p:sp>
      <p:sp>
        <p:nvSpPr>
          <p:cNvPr id="18" name="Text 16"/>
          <p:cNvSpPr/>
          <p:nvPr/>
        </p:nvSpPr>
        <p:spPr>
          <a:xfrm>
            <a:off x="3328416" y="1865376"/>
            <a:ext cx="2578608" cy="320040"/>
          </a:xfrm>
          <a:prstGeom prst="rect">
            <a:avLst/>
          </a:prstGeom>
          <a:noFill/>
          <a:ln/>
        </p:spPr>
        <p:txBody>
          <a:bodyPr wrap="square" lIns="0" tIns="0" rIns="0" bIns="0" rtlCol="0" anchor="ctr"/>
          <a:lstStyle/>
          <a:p>
            <a:pPr marL="0" indent="0">
              <a:buNone/>
            </a:pPr>
            <a:r>
              <a:rPr lang="en-US" sz="850" dirty="0">
                <a:solidFill>
                  <a:srgbClr val="7ED348"/>
                </a:solidFill>
                <a:latin typeface="Calibri" pitchFamily="34" charset="0"/>
                <a:ea typeface="Calibri" pitchFamily="34" charset="-122"/>
                <a:cs typeface="Calibri" pitchFamily="34" charset="-120"/>
              </a:rPr>
              <a:t>✔ Intuitive, game relevant combat quality measure</a:t>
            </a:r>
            <a:endParaRPr lang="en-US" sz="850" dirty="0"/>
          </a:p>
        </p:txBody>
      </p:sp>
      <p:sp>
        <p:nvSpPr>
          <p:cNvPr id="19" name="Text 17"/>
          <p:cNvSpPr/>
          <p:nvPr/>
        </p:nvSpPr>
        <p:spPr>
          <a:xfrm>
            <a:off x="3328416" y="2185416"/>
            <a:ext cx="2578608" cy="320040"/>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 Agent may camp and avoid combat for high survival</a:t>
            </a:r>
            <a:endParaRPr lang="en-US" sz="850" dirty="0"/>
          </a:p>
        </p:txBody>
      </p:sp>
      <p:sp>
        <p:nvSpPr>
          <p:cNvPr id="20" name="Shape 18"/>
          <p:cNvSpPr/>
          <p:nvPr/>
        </p:nvSpPr>
        <p:spPr>
          <a:xfrm>
            <a:off x="6163056" y="1115568"/>
            <a:ext cx="2743200" cy="1645920"/>
          </a:xfrm>
          <a:prstGeom prst="rect">
            <a:avLst/>
          </a:prstGeom>
          <a:solidFill>
            <a:srgbClr val="152C19"/>
          </a:solidFill>
          <a:ln w="12700">
            <a:solidFill>
              <a:srgbClr val="7ED348"/>
            </a:solidFill>
            <a:prstDash val="solid"/>
          </a:ln>
        </p:spPr>
        <p:txBody>
          <a:bodyPr/>
          <a:lstStyle/>
          <a:p>
            <a:endParaRPr lang="LID4096"/>
          </a:p>
        </p:txBody>
      </p:sp>
      <p:sp>
        <p:nvSpPr>
          <p:cNvPr id="21" name="Shape 19"/>
          <p:cNvSpPr/>
          <p:nvPr/>
        </p:nvSpPr>
        <p:spPr>
          <a:xfrm>
            <a:off x="6163056" y="1115568"/>
            <a:ext cx="54864" cy="1645920"/>
          </a:xfrm>
          <a:prstGeom prst="rect">
            <a:avLst/>
          </a:prstGeom>
          <a:solidFill>
            <a:srgbClr val="7ED348"/>
          </a:solidFill>
          <a:ln w="12700">
            <a:solidFill>
              <a:srgbClr val="7ED348"/>
            </a:solidFill>
            <a:prstDash val="solid"/>
          </a:ln>
        </p:spPr>
        <p:txBody>
          <a:bodyPr/>
          <a:lstStyle/>
          <a:p>
            <a:endParaRPr lang="LID4096"/>
          </a:p>
        </p:txBody>
      </p:sp>
      <p:sp>
        <p:nvSpPr>
          <p:cNvPr id="22" name="Text 20"/>
          <p:cNvSpPr/>
          <p:nvPr/>
        </p:nvSpPr>
        <p:spPr>
          <a:xfrm>
            <a:off x="6272784" y="1170432"/>
            <a:ext cx="2578608" cy="256032"/>
          </a:xfrm>
          <a:prstGeom prst="rect">
            <a:avLst/>
          </a:prstGeom>
          <a:noFill/>
          <a:ln/>
        </p:spPr>
        <p:txBody>
          <a:bodyPr wrap="square" lIns="0" tIns="0" rIns="0" bIns="0" rtlCol="0" anchor="ctr"/>
          <a:lstStyle/>
          <a:p>
            <a:pPr marL="0" indent="0">
              <a:buNone/>
            </a:pPr>
            <a:r>
              <a:rPr lang="en-US" sz="1050" b="1" dirty="0">
                <a:solidFill>
                  <a:srgbClr val="7ED348"/>
                </a:solidFill>
                <a:latin typeface="Trebuchet MS" pitchFamily="34" charset="0"/>
                <a:ea typeface="Trebuchet MS" pitchFamily="34" charset="-122"/>
                <a:cs typeface="Trebuchet MS" pitchFamily="34" charset="-120"/>
              </a:rPr>
              <a:t>Episode Length</a:t>
            </a:r>
            <a:endParaRPr lang="en-US" sz="1050" dirty="0"/>
          </a:p>
        </p:txBody>
      </p:sp>
      <p:sp>
        <p:nvSpPr>
          <p:cNvPr id="23" name="Text 21"/>
          <p:cNvSpPr/>
          <p:nvPr/>
        </p:nvSpPr>
        <p:spPr>
          <a:xfrm>
            <a:off x="6272784" y="1408176"/>
            <a:ext cx="2578608" cy="182880"/>
          </a:xfrm>
          <a:prstGeom prst="rect">
            <a:avLst/>
          </a:prstGeom>
          <a:noFill/>
          <a:ln/>
        </p:spPr>
        <p:txBody>
          <a:bodyPr wrap="square" lIns="0" tIns="0" rIns="0" bIns="0" rtlCol="0" anchor="ctr"/>
          <a:lstStyle/>
          <a:p>
            <a:pPr marL="0" indent="0">
              <a:buNone/>
            </a:pPr>
            <a:r>
              <a:rPr lang="en-US" sz="850" dirty="0">
                <a:solidFill>
                  <a:srgbClr val="8BB87A"/>
                </a:solidFill>
                <a:latin typeface="Calibri" pitchFamily="34" charset="0"/>
                <a:ea typeface="Calibri" pitchFamily="34" charset="-122"/>
                <a:cs typeface="Calibri" pitchFamily="34" charset="-120"/>
              </a:rPr>
              <a:t>Survival Duration</a:t>
            </a:r>
            <a:endParaRPr lang="en-US" sz="850" dirty="0"/>
          </a:p>
        </p:txBody>
      </p:sp>
      <p:sp>
        <p:nvSpPr>
          <p:cNvPr id="24" name="Text 22"/>
          <p:cNvSpPr/>
          <p:nvPr/>
        </p:nvSpPr>
        <p:spPr>
          <a:xfrm>
            <a:off x="6272784" y="1591056"/>
            <a:ext cx="2578608" cy="228600"/>
          </a:xfrm>
          <a:prstGeom prst="rect">
            <a:avLst/>
          </a:prstGeom>
          <a:noFill/>
          <a:ln/>
        </p:spPr>
        <p:txBody>
          <a:bodyPr wrap="square" lIns="0" tIns="0" rIns="0" bIns="0" rtlCol="0" anchor="ctr"/>
          <a:lstStyle/>
          <a:p>
            <a:pPr marL="0" indent="0">
              <a:buNone/>
            </a:pPr>
            <a:r>
              <a:rPr lang="en-US" sz="900" dirty="0">
                <a:solidFill>
                  <a:srgbClr val="FFFFFF"/>
                </a:solidFill>
                <a:latin typeface="Consolas" pitchFamily="34" charset="0"/>
                <a:ea typeface="Consolas" pitchFamily="34" charset="-122"/>
                <a:cs typeface="Consolas" pitchFamily="34" charset="-120"/>
              </a:rPr>
              <a:t>T = steps until terminal</a:t>
            </a:r>
            <a:endParaRPr lang="en-US" sz="900" dirty="0"/>
          </a:p>
        </p:txBody>
      </p:sp>
      <p:sp>
        <p:nvSpPr>
          <p:cNvPr id="25" name="Text 23"/>
          <p:cNvSpPr/>
          <p:nvPr/>
        </p:nvSpPr>
        <p:spPr>
          <a:xfrm>
            <a:off x="6272784" y="1865376"/>
            <a:ext cx="2578608" cy="320040"/>
          </a:xfrm>
          <a:prstGeom prst="rect">
            <a:avLst/>
          </a:prstGeom>
          <a:noFill/>
          <a:ln/>
        </p:spPr>
        <p:txBody>
          <a:bodyPr wrap="square" lIns="0" tIns="0" rIns="0" bIns="0" rtlCol="0" anchor="ctr"/>
          <a:lstStyle/>
          <a:p>
            <a:pPr marL="0" indent="0">
              <a:buNone/>
            </a:pPr>
            <a:r>
              <a:rPr lang="en-US" sz="850" dirty="0">
                <a:solidFill>
                  <a:srgbClr val="7ED348"/>
                </a:solidFill>
                <a:latin typeface="Calibri" pitchFamily="34" charset="0"/>
                <a:ea typeface="Calibri" pitchFamily="34" charset="-122"/>
                <a:cs typeface="Calibri" pitchFamily="34" charset="-120"/>
              </a:rPr>
              <a:t>✔ Easy to compute; reflects survival strategy quality</a:t>
            </a:r>
            <a:endParaRPr lang="en-US" sz="850" dirty="0"/>
          </a:p>
        </p:txBody>
      </p:sp>
      <p:sp>
        <p:nvSpPr>
          <p:cNvPr id="26" name="Text 24"/>
          <p:cNvSpPr/>
          <p:nvPr/>
        </p:nvSpPr>
        <p:spPr>
          <a:xfrm>
            <a:off x="6272784" y="2185416"/>
            <a:ext cx="2578608" cy="320040"/>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 Long episodes may mean inactivity, not competence</a:t>
            </a:r>
            <a:endParaRPr lang="en-US" sz="850" dirty="0"/>
          </a:p>
        </p:txBody>
      </p:sp>
      <p:sp>
        <p:nvSpPr>
          <p:cNvPr id="27" name="Shape 25"/>
          <p:cNvSpPr/>
          <p:nvPr/>
        </p:nvSpPr>
        <p:spPr>
          <a:xfrm>
            <a:off x="274320" y="2898648"/>
            <a:ext cx="2743200" cy="1645920"/>
          </a:xfrm>
          <a:prstGeom prst="rect">
            <a:avLst/>
          </a:prstGeom>
          <a:solidFill>
            <a:srgbClr val="152C19"/>
          </a:solidFill>
          <a:ln w="12700">
            <a:solidFill>
              <a:srgbClr val="E8A020"/>
            </a:solidFill>
            <a:prstDash val="solid"/>
          </a:ln>
        </p:spPr>
        <p:txBody>
          <a:bodyPr/>
          <a:lstStyle/>
          <a:p>
            <a:endParaRPr lang="LID4096"/>
          </a:p>
        </p:txBody>
      </p:sp>
      <p:sp>
        <p:nvSpPr>
          <p:cNvPr id="28" name="Shape 26"/>
          <p:cNvSpPr/>
          <p:nvPr/>
        </p:nvSpPr>
        <p:spPr>
          <a:xfrm>
            <a:off x="274320" y="2898648"/>
            <a:ext cx="54864" cy="1645920"/>
          </a:xfrm>
          <a:prstGeom prst="rect">
            <a:avLst/>
          </a:prstGeom>
          <a:solidFill>
            <a:srgbClr val="E8A020"/>
          </a:solidFill>
          <a:ln w="12700">
            <a:solidFill>
              <a:srgbClr val="E8A020"/>
            </a:solidFill>
            <a:prstDash val="solid"/>
          </a:ln>
        </p:spPr>
        <p:txBody>
          <a:bodyPr/>
          <a:lstStyle/>
          <a:p>
            <a:endParaRPr lang="LID4096"/>
          </a:p>
        </p:txBody>
      </p:sp>
      <p:sp>
        <p:nvSpPr>
          <p:cNvPr id="29" name="Text 27"/>
          <p:cNvSpPr/>
          <p:nvPr/>
        </p:nvSpPr>
        <p:spPr>
          <a:xfrm>
            <a:off x="384048" y="2953512"/>
            <a:ext cx="2578608" cy="256032"/>
          </a:xfrm>
          <a:prstGeom prst="rect">
            <a:avLst/>
          </a:prstGeom>
          <a:noFill/>
          <a:ln/>
        </p:spPr>
        <p:txBody>
          <a:bodyPr wrap="square" lIns="0" tIns="0" rIns="0" bIns="0" rtlCol="0" anchor="ctr"/>
          <a:lstStyle/>
          <a:p>
            <a:pPr marL="0" indent="0">
              <a:buNone/>
            </a:pPr>
            <a:r>
              <a:rPr lang="en-US" sz="1050" b="1" dirty="0">
                <a:solidFill>
                  <a:srgbClr val="E8A020"/>
                </a:solidFill>
                <a:latin typeface="Trebuchet MS" pitchFamily="34" charset="0"/>
                <a:ea typeface="Trebuchet MS" pitchFamily="34" charset="-122"/>
                <a:cs typeface="Trebuchet MS" pitchFamily="34" charset="-120"/>
              </a:rPr>
              <a:t>Win Rate</a:t>
            </a:r>
            <a:endParaRPr lang="en-US" sz="1050" dirty="0"/>
          </a:p>
        </p:txBody>
      </p:sp>
      <p:sp>
        <p:nvSpPr>
          <p:cNvPr id="30" name="Text 28"/>
          <p:cNvSpPr/>
          <p:nvPr/>
        </p:nvSpPr>
        <p:spPr>
          <a:xfrm>
            <a:off x="384048" y="3191256"/>
            <a:ext cx="2578608" cy="182880"/>
          </a:xfrm>
          <a:prstGeom prst="rect">
            <a:avLst/>
          </a:prstGeom>
          <a:noFill/>
          <a:ln/>
        </p:spPr>
        <p:txBody>
          <a:bodyPr wrap="square" lIns="0" tIns="0" rIns="0" bIns="0" rtlCol="0" anchor="ctr"/>
          <a:lstStyle/>
          <a:p>
            <a:pPr marL="0" indent="0">
              <a:buNone/>
            </a:pPr>
            <a:r>
              <a:rPr lang="en-US" sz="850" dirty="0">
                <a:solidFill>
                  <a:srgbClr val="8BB87A"/>
                </a:solidFill>
                <a:latin typeface="Calibri" pitchFamily="34" charset="0"/>
                <a:ea typeface="Calibri" pitchFamily="34" charset="-122"/>
                <a:cs typeface="Calibri" pitchFamily="34" charset="-120"/>
              </a:rPr>
              <a:t>Scenario Success %</a:t>
            </a:r>
            <a:endParaRPr lang="en-US" sz="850" dirty="0"/>
          </a:p>
        </p:txBody>
      </p:sp>
      <p:sp>
        <p:nvSpPr>
          <p:cNvPr id="31" name="Text 29"/>
          <p:cNvSpPr/>
          <p:nvPr/>
        </p:nvSpPr>
        <p:spPr>
          <a:xfrm>
            <a:off x="384048" y="3374136"/>
            <a:ext cx="2578608" cy="228600"/>
          </a:xfrm>
          <a:prstGeom prst="rect">
            <a:avLst/>
          </a:prstGeom>
          <a:noFill/>
          <a:ln/>
        </p:spPr>
        <p:txBody>
          <a:bodyPr wrap="square" lIns="0" tIns="0" rIns="0" bIns="0" rtlCol="0" anchor="ctr"/>
          <a:lstStyle/>
          <a:p>
            <a:pPr marL="0" indent="0">
              <a:buNone/>
            </a:pPr>
            <a:r>
              <a:rPr lang="en-US" sz="900" dirty="0">
                <a:solidFill>
                  <a:srgbClr val="FFFFFF"/>
                </a:solidFill>
                <a:latin typeface="Consolas" pitchFamily="34" charset="0"/>
                <a:ea typeface="Consolas" pitchFamily="34" charset="-122"/>
                <a:cs typeface="Consolas" pitchFamily="34" charset="-120"/>
              </a:rPr>
              <a:t>WR = Wins / Episodes × 100%</a:t>
            </a:r>
            <a:endParaRPr lang="en-US" sz="900" dirty="0"/>
          </a:p>
        </p:txBody>
      </p:sp>
      <p:sp>
        <p:nvSpPr>
          <p:cNvPr id="32" name="Text 30"/>
          <p:cNvSpPr/>
          <p:nvPr/>
        </p:nvSpPr>
        <p:spPr>
          <a:xfrm>
            <a:off x="384048" y="3648456"/>
            <a:ext cx="2578608" cy="320040"/>
          </a:xfrm>
          <a:prstGeom prst="rect">
            <a:avLst/>
          </a:prstGeom>
          <a:noFill/>
          <a:ln/>
        </p:spPr>
        <p:txBody>
          <a:bodyPr wrap="square" lIns="0" tIns="0" rIns="0" bIns="0" rtlCol="0" anchor="ctr"/>
          <a:lstStyle/>
          <a:p>
            <a:pPr marL="0" indent="0">
              <a:buNone/>
            </a:pPr>
            <a:r>
              <a:rPr lang="en-US" sz="850" dirty="0">
                <a:solidFill>
                  <a:srgbClr val="7ED348"/>
                </a:solidFill>
                <a:latin typeface="Calibri" pitchFamily="34" charset="0"/>
                <a:ea typeface="Calibri" pitchFamily="34" charset="-122"/>
                <a:cs typeface="Calibri" pitchFamily="34" charset="-120"/>
              </a:rPr>
              <a:t>✔ Clear binary success; easy to compare stages</a:t>
            </a:r>
            <a:endParaRPr lang="en-US" sz="850" dirty="0"/>
          </a:p>
        </p:txBody>
      </p:sp>
      <p:sp>
        <p:nvSpPr>
          <p:cNvPr id="33" name="Text 31"/>
          <p:cNvSpPr/>
          <p:nvPr/>
        </p:nvSpPr>
        <p:spPr>
          <a:xfrm>
            <a:off x="384048" y="3968496"/>
            <a:ext cx="2578608" cy="320040"/>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 Binary; doesn't capture margin of victory</a:t>
            </a:r>
            <a:endParaRPr lang="en-US" sz="850" dirty="0"/>
          </a:p>
        </p:txBody>
      </p:sp>
      <p:sp>
        <p:nvSpPr>
          <p:cNvPr id="34" name="Shape 32"/>
          <p:cNvSpPr/>
          <p:nvPr/>
        </p:nvSpPr>
        <p:spPr>
          <a:xfrm>
            <a:off x="3218688" y="2898648"/>
            <a:ext cx="2743200" cy="1645920"/>
          </a:xfrm>
          <a:prstGeom prst="rect">
            <a:avLst/>
          </a:prstGeom>
          <a:solidFill>
            <a:srgbClr val="152C19"/>
          </a:solidFill>
          <a:ln w="12700">
            <a:solidFill>
              <a:srgbClr val="7ED348"/>
            </a:solidFill>
            <a:prstDash val="solid"/>
          </a:ln>
        </p:spPr>
        <p:txBody>
          <a:bodyPr/>
          <a:lstStyle/>
          <a:p>
            <a:endParaRPr lang="LID4096"/>
          </a:p>
        </p:txBody>
      </p:sp>
      <p:sp>
        <p:nvSpPr>
          <p:cNvPr id="35" name="Shape 33"/>
          <p:cNvSpPr/>
          <p:nvPr/>
        </p:nvSpPr>
        <p:spPr>
          <a:xfrm>
            <a:off x="3218688" y="2898648"/>
            <a:ext cx="54864" cy="1645920"/>
          </a:xfrm>
          <a:prstGeom prst="rect">
            <a:avLst/>
          </a:prstGeom>
          <a:solidFill>
            <a:srgbClr val="7ED348"/>
          </a:solidFill>
          <a:ln w="12700">
            <a:solidFill>
              <a:srgbClr val="7ED348"/>
            </a:solidFill>
            <a:prstDash val="solid"/>
          </a:ln>
        </p:spPr>
        <p:txBody>
          <a:bodyPr/>
          <a:lstStyle/>
          <a:p>
            <a:endParaRPr lang="LID4096"/>
          </a:p>
        </p:txBody>
      </p:sp>
      <p:sp>
        <p:nvSpPr>
          <p:cNvPr id="36" name="Text 34"/>
          <p:cNvSpPr/>
          <p:nvPr/>
        </p:nvSpPr>
        <p:spPr>
          <a:xfrm>
            <a:off x="3328416" y="2953512"/>
            <a:ext cx="2578608" cy="256032"/>
          </a:xfrm>
          <a:prstGeom prst="rect">
            <a:avLst/>
          </a:prstGeom>
          <a:noFill/>
          <a:ln/>
        </p:spPr>
        <p:txBody>
          <a:bodyPr wrap="square" lIns="0" tIns="0" rIns="0" bIns="0" rtlCol="0" anchor="ctr"/>
          <a:lstStyle/>
          <a:p>
            <a:pPr marL="0" indent="0">
              <a:buNone/>
            </a:pPr>
            <a:r>
              <a:rPr lang="en-US" sz="1050" b="1" dirty="0">
                <a:solidFill>
                  <a:srgbClr val="7ED348"/>
                </a:solidFill>
                <a:latin typeface="Trebuchet MS" pitchFamily="34" charset="0"/>
                <a:ea typeface="Trebuchet MS" pitchFamily="34" charset="-122"/>
                <a:cs typeface="Trebuchet MS" pitchFamily="34" charset="-120"/>
              </a:rPr>
              <a:t>Sample Efficiency</a:t>
            </a:r>
            <a:endParaRPr lang="en-US" sz="1050" dirty="0"/>
          </a:p>
        </p:txBody>
      </p:sp>
      <p:sp>
        <p:nvSpPr>
          <p:cNvPr id="37" name="Text 35"/>
          <p:cNvSpPr/>
          <p:nvPr/>
        </p:nvSpPr>
        <p:spPr>
          <a:xfrm>
            <a:off x="3328416" y="3191256"/>
            <a:ext cx="2578608" cy="182880"/>
          </a:xfrm>
          <a:prstGeom prst="rect">
            <a:avLst/>
          </a:prstGeom>
          <a:noFill/>
          <a:ln/>
        </p:spPr>
        <p:txBody>
          <a:bodyPr wrap="square" lIns="0" tIns="0" rIns="0" bIns="0" rtlCol="0" anchor="ctr"/>
          <a:lstStyle/>
          <a:p>
            <a:pPr marL="0" indent="0">
              <a:buNone/>
            </a:pPr>
            <a:r>
              <a:rPr lang="en-US" sz="850" dirty="0">
                <a:solidFill>
                  <a:srgbClr val="8BB87A"/>
                </a:solidFill>
                <a:latin typeface="Calibri" pitchFamily="34" charset="0"/>
                <a:ea typeface="Calibri" pitchFamily="34" charset="-122"/>
                <a:cs typeface="Calibri" pitchFamily="34" charset="-120"/>
              </a:rPr>
              <a:t>Learning Speed</a:t>
            </a:r>
            <a:endParaRPr lang="en-US" sz="850" dirty="0"/>
          </a:p>
        </p:txBody>
      </p:sp>
      <p:sp>
        <p:nvSpPr>
          <p:cNvPr id="38" name="Text 36"/>
          <p:cNvSpPr/>
          <p:nvPr/>
        </p:nvSpPr>
        <p:spPr>
          <a:xfrm>
            <a:off x="3328416" y="3374136"/>
            <a:ext cx="2578608" cy="228600"/>
          </a:xfrm>
          <a:prstGeom prst="rect">
            <a:avLst/>
          </a:prstGeom>
          <a:noFill/>
          <a:ln/>
        </p:spPr>
        <p:txBody>
          <a:bodyPr wrap="square" lIns="0" tIns="0" rIns="0" bIns="0" rtlCol="0" anchor="ctr"/>
          <a:lstStyle/>
          <a:p>
            <a:pPr marL="0" indent="0">
              <a:buNone/>
            </a:pPr>
            <a:r>
              <a:rPr lang="en-US" sz="900" dirty="0">
                <a:solidFill>
                  <a:srgbClr val="FFFFFF"/>
                </a:solidFill>
                <a:latin typeface="Consolas" pitchFamily="34" charset="0"/>
                <a:ea typeface="Consolas" pitchFamily="34" charset="-122"/>
                <a:cs typeface="Consolas" pitchFamily="34" charset="-120"/>
              </a:rPr>
              <a:t>Steps to reach reward R*</a:t>
            </a:r>
            <a:endParaRPr lang="en-US" sz="900" dirty="0"/>
          </a:p>
        </p:txBody>
      </p:sp>
      <p:sp>
        <p:nvSpPr>
          <p:cNvPr id="39" name="Text 37"/>
          <p:cNvSpPr/>
          <p:nvPr/>
        </p:nvSpPr>
        <p:spPr>
          <a:xfrm>
            <a:off x="3328416" y="3648456"/>
            <a:ext cx="2578608" cy="320040"/>
          </a:xfrm>
          <a:prstGeom prst="rect">
            <a:avLst/>
          </a:prstGeom>
          <a:noFill/>
          <a:ln/>
        </p:spPr>
        <p:txBody>
          <a:bodyPr wrap="square" lIns="0" tIns="0" rIns="0" bIns="0" rtlCol="0" anchor="ctr"/>
          <a:lstStyle/>
          <a:p>
            <a:pPr marL="0" indent="0">
              <a:buNone/>
            </a:pPr>
            <a:r>
              <a:rPr lang="en-US" sz="850" dirty="0">
                <a:solidFill>
                  <a:srgbClr val="7ED348"/>
                </a:solidFill>
                <a:latin typeface="Calibri" pitchFamily="34" charset="0"/>
                <a:ea typeface="Calibri" pitchFamily="34" charset="-122"/>
                <a:cs typeface="Calibri" pitchFamily="34" charset="-120"/>
              </a:rPr>
              <a:t>✔ Reveals how data hungry the algorithm is</a:t>
            </a:r>
            <a:endParaRPr lang="en-US" sz="850" dirty="0"/>
          </a:p>
        </p:txBody>
      </p:sp>
      <p:sp>
        <p:nvSpPr>
          <p:cNvPr id="40" name="Text 38"/>
          <p:cNvSpPr/>
          <p:nvPr/>
        </p:nvSpPr>
        <p:spPr>
          <a:xfrm>
            <a:off x="3328416" y="3968496"/>
            <a:ext cx="2578608" cy="320040"/>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 Threshold R* is subjective; environment-dependent</a:t>
            </a:r>
            <a:endParaRPr lang="en-US" sz="850" dirty="0"/>
          </a:p>
        </p:txBody>
      </p:sp>
      <p:sp>
        <p:nvSpPr>
          <p:cNvPr id="41" name="Shape 39"/>
          <p:cNvSpPr/>
          <p:nvPr/>
        </p:nvSpPr>
        <p:spPr>
          <a:xfrm>
            <a:off x="0" y="4800600"/>
            <a:ext cx="9144000" cy="342900"/>
          </a:xfrm>
          <a:prstGeom prst="rect">
            <a:avLst/>
          </a:prstGeom>
          <a:solidFill>
            <a:srgbClr val="1A3A1E"/>
          </a:solidFill>
          <a:ln w="12700">
            <a:solidFill>
              <a:srgbClr val="7ED348"/>
            </a:solidFill>
            <a:prstDash val="solid"/>
          </a:ln>
        </p:spPr>
        <p:txBody>
          <a:bodyPr/>
          <a:lstStyle/>
          <a:p>
            <a:endParaRPr lang="LID4096"/>
          </a:p>
        </p:txBody>
      </p:sp>
      <p:sp>
        <p:nvSpPr>
          <p:cNvPr id="42" name="Text 40"/>
          <p:cNvSpPr/>
          <p:nvPr/>
        </p:nvSpPr>
        <p:spPr>
          <a:xfrm>
            <a:off x="182880" y="4818888"/>
            <a:ext cx="5486400" cy="292608"/>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Horde Survival Game, Deep RL</a:t>
            </a:r>
            <a:endParaRPr lang="en-US" sz="900" dirty="0"/>
          </a:p>
        </p:txBody>
      </p:sp>
      <p:sp>
        <p:nvSpPr>
          <p:cNvPr id="43" name="Text 41"/>
          <p:cNvSpPr/>
          <p:nvPr/>
        </p:nvSpPr>
        <p:spPr>
          <a:xfrm>
            <a:off x="3657600" y="4818888"/>
            <a:ext cx="5303520" cy="292608"/>
          </a:xfrm>
          <a:prstGeom prst="rect">
            <a:avLst/>
          </a:prstGeom>
          <a:noFill/>
          <a:ln/>
        </p:spPr>
        <p:txBody>
          <a:bodyPr wrap="square" lIns="0" tIns="0" rIns="0" bIns="0" rtlCol="0" anchor="ctr"/>
          <a:lstStyle/>
          <a:p>
            <a:pPr marL="0" indent="0" algn="r">
              <a:buNone/>
            </a:pPr>
            <a:r>
              <a:rPr lang="en-US" sz="900" dirty="0">
                <a:solidFill>
                  <a:srgbClr val="7ED348"/>
                </a:solidFill>
                <a:latin typeface="Calibri" pitchFamily="34" charset="0"/>
                <a:ea typeface="Calibri" pitchFamily="34" charset="-122"/>
                <a:cs typeface="Calibri" pitchFamily="34" charset="-120"/>
              </a:rPr>
              <a:t>Evaluation Metrics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1E"/>
          </a:solidFill>
          <a:ln w="12700">
            <a:solidFill>
              <a:srgbClr val="1A3A1E"/>
            </a:solidFill>
            <a:prstDash val="solid"/>
          </a:ln>
        </p:spPr>
        <p:txBody>
          <a:bodyPr/>
          <a:lstStyle/>
          <a:p>
            <a:endParaRPr lang="LID4096"/>
          </a:p>
        </p:txBody>
      </p:sp>
      <p:sp>
        <p:nvSpPr>
          <p:cNvPr id="3" name="Text 1"/>
          <p:cNvSpPr/>
          <p:nvPr/>
        </p:nvSpPr>
        <p:spPr>
          <a:xfrm>
            <a:off x="457200" y="109728"/>
            <a:ext cx="8229600" cy="438912"/>
          </a:xfrm>
          <a:prstGeom prst="rect">
            <a:avLst/>
          </a:prstGeom>
          <a:noFill/>
          <a:ln/>
        </p:spPr>
        <p:txBody>
          <a:bodyPr wrap="square" lIns="0" tIns="0" rIns="0" bIns="0" rtlCol="0" anchor="ctr"/>
          <a:lstStyle/>
          <a:p>
            <a:pPr marL="0" indent="0" algn="l">
              <a:buNone/>
            </a:pPr>
            <a:r>
              <a:rPr lang="en-US" sz="2400" b="1" dirty="0">
                <a:solidFill>
                  <a:srgbClr val="7ED348"/>
                </a:solidFill>
                <a:latin typeface="Trebuchet MS" pitchFamily="34" charset="0"/>
                <a:ea typeface="Trebuchet MS" pitchFamily="34" charset="-122"/>
                <a:cs typeface="Trebuchet MS" pitchFamily="34" charset="-120"/>
              </a:rPr>
              <a:t>METRICS DEEP DIVE &amp; COMPARISON</a:t>
            </a:r>
            <a:endParaRPr lang="en-US" sz="2400" dirty="0"/>
          </a:p>
        </p:txBody>
      </p:sp>
      <p:sp>
        <p:nvSpPr>
          <p:cNvPr id="4" name="Text 2"/>
          <p:cNvSpPr/>
          <p:nvPr/>
        </p:nvSpPr>
        <p:spPr>
          <a:xfrm>
            <a:off x="457200" y="566928"/>
            <a:ext cx="8229600" cy="237744"/>
          </a:xfrm>
          <a:prstGeom prst="rect">
            <a:avLst/>
          </a:prstGeom>
          <a:noFill/>
          <a:ln/>
        </p:spPr>
        <p:txBody>
          <a:bodyPr wrap="square" lIns="0" tIns="0" rIns="0" bIns="0" rtlCol="0" anchor="ctr"/>
          <a:lstStyle/>
          <a:p>
            <a:pPr marL="0" indent="0" algn="l">
              <a:buNone/>
            </a:pPr>
            <a:r>
              <a:rPr lang="en-US" sz="1000" dirty="0">
                <a:solidFill>
                  <a:srgbClr val="8BB87A"/>
                </a:solidFill>
                <a:latin typeface="Calibri" pitchFamily="34" charset="0"/>
                <a:ea typeface="Calibri" pitchFamily="34" charset="-122"/>
                <a:cs typeface="Calibri" pitchFamily="34" charset="-120"/>
              </a:rPr>
              <a:t>Relative importance scores &amp; training curves for the horde survival agent</a:t>
            </a:r>
            <a:endParaRPr lang="en-US" sz="1000" dirty="0"/>
          </a:p>
        </p:txBody>
      </p:sp>
      <p:graphicFrame>
        <p:nvGraphicFramePr>
          <p:cNvPr id="5" name="Chart 0"/>
          <p:cNvGraphicFramePr/>
          <p:nvPr/>
        </p:nvGraphicFramePr>
        <p:xfrm>
          <a:off x="274320" y="960120"/>
          <a:ext cx="4114800" cy="2194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572000" y="960120"/>
          <a:ext cx="4297680" cy="21945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3291840"/>
          <a:ext cx="8549640" cy="1444752"/>
        </p:xfrm>
        <a:graphic>
          <a:graphicData uri="http://schemas.openxmlformats.org/drawingml/2006/table">
            <a:tbl>
              <a:tblPr/>
              <a:tblGrid>
                <a:gridCol w="19202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tblGrid>
              <a:tr h="240792">
                <a:tc>
                  <a:txBody>
                    <a:bodyPr/>
                    <a:lstStyle/>
                    <a:p>
                      <a:pPr marL="0" indent="0">
                        <a:buNone/>
                      </a:pPr>
                      <a:r>
                        <a:rPr lang="en-US" sz="900" b="1" dirty="0">
                          <a:solidFill>
                            <a:srgbClr val="7ED348"/>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A3A1E"/>
                    </a:solidFill>
                  </a:tcPr>
                </a:tc>
                <a:tc>
                  <a:txBody>
                    <a:bodyPr/>
                    <a:lstStyle/>
                    <a:p>
                      <a:pPr marL="0" indent="0">
                        <a:buNone/>
                      </a:pPr>
                      <a:r>
                        <a:rPr lang="en-US" sz="900" b="1" dirty="0">
                          <a:solidFill>
                            <a:srgbClr val="7ED348"/>
                          </a:solidFill>
                          <a:latin typeface="Calibri" pitchFamily="34" charset="0"/>
                          <a:ea typeface="Calibri" pitchFamily="34" charset="-122"/>
                          <a:cs typeface="Calibri" pitchFamily="34" charset="-120"/>
                        </a:rPr>
                        <a:t>Measures</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A3A1E"/>
                    </a:solidFill>
                  </a:tcPr>
                </a:tc>
                <a:tc>
                  <a:txBody>
                    <a:bodyPr/>
                    <a:lstStyle/>
                    <a:p>
                      <a:pPr marL="0" indent="0">
                        <a:buNone/>
                      </a:pPr>
                      <a:r>
                        <a:rPr lang="en-US" sz="900" b="1" dirty="0">
                          <a:solidFill>
                            <a:srgbClr val="7ED348"/>
                          </a:solidFill>
                          <a:latin typeface="Calibri" pitchFamily="34" charset="0"/>
                          <a:ea typeface="Calibri" pitchFamily="34" charset="-122"/>
                          <a:cs typeface="Calibri" pitchFamily="34" charset="-120"/>
                        </a:rPr>
                        <a:t>Range</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A3A1E"/>
                    </a:solidFill>
                  </a:tcPr>
                </a:tc>
                <a:tc>
                  <a:txBody>
                    <a:bodyPr/>
                    <a:lstStyle/>
                    <a:p>
                      <a:pPr marL="0" indent="0">
                        <a:buNone/>
                      </a:pPr>
                      <a:r>
                        <a:rPr lang="en-US" sz="900" b="1" dirty="0">
                          <a:solidFill>
                            <a:srgbClr val="7ED348"/>
                          </a:solidFill>
                          <a:latin typeface="Calibri" pitchFamily="34" charset="0"/>
                          <a:ea typeface="Calibri" pitchFamily="34" charset="-122"/>
                          <a:cs typeface="Calibri" pitchFamily="34" charset="-120"/>
                        </a:rPr>
                        <a:t>Limitation</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A3A1E"/>
                    </a:solidFill>
                  </a:tcPr>
                </a:tc>
                <a:extLst>
                  <a:ext uri="{0D108BD9-81ED-4DB2-BD59-A6C34878D82A}">
                    <a16:rowId xmlns:a16="http://schemas.microsoft.com/office/drawing/2014/main" val="10000"/>
                  </a:ext>
                </a:extLst>
              </a:tr>
              <a:tr h="240792">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Cumulative Reward</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Total episodic reward</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 to +∞</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Reward hacking possible</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extLst>
                  <a:ext uri="{0D108BD9-81ED-4DB2-BD59-A6C34878D82A}">
                    <a16:rowId xmlns:a16="http://schemas.microsoft.com/office/drawing/2014/main" val="10001"/>
                  </a:ext>
                </a:extLst>
              </a:tr>
              <a:tr h="240792">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Kill / Death Ratio</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Combat effectiveness</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0 to +∞ (1.0 = break-even)</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Ignores other objectives</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extLst>
                  <a:ext uri="{0D108BD9-81ED-4DB2-BD59-A6C34878D82A}">
                    <a16:rowId xmlns:a16="http://schemas.microsoft.com/office/drawing/2014/main" val="10002"/>
                  </a:ext>
                </a:extLst>
              </a:tr>
              <a:tr h="240792">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Episode Length</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Survival duration</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1 to T_max steps</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Passivity not penalised</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extLst>
                  <a:ext uri="{0D108BD9-81ED-4DB2-BD59-A6C34878D82A}">
                    <a16:rowId xmlns:a16="http://schemas.microsoft.com/office/drawing/2014/main" val="10003"/>
                  </a:ext>
                </a:extLst>
              </a:tr>
              <a:tr h="240792">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Win Rate</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Scenario completion %</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0% to 100%</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Binary; no margin info</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extLst>
                  <a:ext uri="{0D108BD9-81ED-4DB2-BD59-A6C34878D82A}">
                    <a16:rowId xmlns:a16="http://schemas.microsoft.com/office/drawing/2014/main" val="10004"/>
                  </a:ext>
                </a:extLst>
              </a:tr>
              <a:tr h="240792">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Sample Efficiency</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Steps to reach target</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Lower is better</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tc>
                  <a:txBody>
                    <a:bodyPr/>
                    <a:lstStyle/>
                    <a:p>
                      <a:pPr marL="0" indent="0">
                        <a:buNone/>
                      </a:pPr>
                      <a:r>
                        <a:rPr lang="en-US" sz="900" dirty="0">
                          <a:solidFill>
                            <a:srgbClr val="E8F5E0"/>
                          </a:solidFill>
                          <a:latin typeface="Calibri" pitchFamily="34" charset="0"/>
                          <a:ea typeface="Calibri" pitchFamily="34" charset="-122"/>
                          <a:cs typeface="Calibri" pitchFamily="34" charset="-120"/>
                        </a:rPr>
                        <a:t>Threshold is subjective</a:t>
                      </a:r>
                      <a:endParaRPr lang="en-US" sz="900" dirty="0">
                        <a:latin typeface="Calibri" charset="0"/>
                        <a:ea typeface="Calibri" charset="0"/>
                        <a:cs typeface="Calibri" charset="0"/>
                      </a:endParaRPr>
                    </a:p>
                  </a:txBody>
                  <a:tcPr>
                    <a:lnL w="6350" cap="flat" cmpd="sng" algn="ctr">
                      <a:solidFill>
                        <a:srgbClr val="1A3A1E"/>
                      </a:solidFill>
                      <a:prstDash val="solid"/>
                      <a:round/>
                      <a:headEnd type="none" w="med" len="med"/>
                      <a:tailEnd type="none" w="med" len="med"/>
                    </a:lnL>
                    <a:lnR w="6350" cap="flat" cmpd="sng" algn="ctr">
                      <a:solidFill>
                        <a:srgbClr val="1A3A1E"/>
                      </a:solidFill>
                      <a:prstDash val="solid"/>
                      <a:round/>
                      <a:headEnd type="none" w="med" len="med"/>
                      <a:tailEnd type="none" w="med" len="med"/>
                    </a:lnR>
                    <a:lnT w="6350" cap="flat" cmpd="sng" algn="ctr">
                      <a:solidFill>
                        <a:srgbClr val="1A3A1E"/>
                      </a:solidFill>
                      <a:prstDash val="solid"/>
                      <a:round/>
                      <a:headEnd type="none" w="med" len="med"/>
                      <a:tailEnd type="none" w="med" len="med"/>
                    </a:lnT>
                    <a:lnB w="6350" cap="flat" cmpd="sng" algn="ctr">
                      <a:solidFill>
                        <a:srgbClr val="1A3A1E"/>
                      </a:solidFill>
                      <a:prstDash val="solid"/>
                      <a:round/>
                      <a:headEnd type="none" w="med" len="med"/>
                      <a:tailEnd type="none" w="med" len="med"/>
                    </a:lnB>
                    <a:solidFill>
                      <a:srgbClr val="152C19"/>
                    </a:solidFill>
                  </a:tcPr>
                </a:tc>
                <a:extLst>
                  <a:ext uri="{0D108BD9-81ED-4DB2-BD59-A6C34878D82A}">
                    <a16:rowId xmlns:a16="http://schemas.microsoft.com/office/drawing/2014/main" val="10005"/>
                  </a:ext>
                </a:extLst>
              </a:tr>
            </a:tbl>
          </a:graphicData>
        </a:graphic>
      </p:graphicFrame>
      <p:sp>
        <p:nvSpPr>
          <p:cNvPr id="8" name="Shape 3"/>
          <p:cNvSpPr/>
          <p:nvPr/>
        </p:nvSpPr>
        <p:spPr>
          <a:xfrm>
            <a:off x="0" y="4800600"/>
            <a:ext cx="9144000" cy="342900"/>
          </a:xfrm>
          <a:prstGeom prst="rect">
            <a:avLst/>
          </a:prstGeom>
          <a:solidFill>
            <a:srgbClr val="1A3A1E"/>
          </a:solidFill>
          <a:ln w="12700">
            <a:solidFill>
              <a:srgbClr val="7ED348"/>
            </a:solidFill>
            <a:prstDash val="solid"/>
          </a:ln>
        </p:spPr>
        <p:txBody>
          <a:bodyPr/>
          <a:lstStyle/>
          <a:p>
            <a:endParaRPr lang="LID4096"/>
          </a:p>
        </p:txBody>
      </p:sp>
      <p:sp>
        <p:nvSpPr>
          <p:cNvPr id="9" name="Text 4"/>
          <p:cNvSpPr/>
          <p:nvPr/>
        </p:nvSpPr>
        <p:spPr>
          <a:xfrm>
            <a:off x="182880" y="4818888"/>
            <a:ext cx="5486400" cy="292608"/>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Horde Survival Game, Deep RL</a:t>
            </a:r>
            <a:endParaRPr lang="en-US" sz="900" dirty="0"/>
          </a:p>
        </p:txBody>
      </p:sp>
      <p:sp>
        <p:nvSpPr>
          <p:cNvPr id="10" name="Text 5"/>
          <p:cNvSpPr/>
          <p:nvPr/>
        </p:nvSpPr>
        <p:spPr>
          <a:xfrm>
            <a:off x="3657600" y="4818888"/>
            <a:ext cx="5303520" cy="292608"/>
          </a:xfrm>
          <a:prstGeom prst="rect">
            <a:avLst/>
          </a:prstGeom>
          <a:noFill/>
          <a:ln/>
        </p:spPr>
        <p:txBody>
          <a:bodyPr wrap="square" lIns="0" tIns="0" rIns="0" bIns="0" rtlCol="0" anchor="ctr"/>
          <a:lstStyle/>
          <a:p>
            <a:pPr marL="0" indent="0" algn="r">
              <a:buNone/>
            </a:pPr>
            <a:r>
              <a:rPr lang="en-US" sz="900" dirty="0">
                <a:solidFill>
                  <a:srgbClr val="7ED348"/>
                </a:solidFill>
                <a:latin typeface="Calibri" pitchFamily="34" charset="0"/>
                <a:ea typeface="Calibri" pitchFamily="34" charset="-122"/>
                <a:cs typeface="Calibri" pitchFamily="34" charset="-120"/>
              </a:rPr>
              <a:t>Metrics Comparison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F1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F12"/>
          </a:solidFill>
          <a:ln w="12700">
            <a:solidFill>
              <a:srgbClr val="0D1F12"/>
            </a:solidFill>
            <a:prstDash val="solid"/>
          </a:ln>
        </p:spPr>
        <p:txBody>
          <a:bodyPr/>
          <a:lstStyle/>
          <a:p>
            <a:endParaRPr lang="LID4096"/>
          </a:p>
        </p:txBody>
      </p:sp>
      <p:sp>
        <p:nvSpPr>
          <p:cNvPr id="3" name="Text 1"/>
          <p:cNvSpPr/>
          <p:nvPr/>
        </p:nvSpPr>
        <p:spPr>
          <a:xfrm>
            <a:off x="457200" y="228600"/>
            <a:ext cx="8229600" cy="475488"/>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Key Takeaways</a:t>
            </a:r>
            <a:endParaRPr lang="en-US" sz="2600" dirty="0"/>
          </a:p>
        </p:txBody>
      </p:sp>
      <p:sp>
        <p:nvSpPr>
          <p:cNvPr id="4" name="Shape 2"/>
          <p:cNvSpPr/>
          <p:nvPr/>
        </p:nvSpPr>
        <p:spPr>
          <a:xfrm>
            <a:off x="365760" y="841248"/>
            <a:ext cx="8412480" cy="594360"/>
          </a:xfrm>
          <a:prstGeom prst="rect">
            <a:avLst/>
          </a:prstGeom>
          <a:solidFill>
            <a:srgbClr val="152C19"/>
          </a:solidFill>
          <a:ln w="12700">
            <a:solidFill>
              <a:srgbClr val="8BB87A"/>
            </a:solidFill>
            <a:prstDash val="solid"/>
          </a:ln>
        </p:spPr>
        <p:txBody>
          <a:bodyPr/>
          <a:lstStyle/>
          <a:p>
            <a:endParaRPr lang="LID4096"/>
          </a:p>
        </p:txBody>
      </p:sp>
      <p:sp>
        <p:nvSpPr>
          <p:cNvPr id="5" name="Shape 3"/>
          <p:cNvSpPr/>
          <p:nvPr/>
        </p:nvSpPr>
        <p:spPr>
          <a:xfrm>
            <a:off x="365760" y="841248"/>
            <a:ext cx="54864" cy="594360"/>
          </a:xfrm>
          <a:prstGeom prst="rect">
            <a:avLst/>
          </a:prstGeom>
          <a:solidFill>
            <a:srgbClr val="8BB87A"/>
          </a:solidFill>
          <a:ln w="12700">
            <a:solidFill>
              <a:srgbClr val="8BB87A"/>
            </a:solidFill>
            <a:prstDash val="solid"/>
          </a:ln>
        </p:spPr>
        <p:txBody>
          <a:bodyPr/>
          <a:lstStyle/>
          <a:p>
            <a:endParaRPr lang="LID4096"/>
          </a:p>
        </p:txBody>
      </p:sp>
      <p:sp>
        <p:nvSpPr>
          <p:cNvPr id="6" name="Text 4"/>
          <p:cNvSpPr/>
          <p:nvPr/>
        </p:nvSpPr>
        <p:spPr>
          <a:xfrm>
            <a:off x="530352" y="868680"/>
            <a:ext cx="2011680" cy="530352"/>
          </a:xfrm>
          <a:prstGeom prst="rect">
            <a:avLst/>
          </a:prstGeom>
          <a:noFill/>
          <a:ln/>
        </p:spPr>
        <p:txBody>
          <a:bodyPr wrap="square" lIns="0" tIns="0" rIns="0" bIns="0" rtlCol="0" anchor="ctr"/>
          <a:lstStyle/>
          <a:p>
            <a:pPr marL="0" indent="0">
              <a:buNone/>
            </a:pPr>
            <a:r>
              <a:rPr lang="en-US" sz="1050" b="1" dirty="0">
                <a:solidFill>
                  <a:srgbClr val="8BB87A"/>
                </a:solidFill>
                <a:latin typeface="Trebuchet MS" pitchFamily="34" charset="0"/>
                <a:ea typeface="Trebuchet MS" pitchFamily="34" charset="-122"/>
                <a:cs typeface="Trebuchet MS" pitchFamily="34" charset="-120"/>
              </a:rPr>
              <a:t>TD / Bellman</a:t>
            </a:r>
            <a:endParaRPr lang="en-US" sz="1050" dirty="0"/>
          </a:p>
        </p:txBody>
      </p:sp>
      <p:sp>
        <p:nvSpPr>
          <p:cNvPr id="7" name="Text 5"/>
          <p:cNvSpPr/>
          <p:nvPr/>
        </p:nvSpPr>
        <p:spPr>
          <a:xfrm>
            <a:off x="2606040" y="868680"/>
            <a:ext cx="6080760" cy="530352"/>
          </a:xfrm>
          <a:prstGeom prst="rect">
            <a:avLst/>
          </a:prstGeom>
          <a:noFill/>
          <a:ln/>
        </p:spPr>
        <p:txBody>
          <a:bodyPr wrap="square" lIns="0" tIns="0" rIns="0" bIns="0" rtlCol="0" anchor="ctr"/>
          <a:lstStyle/>
          <a:p>
            <a:pPr marL="0" indent="0">
              <a:buNone/>
            </a:pPr>
            <a:r>
              <a:rPr lang="en-US" sz="1050" dirty="0">
                <a:solidFill>
                  <a:srgbClr val="E8F5E0"/>
                </a:solidFill>
                <a:latin typeface="Calibri" pitchFamily="34" charset="0"/>
                <a:ea typeface="Calibri" pitchFamily="34" charset="-122"/>
                <a:cs typeface="Calibri" pitchFamily="34" charset="-120"/>
              </a:rPr>
              <a:t>Strong discrete-action baseline (DQN). Sensitive to hyperparameters. Best for simple horde waves.</a:t>
            </a:r>
            <a:endParaRPr lang="en-US" sz="1050" dirty="0"/>
          </a:p>
        </p:txBody>
      </p:sp>
      <p:sp>
        <p:nvSpPr>
          <p:cNvPr id="8" name="Shape 6"/>
          <p:cNvSpPr/>
          <p:nvPr/>
        </p:nvSpPr>
        <p:spPr>
          <a:xfrm>
            <a:off x="365760" y="1499616"/>
            <a:ext cx="8412480" cy="594360"/>
          </a:xfrm>
          <a:prstGeom prst="rect">
            <a:avLst/>
          </a:prstGeom>
          <a:solidFill>
            <a:srgbClr val="152C19"/>
          </a:solidFill>
          <a:ln w="12700">
            <a:solidFill>
              <a:srgbClr val="8BB87A"/>
            </a:solidFill>
            <a:prstDash val="solid"/>
          </a:ln>
        </p:spPr>
        <p:txBody>
          <a:bodyPr/>
          <a:lstStyle/>
          <a:p>
            <a:endParaRPr lang="LID4096"/>
          </a:p>
        </p:txBody>
      </p:sp>
      <p:sp>
        <p:nvSpPr>
          <p:cNvPr id="9" name="Shape 7"/>
          <p:cNvSpPr/>
          <p:nvPr/>
        </p:nvSpPr>
        <p:spPr>
          <a:xfrm>
            <a:off x="365760" y="1499616"/>
            <a:ext cx="54864" cy="594360"/>
          </a:xfrm>
          <a:prstGeom prst="rect">
            <a:avLst/>
          </a:prstGeom>
          <a:solidFill>
            <a:srgbClr val="8BB87A"/>
          </a:solidFill>
          <a:ln w="12700">
            <a:solidFill>
              <a:srgbClr val="8BB87A"/>
            </a:solidFill>
            <a:prstDash val="solid"/>
          </a:ln>
        </p:spPr>
        <p:txBody>
          <a:bodyPr/>
          <a:lstStyle/>
          <a:p>
            <a:endParaRPr lang="LID4096"/>
          </a:p>
        </p:txBody>
      </p:sp>
      <p:sp>
        <p:nvSpPr>
          <p:cNvPr id="10" name="Text 8"/>
          <p:cNvSpPr/>
          <p:nvPr/>
        </p:nvSpPr>
        <p:spPr>
          <a:xfrm>
            <a:off x="530352" y="1527048"/>
            <a:ext cx="2011680" cy="530352"/>
          </a:xfrm>
          <a:prstGeom prst="rect">
            <a:avLst/>
          </a:prstGeom>
          <a:noFill/>
          <a:ln/>
        </p:spPr>
        <p:txBody>
          <a:bodyPr wrap="square" lIns="0" tIns="0" rIns="0" bIns="0" rtlCol="0" anchor="ctr"/>
          <a:lstStyle/>
          <a:p>
            <a:pPr marL="0" indent="0">
              <a:buNone/>
            </a:pPr>
            <a:r>
              <a:rPr lang="en-US" sz="1050" b="1" dirty="0">
                <a:solidFill>
                  <a:srgbClr val="8BB87A"/>
                </a:solidFill>
                <a:latin typeface="Trebuchet MS" pitchFamily="34" charset="0"/>
                <a:ea typeface="Trebuchet MS" pitchFamily="34" charset="-122"/>
                <a:cs typeface="Trebuchet MS" pitchFamily="34" charset="-120"/>
              </a:rPr>
              <a:t>Policy Gradient</a:t>
            </a:r>
            <a:endParaRPr lang="en-US" sz="1050" dirty="0"/>
          </a:p>
        </p:txBody>
      </p:sp>
      <p:sp>
        <p:nvSpPr>
          <p:cNvPr id="11" name="Text 9"/>
          <p:cNvSpPr/>
          <p:nvPr/>
        </p:nvSpPr>
        <p:spPr>
          <a:xfrm>
            <a:off x="2606040" y="1527048"/>
            <a:ext cx="6080760" cy="530352"/>
          </a:xfrm>
          <a:prstGeom prst="rect">
            <a:avLst/>
          </a:prstGeom>
          <a:noFill/>
          <a:ln/>
        </p:spPr>
        <p:txBody>
          <a:bodyPr wrap="square" lIns="0" tIns="0" rIns="0" bIns="0" rtlCol="0" anchor="ctr"/>
          <a:lstStyle/>
          <a:p>
            <a:pPr marL="0" indent="0">
              <a:buNone/>
            </a:pPr>
            <a:r>
              <a:rPr lang="en-US" sz="1050" dirty="0">
                <a:solidFill>
                  <a:srgbClr val="E8F5E0"/>
                </a:solidFill>
                <a:latin typeface="Calibri" pitchFamily="34" charset="0"/>
                <a:ea typeface="Calibri" pitchFamily="34" charset="-122"/>
                <a:cs typeface="Calibri" pitchFamily="34" charset="-120"/>
              </a:rPr>
              <a:t>Flexible but high-variance. Use as a conceptual foundation before moving to PPO.</a:t>
            </a:r>
            <a:endParaRPr lang="en-US" sz="1050" dirty="0"/>
          </a:p>
        </p:txBody>
      </p:sp>
      <p:sp>
        <p:nvSpPr>
          <p:cNvPr id="12" name="Shape 10"/>
          <p:cNvSpPr/>
          <p:nvPr/>
        </p:nvSpPr>
        <p:spPr>
          <a:xfrm>
            <a:off x="365760" y="2157984"/>
            <a:ext cx="8412480" cy="594360"/>
          </a:xfrm>
          <a:prstGeom prst="rect">
            <a:avLst/>
          </a:prstGeom>
          <a:solidFill>
            <a:srgbClr val="152C19"/>
          </a:solidFill>
          <a:ln w="12700">
            <a:solidFill>
              <a:srgbClr val="E8A020"/>
            </a:solidFill>
            <a:prstDash val="solid"/>
          </a:ln>
        </p:spPr>
        <p:txBody>
          <a:bodyPr/>
          <a:lstStyle/>
          <a:p>
            <a:endParaRPr lang="LID4096"/>
          </a:p>
        </p:txBody>
      </p:sp>
      <p:sp>
        <p:nvSpPr>
          <p:cNvPr id="13" name="Shape 11"/>
          <p:cNvSpPr/>
          <p:nvPr/>
        </p:nvSpPr>
        <p:spPr>
          <a:xfrm>
            <a:off x="365760" y="2157984"/>
            <a:ext cx="54864" cy="594360"/>
          </a:xfrm>
          <a:prstGeom prst="rect">
            <a:avLst/>
          </a:prstGeom>
          <a:solidFill>
            <a:srgbClr val="E8A020"/>
          </a:solidFill>
          <a:ln w="12700">
            <a:solidFill>
              <a:srgbClr val="E8A020"/>
            </a:solidFill>
            <a:prstDash val="solid"/>
          </a:ln>
        </p:spPr>
        <p:txBody>
          <a:bodyPr/>
          <a:lstStyle/>
          <a:p>
            <a:endParaRPr lang="LID4096"/>
          </a:p>
        </p:txBody>
      </p:sp>
      <p:sp>
        <p:nvSpPr>
          <p:cNvPr id="14" name="Text 12"/>
          <p:cNvSpPr/>
          <p:nvPr/>
        </p:nvSpPr>
        <p:spPr>
          <a:xfrm>
            <a:off x="530352" y="2185416"/>
            <a:ext cx="2011680" cy="530352"/>
          </a:xfrm>
          <a:prstGeom prst="rect">
            <a:avLst/>
          </a:prstGeom>
          <a:noFill/>
          <a:ln/>
        </p:spPr>
        <p:txBody>
          <a:bodyPr wrap="square" lIns="0" tIns="0" rIns="0" bIns="0" rtlCol="0" anchor="ctr"/>
          <a:lstStyle/>
          <a:p>
            <a:pPr marL="0" indent="0">
              <a:buNone/>
            </a:pPr>
            <a:r>
              <a:rPr lang="en-US" sz="1050" b="1" dirty="0">
                <a:solidFill>
                  <a:srgbClr val="E8A020"/>
                </a:solidFill>
                <a:latin typeface="Trebuchet MS" pitchFamily="34" charset="0"/>
                <a:ea typeface="Trebuchet MS" pitchFamily="34" charset="-122"/>
                <a:cs typeface="Trebuchet MS" pitchFamily="34" charset="-120"/>
              </a:rPr>
              <a:t>Actor-Critic</a:t>
            </a:r>
            <a:endParaRPr lang="en-US" sz="1050" dirty="0"/>
          </a:p>
        </p:txBody>
      </p:sp>
      <p:sp>
        <p:nvSpPr>
          <p:cNvPr id="15" name="Text 13"/>
          <p:cNvSpPr/>
          <p:nvPr/>
        </p:nvSpPr>
        <p:spPr>
          <a:xfrm>
            <a:off x="2606040" y="2185416"/>
            <a:ext cx="6080760" cy="530352"/>
          </a:xfrm>
          <a:prstGeom prst="rect">
            <a:avLst/>
          </a:prstGeom>
          <a:noFill/>
          <a:ln/>
        </p:spPr>
        <p:txBody>
          <a:bodyPr wrap="square" lIns="0" tIns="0" rIns="0" bIns="0" rtlCol="0" anchor="ctr"/>
          <a:lstStyle/>
          <a:p>
            <a:pPr marL="0" indent="0">
              <a:buNone/>
            </a:pPr>
            <a:r>
              <a:rPr lang="en-US" sz="1050" dirty="0">
                <a:solidFill>
                  <a:srgbClr val="E8F5E0"/>
                </a:solidFill>
                <a:latin typeface="Calibri" pitchFamily="34" charset="0"/>
                <a:ea typeface="Calibri" pitchFamily="34" charset="-122"/>
                <a:cs typeface="Calibri" pitchFamily="34" charset="-120"/>
              </a:rPr>
              <a:t>Hybrid approach: lower variance + continuous action support. A2C/A3C scale well across horde instances.</a:t>
            </a:r>
            <a:endParaRPr lang="en-US" sz="1050" dirty="0"/>
          </a:p>
        </p:txBody>
      </p:sp>
      <p:sp>
        <p:nvSpPr>
          <p:cNvPr id="16" name="Shape 14"/>
          <p:cNvSpPr/>
          <p:nvPr/>
        </p:nvSpPr>
        <p:spPr>
          <a:xfrm>
            <a:off x="365760" y="2816352"/>
            <a:ext cx="8412480" cy="594360"/>
          </a:xfrm>
          <a:prstGeom prst="rect">
            <a:avLst/>
          </a:prstGeom>
          <a:solidFill>
            <a:srgbClr val="1E3D1E"/>
          </a:solidFill>
          <a:ln w="12700">
            <a:solidFill>
              <a:srgbClr val="7ED348"/>
            </a:solidFill>
            <a:prstDash val="solid"/>
          </a:ln>
        </p:spPr>
        <p:txBody>
          <a:bodyPr/>
          <a:lstStyle/>
          <a:p>
            <a:endParaRPr lang="LID4096"/>
          </a:p>
        </p:txBody>
      </p:sp>
      <p:sp>
        <p:nvSpPr>
          <p:cNvPr id="17" name="Shape 15"/>
          <p:cNvSpPr/>
          <p:nvPr/>
        </p:nvSpPr>
        <p:spPr>
          <a:xfrm>
            <a:off x="365760" y="2816352"/>
            <a:ext cx="54864" cy="594360"/>
          </a:xfrm>
          <a:prstGeom prst="rect">
            <a:avLst/>
          </a:prstGeom>
          <a:solidFill>
            <a:srgbClr val="7ED348"/>
          </a:solidFill>
          <a:ln w="12700">
            <a:solidFill>
              <a:srgbClr val="7ED348"/>
            </a:solidFill>
            <a:prstDash val="solid"/>
          </a:ln>
        </p:spPr>
        <p:txBody>
          <a:bodyPr/>
          <a:lstStyle/>
          <a:p>
            <a:endParaRPr lang="LID4096"/>
          </a:p>
        </p:txBody>
      </p:sp>
      <p:sp>
        <p:nvSpPr>
          <p:cNvPr id="18" name="Text 16"/>
          <p:cNvSpPr/>
          <p:nvPr/>
        </p:nvSpPr>
        <p:spPr>
          <a:xfrm>
            <a:off x="530352" y="2843784"/>
            <a:ext cx="2011680" cy="530352"/>
          </a:xfrm>
          <a:prstGeom prst="rect">
            <a:avLst/>
          </a:prstGeom>
          <a:noFill/>
          <a:ln/>
        </p:spPr>
        <p:txBody>
          <a:bodyPr wrap="square" lIns="0" tIns="0" rIns="0" bIns="0" rtlCol="0" anchor="ctr"/>
          <a:lstStyle/>
          <a:p>
            <a:pPr marL="0" indent="0">
              <a:buNone/>
            </a:pPr>
            <a:r>
              <a:rPr lang="en-US" sz="1050" b="1" dirty="0">
                <a:solidFill>
                  <a:srgbClr val="7ED348"/>
                </a:solidFill>
                <a:latin typeface="Trebuchet MS" pitchFamily="34" charset="0"/>
                <a:ea typeface="Trebuchet MS" pitchFamily="34" charset="-122"/>
                <a:cs typeface="Trebuchet MS" pitchFamily="34" charset="-120"/>
              </a:rPr>
              <a:t>PPO   (RECOMMENDED)</a:t>
            </a:r>
            <a:endParaRPr lang="en-US" sz="1050" dirty="0"/>
          </a:p>
        </p:txBody>
      </p:sp>
      <p:sp>
        <p:nvSpPr>
          <p:cNvPr id="19" name="Text 17"/>
          <p:cNvSpPr/>
          <p:nvPr/>
        </p:nvSpPr>
        <p:spPr>
          <a:xfrm>
            <a:off x="2606040" y="2843784"/>
            <a:ext cx="6080760" cy="530352"/>
          </a:xfrm>
          <a:prstGeom prst="rect">
            <a:avLst/>
          </a:prstGeom>
          <a:noFill/>
          <a:ln/>
        </p:spPr>
        <p:txBody>
          <a:bodyPr wrap="square" lIns="0" tIns="0" rIns="0" bIns="0" rtlCol="0" anchor="ctr"/>
          <a:lstStyle/>
          <a:p>
            <a:pPr marL="0" indent="0">
              <a:buNone/>
            </a:pPr>
            <a:r>
              <a:rPr lang="en-US" sz="1050" dirty="0">
                <a:solidFill>
                  <a:srgbClr val="E8F5E0"/>
                </a:solidFill>
                <a:latin typeface="Calibri" pitchFamily="34" charset="0"/>
                <a:ea typeface="Calibri" pitchFamily="34" charset="-122"/>
                <a:cs typeface="Calibri" pitchFamily="34" charset="-120"/>
              </a:rPr>
              <a:t>Most stable, sample-efficient, and widely used. The go-to algorithm for horde survival game training.</a:t>
            </a:r>
            <a:endParaRPr lang="en-US" sz="1050" dirty="0"/>
          </a:p>
        </p:txBody>
      </p:sp>
      <p:sp>
        <p:nvSpPr>
          <p:cNvPr id="20" name="Shape 18"/>
          <p:cNvSpPr/>
          <p:nvPr/>
        </p:nvSpPr>
        <p:spPr>
          <a:xfrm>
            <a:off x="365760" y="3474720"/>
            <a:ext cx="8412480" cy="594360"/>
          </a:xfrm>
          <a:prstGeom prst="rect">
            <a:avLst/>
          </a:prstGeom>
          <a:solidFill>
            <a:srgbClr val="152C19"/>
          </a:solidFill>
          <a:ln w="12700">
            <a:solidFill>
              <a:srgbClr val="8BB87A"/>
            </a:solidFill>
            <a:prstDash val="solid"/>
          </a:ln>
        </p:spPr>
        <p:txBody>
          <a:bodyPr/>
          <a:lstStyle/>
          <a:p>
            <a:endParaRPr lang="LID4096"/>
          </a:p>
        </p:txBody>
      </p:sp>
      <p:sp>
        <p:nvSpPr>
          <p:cNvPr id="21" name="Shape 19"/>
          <p:cNvSpPr/>
          <p:nvPr/>
        </p:nvSpPr>
        <p:spPr>
          <a:xfrm>
            <a:off x="365760" y="3474720"/>
            <a:ext cx="54864" cy="594360"/>
          </a:xfrm>
          <a:prstGeom prst="rect">
            <a:avLst/>
          </a:prstGeom>
          <a:solidFill>
            <a:srgbClr val="8BB87A"/>
          </a:solidFill>
          <a:ln w="12700">
            <a:solidFill>
              <a:srgbClr val="8BB87A"/>
            </a:solidFill>
            <a:prstDash val="solid"/>
          </a:ln>
        </p:spPr>
        <p:txBody>
          <a:bodyPr/>
          <a:lstStyle/>
          <a:p>
            <a:endParaRPr lang="LID4096"/>
          </a:p>
        </p:txBody>
      </p:sp>
      <p:sp>
        <p:nvSpPr>
          <p:cNvPr id="22" name="Text 20"/>
          <p:cNvSpPr/>
          <p:nvPr/>
        </p:nvSpPr>
        <p:spPr>
          <a:xfrm>
            <a:off x="530352" y="3502152"/>
            <a:ext cx="2011680" cy="530352"/>
          </a:xfrm>
          <a:prstGeom prst="rect">
            <a:avLst/>
          </a:prstGeom>
          <a:noFill/>
          <a:ln/>
        </p:spPr>
        <p:txBody>
          <a:bodyPr wrap="square" lIns="0" tIns="0" rIns="0" bIns="0" rtlCol="0" anchor="ctr"/>
          <a:lstStyle/>
          <a:p>
            <a:pPr marL="0" indent="0">
              <a:buNone/>
            </a:pPr>
            <a:r>
              <a:rPr lang="en-US" sz="1050" b="1" dirty="0">
                <a:solidFill>
                  <a:srgbClr val="8BB87A"/>
                </a:solidFill>
                <a:latin typeface="Trebuchet MS" pitchFamily="34" charset="0"/>
                <a:ea typeface="Trebuchet MS" pitchFamily="34" charset="-122"/>
                <a:cs typeface="Trebuchet MS" pitchFamily="34" charset="-120"/>
              </a:rPr>
              <a:t>KL Divergence</a:t>
            </a:r>
            <a:endParaRPr lang="en-US" sz="1050" dirty="0"/>
          </a:p>
        </p:txBody>
      </p:sp>
      <p:sp>
        <p:nvSpPr>
          <p:cNvPr id="23" name="Text 21"/>
          <p:cNvSpPr/>
          <p:nvPr/>
        </p:nvSpPr>
        <p:spPr>
          <a:xfrm>
            <a:off x="2606040" y="3502152"/>
            <a:ext cx="6080760" cy="530352"/>
          </a:xfrm>
          <a:prstGeom prst="rect">
            <a:avLst/>
          </a:prstGeom>
          <a:noFill/>
          <a:ln/>
        </p:spPr>
        <p:txBody>
          <a:bodyPr wrap="square" lIns="0" tIns="0" rIns="0" bIns="0" rtlCol="0" anchor="ctr"/>
          <a:lstStyle/>
          <a:p>
            <a:pPr marL="0" indent="0">
              <a:buNone/>
            </a:pPr>
            <a:r>
              <a:rPr lang="en-US" sz="1050" dirty="0">
                <a:solidFill>
                  <a:srgbClr val="E8F5E0"/>
                </a:solidFill>
                <a:latin typeface="Calibri" pitchFamily="34" charset="0"/>
                <a:ea typeface="Calibri" pitchFamily="34" charset="-122"/>
                <a:cs typeface="Calibri" pitchFamily="34" charset="-120"/>
              </a:rPr>
              <a:t>Not a primary loss — a stability constraint used inside PPO/TRPO. Prevents catastrophic forgetting.</a:t>
            </a:r>
            <a:endParaRPr lang="en-US" sz="1050" dirty="0"/>
          </a:p>
        </p:txBody>
      </p:sp>
      <p:sp>
        <p:nvSpPr>
          <p:cNvPr id="24" name="Shape 22"/>
          <p:cNvSpPr/>
          <p:nvPr/>
        </p:nvSpPr>
        <p:spPr>
          <a:xfrm>
            <a:off x="365760" y="4160520"/>
            <a:ext cx="8412480" cy="502920"/>
          </a:xfrm>
          <a:prstGeom prst="rect">
            <a:avLst/>
          </a:prstGeom>
          <a:solidFill>
            <a:srgbClr val="1A3A1E"/>
          </a:solidFill>
          <a:ln w="12700">
            <a:solidFill>
              <a:srgbClr val="E8A020"/>
            </a:solidFill>
            <a:prstDash val="solid"/>
          </a:ln>
        </p:spPr>
        <p:txBody>
          <a:bodyPr/>
          <a:lstStyle/>
          <a:p>
            <a:endParaRPr lang="LID4096"/>
          </a:p>
        </p:txBody>
      </p:sp>
      <p:sp>
        <p:nvSpPr>
          <p:cNvPr id="25" name="Text 23"/>
          <p:cNvSpPr/>
          <p:nvPr/>
        </p:nvSpPr>
        <p:spPr>
          <a:xfrm>
            <a:off x="365760" y="4160520"/>
            <a:ext cx="8412480" cy="502920"/>
          </a:xfrm>
          <a:prstGeom prst="rect">
            <a:avLst/>
          </a:prstGeom>
          <a:noFill/>
          <a:ln/>
        </p:spPr>
        <p:txBody>
          <a:bodyPr wrap="square" lIns="0" tIns="0" rIns="0" bIns="0" rtlCol="0" anchor="ctr"/>
          <a:lstStyle/>
          <a:p>
            <a:pPr marL="0" indent="0" algn="ctr">
              <a:buNone/>
            </a:pPr>
            <a:r>
              <a:rPr lang="en-US" sz="1000" dirty="0">
                <a:solidFill>
                  <a:srgbClr val="E8A020"/>
                </a:solidFill>
                <a:latin typeface="Trebuchet MS" pitchFamily="34" charset="0"/>
                <a:ea typeface="Trebuchet MS" pitchFamily="34" charset="-122"/>
                <a:cs typeface="Trebuchet MS" pitchFamily="34" charset="-120"/>
              </a:rPr>
              <a:t>TRACK ALL 5 METRICS:  Cumulative Reward  •  Win Rate  •  KDR  •  Episode Length  •  Sample Efficiency</a:t>
            </a:r>
            <a:endParaRPr lang="en-US" sz="1000" dirty="0"/>
          </a:p>
        </p:txBody>
      </p:sp>
      <p:sp>
        <p:nvSpPr>
          <p:cNvPr id="26" name="Shape 24"/>
          <p:cNvSpPr/>
          <p:nvPr/>
        </p:nvSpPr>
        <p:spPr>
          <a:xfrm>
            <a:off x="0" y="4800600"/>
            <a:ext cx="9144000" cy="342900"/>
          </a:xfrm>
          <a:prstGeom prst="rect">
            <a:avLst/>
          </a:prstGeom>
          <a:solidFill>
            <a:srgbClr val="7ED348"/>
          </a:solidFill>
          <a:ln w="12700">
            <a:solidFill>
              <a:srgbClr val="7ED348"/>
            </a:solidFill>
            <a:prstDash val="solid"/>
          </a:ln>
        </p:spPr>
        <p:txBody>
          <a:bodyPr/>
          <a:lstStyle/>
          <a:p>
            <a:endParaRPr lang="LID4096"/>
          </a:p>
        </p:txBody>
      </p:sp>
      <p:sp>
        <p:nvSpPr>
          <p:cNvPr id="27" name="Text 25"/>
          <p:cNvSpPr/>
          <p:nvPr/>
        </p:nvSpPr>
        <p:spPr>
          <a:xfrm>
            <a:off x="0" y="4818888"/>
            <a:ext cx="9144000" cy="292608"/>
          </a:xfrm>
          <a:prstGeom prst="rect">
            <a:avLst/>
          </a:prstGeom>
          <a:noFill/>
          <a:ln/>
        </p:spPr>
        <p:txBody>
          <a:bodyPr wrap="square" lIns="0" tIns="0" rIns="0" bIns="0" rtlCol="0" anchor="ctr"/>
          <a:lstStyle/>
          <a:p>
            <a:pPr marL="0" indent="0" algn="ctr">
              <a:buNone/>
            </a:pPr>
            <a:r>
              <a:rPr lang="en-US" sz="950" b="1" dirty="0">
                <a:solidFill>
                  <a:srgbClr val="0D1F12"/>
                </a:solidFill>
                <a:latin typeface="Trebuchet MS" pitchFamily="34" charset="0"/>
                <a:ea typeface="Trebuchet MS" pitchFamily="34" charset="-122"/>
                <a:cs typeface="Trebuchet MS" pitchFamily="34" charset="-120"/>
              </a:rPr>
              <a:t>⚔  HORDE SURVIVAL — ANN PROJECT  •  DEEP REINFORCEMENT LEARNING  •  SURVIVE. LEARN. DOMINATE.  ⚔</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F12"/>
        </a:solidFill>
        <a:effectLst/>
      </p:bgPr>
    </p:bg>
    <p:spTree>
      <p:nvGrpSpPr>
        <p:cNvPr id="1" name="">
          <a:extLst>
            <a:ext uri="{FF2B5EF4-FFF2-40B4-BE49-F238E27FC236}">
              <a16:creationId xmlns:a16="http://schemas.microsoft.com/office/drawing/2014/main" id="{5B141FC7-800D-13DA-EC40-92C5C623933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D0580F-D326-3C61-776B-056996DA01E5}"/>
              </a:ext>
            </a:extLst>
          </p:cNvPr>
          <p:cNvSpPr/>
          <p:nvPr/>
        </p:nvSpPr>
        <p:spPr>
          <a:xfrm>
            <a:off x="5303520" y="-1371600"/>
            <a:ext cx="5943600" cy="5943600"/>
          </a:xfrm>
          <a:prstGeom prst="ellipse">
            <a:avLst/>
          </a:prstGeom>
          <a:solidFill>
            <a:srgbClr val="1A3A1E"/>
          </a:solidFill>
          <a:ln w="12700">
            <a:solidFill>
              <a:srgbClr val="1A3A1E"/>
            </a:solidFill>
            <a:prstDash val="solid"/>
          </a:ln>
        </p:spPr>
        <p:txBody>
          <a:bodyPr/>
          <a:lstStyle/>
          <a:p>
            <a:endParaRPr lang="LID4096"/>
          </a:p>
        </p:txBody>
      </p:sp>
      <p:sp>
        <p:nvSpPr>
          <p:cNvPr id="3" name="Shape 1">
            <a:extLst>
              <a:ext uri="{FF2B5EF4-FFF2-40B4-BE49-F238E27FC236}">
                <a16:creationId xmlns:a16="http://schemas.microsoft.com/office/drawing/2014/main" id="{8443E3D0-A4ED-A149-552C-BF8D95CB848A}"/>
              </a:ext>
            </a:extLst>
          </p:cNvPr>
          <p:cNvSpPr/>
          <p:nvPr/>
        </p:nvSpPr>
        <p:spPr>
          <a:xfrm>
            <a:off x="5760720" y="-914400"/>
            <a:ext cx="5029200" cy="5029200"/>
          </a:xfrm>
          <a:prstGeom prst="ellipse">
            <a:avLst/>
          </a:prstGeom>
          <a:solidFill>
            <a:srgbClr val="1E4A25"/>
          </a:solidFill>
          <a:ln w="12700">
            <a:solidFill>
              <a:srgbClr val="1A3A1E"/>
            </a:solidFill>
            <a:prstDash val="solid"/>
          </a:ln>
        </p:spPr>
        <p:txBody>
          <a:bodyPr/>
          <a:lstStyle/>
          <a:p>
            <a:endParaRPr lang="LID4096"/>
          </a:p>
        </p:txBody>
      </p:sp>
      <p:sp>
        <p:nvSpPr>
          <p:cNvPr id="4" name="Shape 2">
            <a:extLst>
              <a:ext uri="{FF2B5EF4-FFF2-40B4-BE49-F238E27FC236}">
                <a16:creationId xmlns:a16="http://schemas.microsoft.com/office/drawing/2014/main" id="{6EAC71A0-0266-F3F0-5104-AEBA7AFF2961}"/>
              </a:ext>
            </a:extLst>
          </p:cNvPr>
          <p:cNvSpPr/>
          <p:nvPr/>
        </p:nvSpPr>
        <p:spPr>
          <a:xfrm>
            <a:off x="457200" y="411480"/>
            <a:ext cx="1463040" cy="256032"/>
          </a:xfrm>
          <a:prstGeom prst="rect">
            <a:avLst/>
          </a:prstGeom>
          <a:solidFill>
            <a:srgbClr val="7ED348"/>
          </a:solidFill>
          <a:ln w="12700">
            <a:solidFill>
              <a:srgbClr val="7ED348"/>
            </a:solidFill>
            <a:prstDash val="solid"/>
          </a:ln>
        </p:spPr>
        <p:txBody>
          <a:bodyPr/>
          <a:lstStyle/>
          <a:p>
            <a:endParaRPr lang="LID4096"/>
          </a:p>
        </p:txBody>
      </p:sp>
      <p:sp>
        <p:nvSpPr>
          <p:cNvPr id="5" name="Text 3">
            <a:extLst>
              <a:ext uri="{FF2B5EF4-FFF2-40B4-BE49-F238E27FC236}">
                <a16:creationId xmlns:a16="http://schemas.microsoft.com/office/drawing/2014/main" id="{0367D092-E515-8AB0-5707-AF69017EA9FA}"/>
              </a:ext>
            </a:extLst>
          </p:cNvPr>
          <p:cNvSpPr/>
          <p:nvPr/>
        </p:nvSpPr>
        <p:spPr>
          <a:xfrm>
            <a:off x="457200" y="411480"/>
            <a:ext cx="1463040" cy="256032"/>
          </a:xfrm>
          <a:prstGeom prst="rect">
            <a:avLst/>
          </a:prstGeom>
          <a:noFill/>
          <a:ln/>
        </p:spPr>
        <p:txBody>
          <a:bodyPr wrap="square" lIns="0" tIns="0" rIns="0" bIns="0" rtlCol="0" anchor="ctr"/>
          <a:lstStyle/>
          <a:p>
            <a:pPr marL="0" indent="0" algn="ctr">
              <a:buNone/>
            </a:pPr>
            <a:r>
              <a:rPr lang="en-US" sz="900" b="1" kern="0" spc="200" dirty="0">
                <a:solidFill>
                  <a:srgbClr val="0D1F12"/>
                </a:solidFill>
                <a:latin typeface="Trebuchet MS" pitchFamily="34" charset="0"/>
                <a:ea typeface="Trebuchet MS" pitchFamily="34" charset="-122"/>
                <a:cs typeface="Trebuchet MS" pitchFamily="34" charset="-120"/>
              </a:rPr>
              <a:t>HORDE MODE</a:t>
            </a:r>
            <a:endParaRPr lang="en-US" sz="900" dirty="0"/>
          </a:p>
        </p:txBody>
      </p:sp>
      <p:sp>
        <p:nvSpPr>
          <p:cNvPr id="6" name="Text 4">
            <a:extLst>
              <a:ext uri="{FF2B5EF4-FFF2-40B4-BE49-F238E27FC236}">
                <a16:creationId xmlns:a16="http://schemas.microsoft.com/office/drawing/2014/main" id="{56375D30-5B6F-F170-80E4-5BA1F8E7A364}"/>
              </a:ext>
            </a:extLst>
          </p:cNvPr>
          <p:cNvSpPr/>
          <p:nvPr/>
        </p:nvSpPr>
        <p:spPr>
          <a:xfrm>
            <a:off x="2057400" y="429768"/>
            <a:ext cx="3657600" cy="228600"/>
          </a:xfrm>
          <a:prstGeom prst="rect">
            <a:avLst/>
          </a:prstGeom>
          <a:noFill/>
          <a:ln/>
        </p:spPr>
        <p:txBody>
          <a:bodyPr wrap="square" lIns="0" tIns="0" rIns="0" bIns="0" rtlCol="0" anchor="ctr"/>
          <a:lstStyle/>
          <a:p>
            <a:pPr marL="0" indent="0" algn="l">
              <a:buNone/>
            </a:pPr>
            <a:r>
              <a:rPr lang="en-US" sz="900" dirty="0">
                <a:solidFill>
                  <a:srgbClr val="8BB87A"/>
                </a:solidFill>
                <a:latin typeface="Calibri" pitchFamily="34" charset="0"/>
                <a:ea typeface="Calibri" pitchFamily="34" charset="-122"/>
                <a:cs typeface="Calibri" pitchFamily="34" charset="-120"/>
              </a:rPr>
              <a:t>ANN PROJECT PRESENTATION</a:t>
            </a:r>
            <a:endParaRPr lang="en-US" sz="900" dirty="0"/>
          </a:p>
        </p:txBody>
      </p:sp>
      <p:sp>
        <p:nvSpPr>
          <p:cNvPr id="7" name="Text 5">
            <a:extLst>
              <a:ext uri="{FF2B5EF4-FFF2-40B4-BE49-F238E27FC236}">
                <a16:creationId xmlns:a16="http://schemas.microsoft.com/office/drawing/2014/main" id="{62E15D97-0EE3-03D8-ADB4-19939B58113B}"/>
              </a:ext>
            </a:extLst>
          </p:cNvPr>
          <p:cNvSpPr/>
          <p:nvPr/>
        </p:nvSpPr>
        <p:spPr>
          <a:xfrm>
            <a:off x="411480" y="928116"/>
            <a:ext cx="7315200" cy="777240"/>
          </a:xfrm>
          <a:prstGeom prst="rect">
            <a:avLst/>
          </a:prstGeom>
          <a:noFill/>
          <a:ln/>
        </p:spPr>
        <p:txBody>
          <a:bodyPr wrap="square" lIns="0" tIns="0" rIns="0" bIns="0" rtlCol="0" anchor="ctr"/>
          <a:lstStyle/>
          <a:p>
            <a:pPr marL="0" indent="0" algn="l">
              <a:buNone/>
            </a:pPr>
            <a:endParaRPr lang="en-US" sz="5200" dirty="0"/>
          </a:p>
        </p:txBody>
      </p:sp>
      <p:sp>
        <p:nvSpPr>
          <p:cNvPr id="8" name="Text 6">
            <a:extLst>
              <a:ext uri="{FF2B5EF4-FFF2-40B4-BE49-F238E27FC236}">
                <a16:creationId xmlns:a16="http://schemas.microsoft.com/office/drawing/2014/main" id="{4C1A8861-ED9A-D94F-0B8D-D91B891D6202}"/>
              </a:ext>
            </a:extLst>
          </p:cNvPr>
          <p:cNvSpPr/>
          <p:nvPr/>
        </p:nvSpPr>
        <p:spPr>
          <a:xfrm>
            <a:off x="457200" y="1600200"/>
            <a:ext cx="7315200" cy="777240"/>
          </a:xfrm>
          <a:prstGeom prst="rect">
            <a:avLst/>
          </a:prstGeom>
          <a:noFill/>
          <a:ln/>
        </p:spPr>
        <p:txBody>
          <a:bodyPr wrap="square" lIns="0" tIns="0" rIns="0" bIns="0" rtlCol="0" anchor="ctr"/>
          <a:lstStyle/>
          <a:p>
            <a:pPr marL="0" indent="0" algn="l">
              <a:buNone/>
            </a:pPr>
            <a:r>
              <a:rPr lang="en-US" sz="5200" b="1" dirty="0">
                <a:solidFill>
                  <a:srgbClr val="7ED348"/>
                </a:solidFill>
                <a:latin typeface="Trebuchet MS" pitchFamily="34" charset="0"/>
                <a:ea typeface="Trebuchet MS" pitchFamily="34" charset="-122"/>
                <a:cs typeface="Trebuchet MS" pitchFamily="34" charset="-120"/>
              </a:rPr>
              <a:t>THANK YOU!</a:t>
            </a:r>
            <a:endParaRPr lang="en-US" sz="5200" dirty="0"/>
          </a:p>
        </p:txBody>
      </p:sp>
      <p:sp>
        <p:nvSpPr>
          <p:cNvPr id="9" name="Text 7">
            <a:extLst>
              <a:ext uri="{FF2B5EF4-FFF2-40B4-BE49-F238E27FC236}">
                <a16:creationId xmlns:a16="http://schemas.microsoft.com/office/drawing/2014/main" id="{59461F4A-2EE6-06A4-4370-BA427CDA6517}"/>
              </a:ext>
            </a:extLst>
          </p:cNvPr>
          <p:cNvSpPr/>
          <p:nvPr/>
        </p:nvSpPr>
        <p:spPr>
          <a:xfrm>
            <a:off x="457200" y="2423160"/>
            <a:ext cx="6400800" cy="347472"/>
          </a:xfrm>
          <a:prstGeom prst="rect">
            <a:avLst/>
          </a:prstGeom>
          <a:noFill/>
          <a:ln/>
        </p:spPr>
        <p:txBody>
          <a:bodyPr wrap="square" lIns="0" tIns="0" rIns="0" bIns="0" rtlCol="0" anchor="ctr"/>
          <a:lstStyle/>
          <a:p>
            <a:pPr marL="0" indent="0" algn="l">
              <a:buNone/>
            </a:pPr>
            <a:endParaRPr lang="en-US" sz="1600" dirty="0"/>
          </a:p>
        </p:txBody>
      </p:sp>
      <p:sp>
        <p:nvSpPr>
          <p:cNvPr id="10" name="Text 8">
            <a:extLst>
              <a:ext uri="{FF2B5EF4-FFF2-40B4-BE49-F238E27FC236}">
                <a16:creationId xmlns:a16="http://schemas.microsoft.com/office/drawing/2014/main" id="{51102745-0CB5-26C5-64A1-419E584E09EB}"/>
              </a:ext>
            </a:extLst>
          </p:cNvPr>
          <p:cNvSpPr/>
          <p:nvPr/>
        </p:nvSpPr>
        <p:spPr>
          <a:xfrm>
            <a:off x="457200" y="2743200"/>
            <a:ext cx="6400800" cy="274320"/>
          </a:xfrm>
          <a:prstGeom prst="rect">
            <a:avLst/>
          </a:prstGeom>
          <a:noFill/>
          <a:ln/>
        </p:spPr>
        <p:txBody>
          <a:bodyPr wrap="square" lIns="0" tIns="0" rIns="0" bIns="0" rtlCol="0" anchor="ctr"/>
          <a:lstStyle/>
          <a:p>
            <a:pPr marL="0" indent="0" algn="l">
              <a:buNone/>
            </a:pPr>
            <a:endParaRPr lang="en-US" sz="1100" dirty="0"/>
          </a:p>
        </p:txBody>
      </p:sp>
      <p:sp>
        <p:nvSpPr>
          <p:cNvPr id="12" name="Text 10">
            <a:extLst>
              <a:ext uri="{FF2B5EF4-FFF2-40B4-BE49-F238E27FC236}">
                <a16:creationId xmlns:a16="http://schemas.microsoft.com/office/drawing/2014/main" id="{C2945894-F242-75E6-67C9-62A0273E0750}"/>
              </a:ext>
            </a:extLst>
          </p:cNvPr>
          <p:cNvSpPr/>
          <p:nvPr/>
        </p:nvSpPr>
        <p:spPr>
          <a:xfrm>
            <a:off x="457200" y="3337560"/>
            <a:ext cx="1572768" cy="274320"/>
          </a:xfrm>
          <a:prstGeom prst="rect">
            <a:avLst/>
          </a:prstGeom>
          <a:noFill/>
          <a:ln/>
        </p:spPr>
        <p:txBody>
          <a:bodyPr wrap="square" lIns="0" tIns="0" rIns="0" bIns="0" rtlCol="0" anchor="ctr"/>
          <a:lstStyle/>
          <a:p>
            <a:pPr marL="0" indent="0" algn="ctr">
              <a:buNone/>
            </a:pPr>
            <a:endParaRPr lang="en-US" sz="800" dirty="0"/>
          </a:p>
        </p:txBody>
      </p:sp>
      <p:sp>
        <p:nvSpPr>
          <p:cNvPr id="20" name="Text 18">
            <a:extLst>
              <a:ext uri="{FF2B5EF4-FFF2-40B4-BE49-F238E27FC236}">
                <a16:creationId xmlns:a16="http://schemas.microsoft.com/office/drawing/2014/main" id="{ABDEF73D-1250-12D9-79DD-B79BC7EB8E1C}"/>
              </a:ext>
            </a:extLst>
          </p:cNvPr>
          <p:cNvSpPr/>
          <p:nvPr/>
        </p:nvSpPr>
        <p:spPr>
          <a:xfrm>
            <a:off x="7333488" y="3337560"/>
            <a:ext cx="1572768" cy="274320"/>
          </a:xfrm>
          <a:prstGeom prst="rect">
            <a:avLst/>
          </a:prstGeom>
          <a:noFill/>
          <a:ln/>
        </p:spPr>
        <p:txBody>
          <a:bodyPr wrap="square" lIns="0" tIns="0" rIns="0" bIns="0" rtlCol="0" anchor="ctr"/>
          <a:lstStyle/>
          <a:p>
            <a:pPr marL="0" indent="0" algn="ctr">
              <a:buNone/>
            </a:pPr>
            <a:endParaRPr lang="en-US" sz="800" dirty="0"/>
          </a:p>
        </p:txBody>
      </p:sp>
      <p:sp>
        <p:nvSpPr>
          <p:cNvPr id="21" name="Shape 19">
            <a:extLst>
              <a:ext uri="{FF2B5EF4-FFF2-40B4-BE49-F238E27FC236}">
                <a16:creationId xmlns:a16="http://schemas.microsoft.com/office/drawing/2014/main" id="{61BC6DD3-B694-0219-C835-BDB0B853FC4E}"/>
              </a:ext>
            </a:extLst>
          </p:cNvPr>
          <p:cNvSpPr/>
          <p:nvPr/>
        </p:nvSpPr>
        <p:spPr>
          <a:xfrm>
            <a:off x="0" y="4800600"/>
            <a:ext cx="9144000" cy="342900"/>
          </a:xfrm>
          <a:prstGeom prst="rect">
            <a:avLst/>
          </a:prstGeom>
          <a:solidFill>
            <a:srgbClr val="7ED348"/>
          </a:solidFill>
          <a:ln w="12700">
            <a:solidFill>
              <a:srgbClr val="7ED348"/>
            </a:solidFill>
            <a:prstDash val="solid"/>
          </a:ln>
        </p:spPr>
        <p:txBody>
          <a:bodyPr/>
          <a:lstStyle/>
          <a:p>
            <a:endParaRPr lang="LID4096"/>
          </a:p>
        </p:txBody>
      </p:sp>
      <p:sp>
        <p:nvSpPr>
          <p:cNvPr id="22" name="Text 20">
            <a:extLst>
              <a:ext uri="{FF2B5EF4-FFF2-40B4-BE49-F238E27FC236}">
                <a16:creationId xmlns:a16="http://schemas.microsoft.com/office/drawing/2014/main" id="{7CEA3573-E140-1F23-302C-38FC4D847E8A}"/>
              </a:ext>
            </a:extLst>
          </p:cNvPr>
          <p:cNvSpPr/>
          <p:nvPr/>
        </p:nvSpPr>
        <p:spPr>
          <a:xfrm>
            <a:off x="0" y="4818888"/>
            <a:ext cx="9144000" cy="292608"/>
          </a:xfrm>
          <a:prstGeom prst="rect">
            <a:avLst/>
          </a:prstGeom>
          <a:noFill/>
          <a:ln/>
        </p:spPr>
        <p:txBody>
          <a:bodyPr wrap="square" lIns="0" tIns="0" rIns="0" bIns="0" rtlCol="0" anchor="ctr"/>
          <a:lstStyle/>
          <a:p>
            <a:pPr marL="0" indent="0" algn="ctr">
              <a:buNone/>
            </a:pPr>
            <a:r>
              <a:rPr lang="en-US" sz="1100" b="1" dirty="0">
                <a:solidFill>
                  <a:srgbClr val="0D1F12"/>
                </a:solidFill>
                <a:latin typeface="Trebuchet MS" pitchFamily="34" charset="0"/>
                <a:ea typeface="Trebuchet MS" pitchFamily="34" charset="-122"/>
                <a:cs typeface="Trebuchet MS" pitchFamily="34" charset="-120"/>
              </a:rPr>
              <a:t>⚔  SURVIVE OR BE OPTIMIZED  ⚔</a:t>
            </a:r>
            <a:endParaRPr lang="en-US" sz="1100" dirty="0"/>
          </a:p>
        </p:txBody>
      </p:sp>
    </p:spTree>
    <p:extLst>
      <p:ext uri="{BB962C8B-B14F-4D97-AF65-F5344CB8AC3E}">
        <p14:creationId xmlns:p14="http://schemas.microsoft.com/office/powerpoint/2010/main" val="2976810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1539</Words>
  <Application>Microsoft Office PowerPoint</Application>
  <PresentationFormat>On-screen Show (16:9)</PresentationFormat>
  <Paragraphs>286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RL - Loss Functions &amp; Metrics</dc:title>
  <dc:subject>PptxGenJS Presentation</dc:subject>
  <dc:creator>PptxGenJS</dc:creator>
  <cp:lastModifiedBy>Laiba Zia</cp:lastModifiedBy>
  <cp:revision>3</cp:revision>
  <dcterms:created xsi:type="dcterms:W3CDTF">2026-03-15T16:22:16Z</dcterms:created>
  <dcterms:modified xsi:type="dcterms:W3CDTF">2026-03-15T18:08:24Z</dcterms:modified>
</cp:coreProperties>
</file>